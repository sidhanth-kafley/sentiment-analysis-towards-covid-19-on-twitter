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1"/>
  </p:notesMasterIdLst>
  <p:handoutMasterIdLst>
    <p:handoutMasterId r:id="rId32"/>
  </p:handoutMasterIdLst>
  <p:sldIdLst>
    <p:sldId id="265" r:id="rId2"/>
    <p:sldId id="421" r:id="rId3"/>
    <p:sldId id="444" r:id="rId4"/>
    <p:sldId id="473" r:id="rId5"/>
    <p:sldId id="475" r:id="rId6"/>
    <p:sldId id="468" r:id="rId7"/>
    <p:sldId id="460" r:id="rId8"/>
    <p:sldId id="448" r:id="rId9"/>
    <p:sldId id="462" r:id="rId10"/>
    <p:sldId id="464" r:id="rId11"/>
    <p:sldId id="461" r:id="rId12"/>
    <p:sldId id="466" r:id="rId13"/>
    <p:sldId id="469" r:id="rId14"/>
    <p:sldId id="470" r:id="rId15"/>
    <p:sldId id="453" r:id="rId16"/>
    <p:sldId id="456" r:id="rId17"/>
    <p:sldId id="467" r:id="rId18"/>
    <p:sldId id="457" r:id="rId19"/>
    <p:sldId id="458" r:id="rId20"/>
    <p:sldId id="459" r:id="rId21"/>
    <p:sldId id="463" r:id="rId22"/>
    <p:sldId id="474" r:id="rId23"/>
    <p:sldId id="465" r:id="rId24"/>
    <p:sldId id="449" r:id="rId25"/>
    <p:sldId id="451" r:id="rId26"/>
    <p:sldId id="472" r:id="rId27"/>
    <p:sldId id="450" r:id="rId28"/>
    <p:sldId id="447" r:id="rId29"/>
    <p:sldId id="44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B8872C-E081-F109-04F4-CDFAD3F24EB2}" name="Gorjan Muratov" initials="GM" userId="S::z5677486@ad.unsw.edu.au::805c9443-2a04-4f7e-b8c1-5f9448352986" providerId="AD"/>
  <p188:author id="{90B10CE5-6882-2DE7-9902-BAC4E601EA9A}" name="Ramtin Gharleghi" initials="RG" userId="S::z5190098@ad.unsw.edu.au::2d9e2e9d-6010-4e5a-81fc-9c56bfbf9f7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9EF7FA-094B-D6C1-0387-C57B957A95BC}" v="77" dt="2025-08-11T04:26:19.022"/>
    <p1510:client id="{8C5FB315-F99B-F2C4-B0A5-769A138B97DD}" v="7" dt="2025-08-10T05:05:11.171"/>
    <p1510:client id="{D90D699B-DE7A-87E8-9258-1ACCCC758A7F}" v="63" dt="2025-08-09T08:04:23.2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4FCFEB-8D6C-C3C9-0E3B-0D626B8D4C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9C6318B1-E95B-2162-25FC-6A643F492AD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92CE1B-BB9F-45A9-BACC-98FF3D2D4F2E}" type="datetimeFigureOut">
              <a:rPr lang="en-AU" smtClean="0"/>
              <a:t>10/08/2025</a:t>
            </a:fld>
            <a:endParaRPr lang="en-AU"/>
          </a:p>
        </p:txBody>
      </p:sp>
      <p:sp>
        <p:nvSpPr>
          <p:cNvPr id="4" name="Footer Placeholder 3">
            <a:extLst>
              <a:ext uri="{FF2B5EF4-FFF2-40B4-BE49-F238E27FC236}">
                <a16:creationId xmlns:a16="http://schemas.microsoft.com/office/drawing/2014/main" id="{6E133E35-C80A-9E70-5C2C-35376FBF37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0FB7AB53-2769-CE79-0FFA-D4B76B84D5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4EF8CF-0F8A-4BD6-9CE5-A84D18797DC9}" type="slidenum">
              <a:rPr lang="en-AU" smtClean="0"/>
              <a:t>‹#›</a:t>
            </a:fld>
            <a:endParaRPr lang="en-AU"/>
          </a:p>
        </p:txBody>
      </p:sp>
    </p:spTree>
    <p:extLst>
      <p:ext uri="{BB962C8B-B14F-4D97-AF65-F5344CB8AC3E}">
        <p14:creationId xmlns:p14="http://schemas.microsoft.com/office/powerpoint/2010/main" val="10404906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7A9E51-4ABD-4B03-A80E-627F14CF22A5}" type="datetimeFigureOut">
              <a:rPr lang="en-AU" smtClean="0"/>
              <a:t>10/08/2025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EFAD0F-5D97-4C49-B145-C57DEFFF189B}" type="slidenum">
              <a:rPr lang="en-AU" smtClean="0"/>
              <a:t>‹#›</a:t>
            </a:fld>
            <a:endParaRPr lang="en-AU"/>
          </a:p>
        </p:txBody>
      </p:sp>
    </p:spTree>
    <p:extLst>
      <p:ext uri="{BB962C8B-B14F-4D97-AF65-F5344CB8AC3E}">
        <p14:creationId xmlns:p14="http://schemas.microsoft.com/office/powerpoint/2010/main" val="5489710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D0237-23C8-1C37-B9C1-CDF45A0335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4BD9D0-D4D7-E59B-BF17-1C210D8914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70E6C9-BCE0-3A7C-723C-94900E24118F}"/>
              </a:ext>
            </a:extLst>
          </p:cNvPr>
          <p:cNvSpPr>
            <a:spLocks noGrp="1"/>
          </p:cNvSpPr>
          <p:nvPr>
            <p:ph type="body" idx="1"/>
          </p:nvPr>
        </p:nvSpPr>
        <p:spPr/>
        <p:txBody>
          <a:bodyPr/>
          <a:lstStyle/>
          <a:p>
            <a:r>
              <a:rPr lang="en-US">
                <a:solidFill>
                  <a:srgbClr val="1F1F1F"/>
                </a:solidFill>
              </a:rPr>
              <a:t>Let’s begin with how we prepared our data and evaluated two classic Naive Bayes models.</a:t>
            </a:r>
            <a:br>
              <a:rPr lang="en-US">
                <a:cs typeface="+mn-lt"/>
              </a:rPr>
            </a:br>
            <a:r>
              <a:rPr lang="en-US">
                <a:solidFill>
                  <a:srgbClr val="1F1F1F"/>
                </a:solidFill>
              </a:rPr>
              <a:t> We used </a:t>
            </a:r>
            <a:r>
              <a:rPr lang="en-US" err="1">
                <a:solidFill>
                  <a:srgbClr val="1F1F1F"/>
                </a:solidFill>
              </a:rPr>
              <a:t>CountVectorizer</a:t>
            </a:r>
            <a:r>
              <a:rPr lang="en-US">
                <a:solidFill>
                  <a:srgbClr val="1F1F1F"/>
                </a:solidFill>
              </a:rPr>
              <a:t> with binary=True, which means we only care about whether a word is present, not how many times it appears. Importantly, we used the </a:t>
            </a:r>
            <a:r>
              <a:rPr lang="en-US" b="1">
                <a:solidFill>
                  <a:srgbClr val="1F1F1F"/>
                </a:solidFill>
              </a:rPr>
              <a:t>same vectorizer</a:t>
            </a:r>
            <a:r>
              <a:rPr lang="en-US">
                <a:solidFill>
                  <a:srgbClr val="1F1F1F"/>
                </a:solidFill>
              </a:rPr>
              <a:t> across all models to ensure consistent vocabulary.</a:t>
            </a:r>
            <a:br>
              <a:rPr lang="en-US">
                <a:cs typeface="+mn-lt"/>
              </a:rPr>
            </a:br>
            <a:r>
              <a:rPr lang="en-US">
                <a:solidFill>
                  <a:srgbClr val="1F1F1F"/>
                </a:solidFill>
              </a:rPr>
              <a:t>Now for the models:</a:t>
            </a:r>
          </a:p>
          <a:p>
            <a:r>
              <a:rPr lang="en-US">
                <a:solidFill>
                  <a:srgbClr val="1F1F1F"/>
                </a:solidFill>
              </a:rPr>
              <a:t>The </a:t>
            </a:r>
            <a:r>
              <a:rPr lang="en-US" b="1">
                <a:solidFill>
                  <a:srgbClr val="1F1F1F"/>
                </a:solidFill>
              </a:rPr>
              <a:t>Bernoulli Naive Bayes model</a:t>
            </a:r>
            <a:r>
              <a:rPr lang="en-US">
                <a:solidFill>
                  <a:srgbClr val="1F1F1F"/>
                </a:solidFill>
              </a:rPr>
              <a:t> focuses only on word presence. We hypothesized it would work well for sentiment analysis since detecting whether a word like ‘happy’ or ‘sad’ appears might be enough. However, the results showed otherwise. While it performed decently on neutral tweets, it struggled with both positive and negative sentiments — likely due to </a:t>
            </a:r>
            <a:r>
              <a:rPr lang="en-US" b="1">
                <a:solidFill>
                  <a:srgbClr val="1F1F1F"/>
                </a:solidFill>
              </a:rPr>
              <a:t>class imbalance</a:t>
            </a:r>
            <a:r>
              <a:rPr lang="en-US">
                <a:solidFill>
                  <a:srgbClr val="1F1F1F"/>
                </a:solidFill>
              </a:rPr>
              <a:t> and the overly simplistic binary features.</a:t>
            </a:r>
          </a:p>
        </p:txBody>
      </p:sp>
      <p:sp>
        <p:nvSpPr>
          <p:cNvPr id="4" name="灯片编号占位符 3">
            <a:extLst>
              <a:ext uri="{FF2B5EF4-FFF2-40B4-BE49-F238E27FC236}">
                <a16:creationId xmlns:a16="http://schemas.microsoft.com/office/drawing/2014/main" id="{E9EC8F00-C817-F9BD-77CB-860F7585A42D}"/>
              </a:ext>
            </a:extLst>
          </p:cNvPr>
          <p:cNvSpPr>
            <a:spLocks noGrp="1"/>
          </p:cNvSpPr>
          <p:nvPr>
            <p:ph type="sldNum" sz="quarter" idx="5"/>
          </p:nvPr>
        </p:nvSpPr>
        <p:spPr/>
        <p:txBody>
          <a:bodyPr/>
          <a:lstStyle/>
          <a:p>
            <a:fld id="{19EFAD0F-5D97-4C49-B145-C57DEFFF189B}" type="slidenum">
              <a:rPr lang="en-AU" smtClean="0"/>
              <a:t>13</a:t>
            </a:fld>
            <a:endParaRPr lang="en-AU"/>
          </a:p>
        </p:txBody>
      </p:sp>
    </p:spTree>
    <p:extLst>
      <p:ext uri="{BB962C8B-B14F-4D97-AF65-F5344CB8AC3E}">
        <p14:creationId xmlns:p14="http://schemas.microsoft.com/office/powerpoint/2010/main" val="26975167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D1239-7F00-5876-7FF4-F5D9E819B6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ECC1A2-CF33-F518-F282-B1FD400A89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AD5D6F2-343C-39D3-6898-B5959CF01D00}"/>
              </a:ext>
            </a:extLst>
          </p:cNvPr>
          <p:cNvSpPr>
            <a:spLocks noGrp="1"/>
          </p:cNvSpPr>
          <p:nvPr>
            <p:ph type="body" idx="1"/>
          </p:nvPr>
        </p:nvSpPr>
        <p:spPr/>
        <p:txBody>
          <a:bodyPr/>
          <a:lstStyle/>
          <a:p>
            <a:r>
              <a:rPr lang="en-US">
                <a:solidFill>
                  <a:srgbClr val="1F1F1F"/>
                </a:solidFill>
              </a:rPr>
              <a:t>Then, the </a:t>
            </a:r>
            <a:r>
              <a:rPr lang="en-US" b="1">
                <a:solidFill>
                  <a:srgbClr val="1F1F1F"/>
                </a:solidFill>
              </a:rPr>
              <a:t>Multinomial Naive Bayes model</a:t>
            </a:r>
            <a:r>
              <a:rPr lang="en-US">
                <a:solidFill>
                  <a:srgbClr val="1F1F1F"/>
                </a:solidFill>
              </a:rPr>
              <a:t> uses word frequencies, which should give more information about how strongly a sentiment is expressed. It did slightly better, especially for negative and neutral sentiments. But it still struggled with positive ones, suggesting that frequency alone isn't enough if the model assumes word independence.</a:t>
            </a:r>
            <a:endParaRPr lang="zh-CN" altLang="en-US">
              <a:solidFill>
                <a:srgbClr val="1F1F1F"/>
              </a:solidFill>
            </a:endParaRPr>
          </a:p>
        </p:txBody>
      </p:sp>
      <p:sp>
        <p:nvSpPr>
          <p:cNvPr id="4" name="灯片编号占位符 3">
            <a:extLst>
              <a:ext uri="{FF2B5EF4-FFF2-40B4-BE49-F238E27FC236}">
                <a16:creationId xmlns:a16="http://schemas.microsoft.com/office/drawing/2014/main" id="{7CE21CD5-0E3D-F1E8-5EA6-E8E83E4E04F8}"/>
              </a:ext>
            </a:extLst>
          </p:cNvPr>
          <p:cNvSpPr>
            <a:spLocks noGrp="1"/>
          </p:cNvSpPr>
          <p:nvPr>
            <p:ph type="sldNum" sz="quarter" idx="5"/>
          </p:nvPr>
        </p:nvSpPr>
        <p:spPr/>
        <p:txBody>
          <a:bodyPr/>
          <a:lstStyle/>
          <a:p>
            <a:fld id="{19EFAD0F-5D97-4C49-B145-C57DEFFF189B}" type="slidenum">
              <a:rPr lang="en-AU" smtClean="0"/>
              <a:t>14</a:t>
            </a:fld>
            <a:endParaRPr lang="en-AU"/>
          </a:p>
        </p:txBody>
      </p:sp>
    </p:spTree>
    <p:extLst>
      <p:ext uri="{BB962C8B-B14F-4D97-AF65-F5344CB8AC3E}">
        <p14:creationId xmlns:p14="http://schemas.microsoft.com/office/powerpoint/2010/main" val="864755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A2A79-C389-F520-540A-8BB12F2A08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17E93D-2931-ACEA-70C7-14B990C60D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91B707-8829-66B7-BA88-76507E8B9E1F}"/>
              </a:ext>
            </a:extLst>
          </p:cNvPr>
          <p:cNvSpPr>
            <a:spLocks noGrp="1"/>
          </p:cNvSpPr>
          <p:nvPr>
            <p:ph type="body" idx="1"/>
          </p:nvPr>
        </p:nvSpPr>
        <p:spPr/>
        <p:txBody>
          <a:bodyPr/>
          <a:lstStyle/>
          <a:p>
            <a:r>
              <a:rPr lang="en-US">
                <a:solidFill>
                  <a:srgbClr val="000000"/>
                </a:solidFill>
              </a:rPr>
              <a:t>Next, we explored </a:t>
            </a:r>
            <a:r>
              <a:rPr lang="en-US" b="1">
                <a:solidFill>
                  <a:srgbClr val="000000"/>
                </a:solidFill>
              </a:rPr>
              <a:t>Logistic Regression</a:t>
            </a:r>
            <a:r>
              <a:rPr lang="en-US">
                <a:solidFill>
                  <a:srgbClr val="000000"/>
                </a:solidFill>
              </a:rPr>
              <a:t>, a linear model that doesn’t assume features are independent. It learns a weight for each word and predicts probabilities of sentiment classes directly. We increased the maximum number of iterations to 1000 to make sure the model converged properly. As you can see in the table, Logistic Regression </a:t>
            </a:r>
            <a:r>
              <a:rPr lang="en-US" b="1">
                <a:solidFill>
                  <a:srgbClr val="000000"/>
                </a:solidFill>
              </a:rPr>
              <a:t>outperforms both Naive Bayes models</a:t>
            </a:r>
            <a:r>
              <a:rPr lang="en-US">
                <a:solidFill>
                  <a:srgbClr val="000000"/>
                </a:solidFill>
              </a:rPr>
              <a:t> across all classes. It achieved an overall accuracy of </a:t>
            </a:r>
            <a:r>
              <a:rPr lang="en-US" b="1">
                <a:solidFill>
                  <a:srgbClr val="000000"/>
                </a:solidFill>
              </a:rPr>
              <a:t>91%</a:t>
            </a:r>
            <a:r>
              <a:rPr lang="en-US">
                <a:solidFill>
                  <a:srgbClr val="000000"/>
                </a:solidFill>
              </a:rPr>
              <a:t>, with much better F1 scores for positive and negative classes. This suggests that Logistic Regression is better at handling </a:t>
            </a:r>
            <a:r>
              <a:rPr lang="en-US" b="1">
                <a:solidFill>
                  <a:srgbClr val="000000"/>
                </a:solidFill>
              </a:rPr>
              <a:t>imbalanced data</a:t>
            </a:r>
            <a:r>
              <a:rPr lang="en-US">
                <a:solidFill>
                  <a:srgbClr val="000000"/>
                </a:solidFill>
              </a:rPr>
              <a:t> and can model more complex sentiment patterns.</a:t>
            </a:r>
            <a:endParaRPr lang="zh-CN" altLang="en-US"/>
          </a:p>
        </p:txBody>
      </p:sp>
      <p:sp>
        <p:nvSpPr>
          <p:cNvPr id="4" name="灯片编号占位符 3">
            <a:extLst>
              <a:ext uri="{FF2B5EF4-FFF2-40B4-BE49-F238E27FC236}">
                <a16:creationId xmlns:a16="http://schemas.microsoft.com/office/drawing/2014/main" id="{D92949C2-B96E-CDC8-3532-9E1CDF149D4E}"/>
              </a:ext>
            </a:extLst>
          </p:cNvPr>
          <p:cNvSpPr>
            <a:spLocks noGrp="1"/>
          </p:cNvSpPr>
          <p:nvPr>
            <p:ph type="sldNum" sz="quarter" idx="5"/>
          </p:nvPr>
        </p:nvSpPr>
        <p:spPr/>
        <p:txBody>
          <a:bodyPr/>
          <a:lstStyle/>
          <a:p>
            <a:fld id="{19EFAD0F-5D97-4C49-B145-C57DEFFF189B}" type="slidenum">
              <a:rPr lang="en-AU" smtClean="0"/>
              <a:t>15</a:t>
            </a:fld>
            <a:endParaRPr lang="en-AU"/>
          </a:p>
        </p:txBody>
      </p:sp>
    </p:spTree>
    <p:extLst>
      <p:ext uri="{BB962C8B-B14F-4D97-AF65-F5344CB8AC3E}">
        <p14:creationId xmlns:p14="http://schemas.microsoft.com/office/powerpoint/2010/main" val="3636126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39E86-E49F-B7D0-0454-2B3BEC8260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9232B1-0DAC-A4FB-BCB5-1FF32F3A69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E71869-F1BA-78F8-B44F-B79AF82DA420}"/>
              </a:ext>
            </a:extLst>
          </p:cNvPr>
          <p:cNvSpPr>
            <a:spLocks noGrp="1"/>
          </p:cNvSpPr>
          <p:nvPr>
            <p:ph type="body" idx="1"/>
          </p:nvPr>
        </p:nvSpPr>
        <p:spPr/>
        <p:txBody>
          <a:bodyPr/>
          <a:lstStyle/>
          <a:p>
            <a:endParaRPr lang="en-US">
              <a:ea typeface="Calibri"/>
              <a:cs typeface="Calibri"/>
            </a:endParaRPr>
          </a:p>
        </p:txBody>
      </p:sp>
      <p:sp>
        <p:nvSpPr>
          <p:cNvPr id="4" name="灯片编号占位符 3">
            <a:extLst>
              <a:ext uri="{FF2B5EF4-FFF2-40B4-BE49-F238E27FC236}">
                <a16:creationId xmlns:a16="http://schemas.microsoft.com/office/drawing/2014/main" id="{5192793F-F75A-FE82-A561-E6138363FBF9}"/>
              </a:ext>
            </a:extLst>
          </p:cNvPr>
          <p:cNvSpPr>
            <a:spLocks noGrp="1"/>
          </p:cNvSpPr>
          <p:nvPr>
            <p:ph type="sldNum" sz="quarter" idx="5"/>
          </p:nvPr>
        </p:nvSpPr>
        <p:spPr/>
        <p:txBody>
          <a:bodyPr/>
          <a:lstStyle/>
          <a:p>
            <a:fld id="{19EFAD0F-5D97-4C49-B145-C57DEFFF189B}" type="slidenum">
              <a:rPr lang="en-AU" smtClean="0"/>
              <a:t>16</a:t>
            </a:fld>
            <a:endParaRPr lang="en-AU"/>
          </a:p>
        </p:txBody>
      </p:sp>
    </p:spTree>
    <p:extLst>
      <p:ext uri="{BB962C8B-B14F-4D97-AF65-F5344CB8AC3E}">
        <p14:creationId xmlns:p14="http://schemas.microsoft.com/office/powerpoint/2010/main" val="4101240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745C2-6091-52E6-2BCA-6622A0AA55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5F05A2-49D1-FF33-5F1C-37E6197C96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86BD29-5D48-9A14-F234-562FC7FD15CC}"/>
              </a:ext>
            </a:extLst>
          </p:cNvPr>
          <p:cNvSpPr>
            <a:spLocks noGrp="1"/>
          </p:cNvSpPr>
          <p:nvPr>
            <p:ph type="body" idx="1"/>
          </p:nvPr>
        </p:nvSpPr>
        <p:spPr/>
        <p:txBody>
          <a:bodyPr/>
          <a:lstStyle/>
          <a:p>
            <a:endParaRPr lang="en-US">
              <a:ea typeface="Calibri"/>
              <a:cs typeface="Calibri"/>
            </a:endParaRPr>
          </a:p>
        </p:txBody>
      </p:sp>
      <p:sp>
        <p:nvSpPr>
          <p:cNvPr id="4" name="灯片编号占位符 3">
            <a:extLst>
              <a:ext uri="{FF2B5EF4-FFF2-40B4-BE49-F238E27FC236}">
                <a16:creationId xmlns:a16="http://schemas.microsoft.com/office/drawing/2014/main" id="{D5A69B90-14F5-1ABC-6C3C-03A53BE6E9CA}"/>
              </a:ext>
            </a:extLst>
          </p:cNvPr>
          <p:cNvSpPr>
            <a:spLocks noGrp="1"/>
          </p:cNvSpPr>
          <p:nvPr>
            <p:ph type="sldNum" sz="quarter" idx="5"/>
          </p:nvPr>
        </p:nvSpPr>
        <p:spPr/>
        <p:txBody>
          <a:bodyPr/>
          <a:lstStyle/>
          <a:p>
            <a:fld id="{19EFAD0F-5D97-4C49-B145-C57DEFFF189B}" type="slidenum">
              <a:rPr lang="en-AU" smtClean="0"/>
              <a:t>17</a:t>
            </a:fld>
            <a:endParaRPr lang="en-AU"/>
          </a:p>
        </p:txBody>
      </p:sp>
    </p:spTree>
    <p:extLst>
      <p:ext uri="{BB962C8B-B14F-4D97-AF65-F5344CB8AC3E}">
        <p14:creationId xmlns:p14="http://schemas.microsoft.com/office/powerpoint/2010/main" val="500261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77F09-E273-C66B-0280-0C183E359C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4190F4-B07C-9862-2E5E-5644C09A31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B5F87A-ED48-95ED-4A40-12EF45992833}"/>
              </a:ext>
            </a:extLst>
          </p:cNvPr>
          <p:cNvSpPr>
            <a:spLocks noGrp="1"/>
          </p:cNvSpPr>
          <p:nvPr>
            <p:ph type="body" idx="1"/>
          </p:nvPr>
        </p:nvSpPr>
        <p:spPr/>
        <p:txBody>
          <a:bodyPr/>
          <a:lstStyle/>
          <a:p>
            <a:endParaRPr lang="en-US">
              <a:ea typeface="Calibri"/>
              <a:cs typeface="Calibri"/>
            </a:endParaRPr>
          </a:p>
        </p:txBody>
      </p:sp>
      <p:sp>
        <p:nvSpPr>
          <p:cNvPr id="4" name="灯片编号占位符 3">
            <a:extLst>
              <a:ext uri="{FF2B5EF4-FFF2-40B4-BE49-F238E27FC236}">
                <a16:creationId xmlns:a16="http://schemas.microsoft.com/office/drawing/2014/main" id="{6C68E303-7893-B25F-3F43-963A46E4D199}"/>
              </a:ext>
            </a:extLst>
          </p:cNvPr>
          <p:cNvSpPr>
            <a:spLocks noGrp="1"/>
          </p:cNvSpPr>
          <p:nvPr>
            <p:ph type="sldNum" sz="quarter" idx="5"/>
          </p:nvPr>
        </p:nvSpPr>
        <p:spPr/>
        <p:txBody>
          <a:bodyPr/>
          <a:lstStyle/>
          <a:p>
            <a:fld id="{19EFAD0F-5D97-4C49-B145-C57DEFFF189B}" type="slidenum">
              <a:rPr lang="en-AU" smtClean="0"/>
              <a:t>18</a:t>
            </a:fld>
            <a:endParaRPr lang="en-AU"/>
          </a:p>
        </p:txBody>
      </p:sp>
    </p:spTree>
    <p:extLst>
      <p:ext uri="{BB962C8B-B14F-4D97-AF65-F5344CB8AC3E}">
        <p14:creationId xmlns:p14="http://schemas.microsoft.com/office/powerpoint/2010/main" val="701680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8EB8-92B5-F36E-E1A1-F625375804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52C337-A938-C3D0-7200-3B6022F489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61425F-EBDD-4908-581A-55BA77AEF2C4}"/>
              </a:ext>
            </a:extLst>
          </p:cNvPr>
          <p:cNvSpPr>
            <a:spLocks noGrp="1"/>
          </p:cNvSpPr>
          <p:nvPr>
            <p:ph type="body" idx="1"/>
          </p:nvPr>
        </p:nvSpPr>
        <p:spPr/>
        <p:txBody>
          <a:bodyPr/>
          <a:lstStyle/>
          <a:p>
            <a:endParaRPr lang="en-US">
              <a:ea typeface="Calibri"/>
              <a:cs typeface="Calibri"/>
            </a:endParaRPr>
          </a:p>
        </p:txBody>
      </p:sp>
      <p:sp>
        <p:nvSpPr>
          <p:cNvPr id="4" name="灯片编号占位符 3">
            <a:extLst>
              <a:ext uri="{FF2B5EF4-FFF2-40B4-BE49-F238E27FC236}">
                <a16:creationId xmlns:a16="http://schemas.microsoft.com/office/drawing/2014/main" id="{77C0E07F-D1BF-0DD9-EEB3-CE5A059BD766}"/>
              </a:ext>
            </a:extLst>
          </p:cNvPr>
          <p:cNvSpPr>
            <a:spLocks noGrp="1"/>
          </p:cNvSpPr>
          <p:nvPr>
            <p:ph type="sldNum" sz="quarter" idx="5"/>
          </p:nvPr>
        </p:nvSpPr>
        <p:spPr/>
        <p:txBody>
          <a:bodyPr/>
          <a:lstStyle/>
          <a:p>
            <a:fld id="{19EFAD0F-5D97-4C49-B145-C57DEFFF189B}" type="slidenum">
              <a:rPr lang="en-AU" smtClean="0"/>
              <a:t>19</a:t>
            </a:fld>
            <a:endParaRPr lang="en-AU"/>
          </a:p>
        </p:txBody>
      </p:sp>
    </p:spTree>
    <p:extLst>
      <p:ext uri="{BB962C8B-B14F-4D97-AF65-F5344CB8AC3E}">
        <p14:creationId xmlns:p14="http://schemas.microsoft.com/office/powerpoint/2010/main" val="2055249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AD465-2292-87CB-5B58-B09E733097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C1E1EA-AF7A-1DF5-15A2-6CDA8B4403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3FB1B4-0110-5B77-064B-65EC133F15D6}"/>
              </a:ext>
            </a:extLst>
          </p:cNvPr>
          <p:cNvSpPr>
            <a:spLocks noGrp="1"/>
          </p:cNvSpPr>
          <p:nvPr>
            <p:ph type="body" idx="1"/>
          </p:nvPr>
        </p:nvSpPr>
        <p:spPr/>
        <p:txBody>
          <a:bodyPr/>
          <a:lstStyle/>
          <a:p>
            <a:endParaRPr lang="en-US">
              <a:ea typeface="Calibri"/>
              <a:cs typeface="Calibri"/>
            </a:endParaRPr>
          </a:p>
        </p:txBody>
      </p:sp>
      <p:sp>
        <p:nvSpPr>
          <p:cNvPr id="4" name="灯片编号占位符 3">
            <a:extLst>
              <a:ext uri="{FF2B5EF4-FFF2-40B4-BE49-F238E27FC236}">
                <a16:creationId xmlns:a16="http://schemas.microsoft.com/office/drawing/2014/main" id="{42B40B58-493C-848D-9F59-A30A592FE3EC}"/>
              </a:ext>
            </a:extLst>
          </p:cNvPr>
          <p:cNvSpPr>
            <a:spLocks noGrp="1"/>
          </p:cNvSpPr>
          <p:nvPr>
            <p:ph type="sldNum" sz="quarter" idx="5"/>
          </p:nvPr>
        </p:nvSpPr>
        <p:spPr/>
        <p:txBody>
          <a:bodyPr/>
          <a:lstStyle/>
          <a:p>
            <a:fld id="{19EFAD0F-5D97-4C49-B145-C57DEFFF189B}" type="slidenum">
              <a:rPr lang="en-AU" smtClean="0"/>
              <a:t>20</a:t>
            </a:fld>
            <a:endParaRPr lang="en-AU"/>
          </a:p>
        </p:txBody>
      </p:sp>
    </p:spTree>
    <p:extLst>
      <p:ext uri="{BB962C8B-B14F-4D97-AF65-F5344CB8AC3E}">
        <p14:creationId xmlns:p14="http://schemas.microsoft.com/office/powerpoint/2010/main" val="3430427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08FF9-86BC-73A2-584B-4C8264A15E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F93AF1-B39E-ACAD-2C0C-44741E78EB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B49669-DCE6-FBE2-0A3F-1C3C3DE732B0}"/>
              </a:ext>
            </a:extLst>
          </p:cNvPr>
          <p:cNvSpPr>
            <a:spLocks noGrp="1"/>
          </p:cNvSpPr>
          <p:nvPr>
            <p:ph type="body" idx="1"/>
          </p:nvPr>
        </p:nvSpPr>
        <p:spPr/>
        <p:txBody>
          <a:bodyPr/>
          <a:lstStyle/>
          <a:p>
            <a:endParaRPr lang="en-US">
              <a:ea typeface="Calibri"/>
              <a:cs typeface="Calibri"/>
            </a:endParaRPr>
          </a:p>
        </p:txBody>
      </p:sp>
      <p:sp>
        <p:nvSpPr>
          <p:cNvPr id="4" name="灯片编号占位符 3">
            <a:extLst>
              <a:ext uri="{FF2B5EF4-FFF2-40B4-BE49-F238E27FC236}">
                <a16:creationId xmlns:a16="http://schemas.microsoft.com/office/drawing/2014/main" id="{41BD0232-6DD9-99E5-E43C-4CD816E9D1A8}"/>
              </a:ext>
            </a:extLst>
          </p:cNvPr>
          <p:cNvSpPr>
            <a:spLocks noGrp="1"/>
          </p:cNvSpPr>
          <p:nvPr>
            <p:ph type="sldNum" sz="quarter" idx="5"/>
          </p:nvPr>
        </p:nvSpPr>
        <p:spPr/>
        <p:txBody>
          <a:bodyPr/>
          <a:lstStyle/>
          <a:p>
            <a:fld id="{19EFAD0F-5D97-4C49-B145-C57DEFFF189B}" type="slidenum">
              <a:rPr lang="en-AU" smtClean="0"/>
              <a:t>21</a:t>
            </a:fld>
            <a:endParaRPr lang="en-AU"/>
          </a:p>
        </p:txBody>
      </p:sp>
    </p:spTree>
    <p:extLst>
      <p:ext uri="{BB962C8B-B14F-4D97-AF65-F5344CB8AC3E}">
        <p14:creationId xmlns:p14="http://schemas.microsoft.com/office/powerpoint/2010/main" val="3993575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AD2B8-F9B6-93FA-84BE-4F89F0B790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257DE6-E951-7A3E-CE5D-604C870A01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5E3E3F-8072-1F03-55F8-AE9EAA1FDEF5}"/>
              </a:ext>
            </a:extLst>
          </p:cNvPr>
          <p:cNvSpPr>
            <a:spLocks noGrp="1"/>
          </p:cNvSpPr>
          <p:nvPr>
            <p:ph type="body" idx="1"/>
          </p:nvPr>
        </p:nvSpPr>
        <p:spPr/>
        <p:txBody>
          <a:bodyPr/>
          <a:lstStyle/>
          <a:p>
            <a:endParaRPr lang="en-US">
              <a:ea typeface="Calibri"/>
              <a:cs typeface="Calibri"/>
            </a:endParaRPr>
          </a:p>
          <a:p>
            <a:endParaRPr lang="en-US">
              <a:ea typeface="Calibri"/>
              <a:cs typeface="Calibri"/>
            </a:endParaRPr>
          </a:p>
        </p:txBody>
      </p:sp>
      <p:sp>
        <p:nvSpPr>
          <p:cNvPr id="4" name="灯片编号占位符 3">
            <a:extLst>
              <a:ext uri="{FF2B5EF4-FFF2-40B4-BE49-F238E27FC236}">
                <a16:creationId xmlns:a16="http://schemas.microsoft.com/office/drawing/2014/main" id="{D7639A63-9529-BF9E-6894-3E8349F87ED7}"/>
              </a:ext>
            </a:extLst>
          </p:cNvPr>
          <p:cNvSpPr>
            <a:spLocks noGrp="1"/>
          </p:cNvSpPr>
          <p:nvPr>
            <p:ph type="sldNum" sz="quarter" idx="5"/>
          </p:nvPr>
        </p:nvSpPr>
        <p:spPr/>
        <p:txBody>
          <a:bodyPr/>
          <a:lstStyle/>
          <a:p>
            <a:fld id="{19EFAD0F-5D97-4C49-B145-C57DEFFF189B}" type="slidenum">
              <a:rPr lang="en-AU" smtClean="0"/>
              <a:t>22</a:t>
            </a:fld>
            <a:endParaRPr lang="en-AU"/>
          </a:p>
        </p:txBody>
      </p:sp>
    </p:spTree>
    <p:extLst>
      <p:ext uri="{BB962C8B-B14F-4D97-AF65-F5344CB8AC3E}">
        <p14:creationId xmlns:p14="http://schemas.microsoft.com/office/powerpoint/2010/main" val="1025795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F2F38-3E77-DAC7-B0AE-829270C042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C45B45-683A-8B7A-53F0-DF6FB420DF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D8DB672-BFC9-4083-8758-A029AF6E5FFA}"/>
              </a:ext>
            </a:extLst>
          </p:cNvPr>
          <p:cNvSpPr>
            <a:spLocks noGrp="1"/>
          </p:cNvSpPr>
          <p:nvPr>
            <p:ph type="body" idx="1"/>
          </p:nvPr>
        </p:nvSpPr>
        <p:spPr/>
        <p:txBody>
          <a:bodyPr/>
          <a:lstStyle/>
          <a:p>
            <a:endParaRPr lang="en-US">
              <a:ea typeface="Calibri"/>
              <a:cs typeface="Calibri"/>
            </a:endParaRPr>
          </a:p>
        </p:txBody>
      </p:sp>
      <p:sp>
        <p:nvSpPr>
          <p:cNvPr id="4" name="灯片编号占位符 3">
            <a:extLst>
              <a:ext uri="{FF2B5EF4-FFF2-40B4-BE49-F238E27FC236}">
                <a16:creationId xmlns:a16="http://schemas.microsoft.com/office/drawing/2014/main" id="{5389B14B-7451-9593-71A9-DC537FD24847}"/>
              </a:ext>
            </a:extLst>
          </p:cNvPr>
          <p:cNvSpPr>
            <a:spLocks noGrp="1"/>
          </p:cNvSpPr>
          <p:nvPr>
            <p:ph type="sldNum" sz="quarter" idx="5"/>
          </p:nvPr>
        </p:nvSpPr>
        <p:spPr/>
        <p:txBody>
          <a:bodyPr/>
          <a:lstStyle/>
          <a:p>
            <a:fld id="{19EFAD0F-5D97-4C49-B145-C57DEFFF189B}" type="slidenum">
              <a:rPr lang="en-AU" smtClean="0"/>
              <a:t>23</a:t>
            </a:fld>
            <a:endParaRPr lang="en-AU"/>
          </a:p>
        </p:txBody>
      </p:sp>
    </p:spTree>
    <p:extLst>
      <p:ext uri="{BB962C8B-B14F-4D97-AF65-F5344CB8AC3E}">
        <p14:creationId xmlns:p14="http://schemas.microsoft.com/office/powerpoint/2010/main" val="2115001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CC69-1DB5-8B4C-E984-537775889A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746AB9C-35E1-72A7-C1BD-2A68ABDF5C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63BADF0C-51C6-7419-3D8D-CE50A38B869C}"/>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65DC2B86-F199-D6C7-6508-0F212835FAC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76CA229-935C-8099-0E86-5ECC48D06E93}"/>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417551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DEDE7-E9E0-024D-ECA2-08E54B25DB1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017D77A-76FB-85A4-F394-25213E4C8E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EDFCDC2-DAA7-2417-8C12-59AD99F73D00}"/>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5294E4FE-3DEB-1A78-A982-79D37BE3DDB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0F844F9-28BE-776B-9E9D-2D8B60BFE349}"/>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360620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46D2-4849-55F2-9EDF-A792D2D5D8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A57F27-84A0-5427-C58F-7B0A3B7D35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151D2F-4DB1-E58D-F5B2-22856EBD9F09}"/>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2564215E-C1E7-0772-7B69-C49D663C038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2C38AE6-A79D-47C3-230B-1AC81712ABCB}"/>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156065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A1BEC-192D-937E-DA59-2C1E6F92856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84B18E9-9BA1-6BDC-7D49-312A5A52B1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412D44C6-412A-DD4D-862D-B5E514E9B1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C7240C3E-1460-3B32-C784-A5390B819409}"/>
              </a:ext>
            </a:extLst>
          </p:cNvPr>
          <p:cNvSpPr>
            <a:spLocks noGrp="1"/>
          </p:cNvSpPr>
          <p:nvPr>
            <p:ph type="dt" sz="half" idx="10"/>
          </p:nvPr>
        </p:nvSpPr>
        <p:spPr/>
        <p:txBody>
          <a:bodyPr/>
          <a:lstStyle/>
          <a:p>
            <a:endParaRPr lang="en-AU"/>
          </a:p>
        </p:txBody>
      </p:sp>
      <p:sp>
        <p:nvSpPr>
          <p:cNvPr id="6" name="Footer Placeholder 5">
            <a:extLst>
              <a:ext uri="{FF2B5EF4-FFF2-40B4-BE49-F238E27FC236}">
                <a16:creationId xmlns:a16="http://schemas.microsoft.com/office/drawing/2014/main" id="{8D6C3E9E-91F4-68EB-3214-136D87F19ED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FAA5AB8-7D83-5F63-650F-2F42E603A9D0}"/>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298495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89673-788D-CEB8-3CAB-5325857C7632}"/>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E7A4327-CB54-2F05-89B1-AE24F04363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E392B2-77BB-A618-6A0F-13C2A2CD9F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B2758D8B-E275-A357-1522-80C6F2515F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DB81CE-9484-C3CC-76E1-DBC0AAD00E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87C95D1-9F2A-BFEE-8F8A-A71FEA5D4B6C}"/>
              </a:ext>
            </a:extLst>
          </p:cNvPr>
          <p:cNvSpPr>
            <a:spLocks noGrp="1"/>
          </p:cNvSpPr>
          <p:nvPr>
            <p:ph type="dt" sz="half" idx="10"/>
          </p:nvPr>
        </p:nvSpPr>
        <p:spPr/>
        <p:txBody>
          <a:bodyPr/>
          <a:lstStyle/>
          <a:p>
            <a:endParaRPr lang="en-AU"/>
          </a:p>
        </p:txBody>
      </p:sp>
      <p:sp>
        <p:nvSpPr>
          <p:cNvPr id="8" name="Footer Placeholder 7">
            <a:extLst>
              <a:ext uri="{FF2B5EF4-FFF2-40B4-BE49-F238E27FC236}">
                <a16:creationId xmlns:a16="http://schemas.microsoft.com/office/drawing/2014/main" id="{BD2A9D27-286A-0CD0-536E-3C31470F9E3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683C16E-2B21-4D45-0DB5-880C81E3FE32}"/>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1580152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30EBF-8DA3-0A25-1033-CC234E8A462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545438F8-89A1-A067-F8E9-70C1687FAED1}"/>
              </a:ext>
            </a:extLst>
          </p:cNvPr>
          <p:cNvSpPr>
            <a:spLocks noGrp="1"/>
          </p:cNvSpPr>
          <p:nvPr>
            <p:ph type="dt" sz="half" idx="10"/>
          </p:nvPr>
        </p:nvSpPr>
        <p:spPr/>
        <p:txBody>
          <a:bodyPr/>
          <a:lstStyle/>
          <a:p>
            <a:endParaRPr lang="en-AU"/>
          </a:p>
        </p:txBody>
      </p:sp>
      <p:sp>
        <p:nvSpPr>
          <p:cNvPr id="4" name="Footer Placeholder 3">
            <a:extLst>
              <a:ext uri="{FF2B5EF4-FFF2-40B4-BE49-F238E27FC236}">
                <a16:creationId xmlns:a16="http://schemas.microsoft.com/office/drawing/2014/main" id="{25613E1D-0C4A-5D32-26F9-1BCEB8481A5E}"/>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D2DFB03E-F9B4-2433-81E1-3BD50D86FCF8}"/>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63586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8F21A5-757D-D6A3-9443-5A6371AF2C16}"/>
              </a:ext>
            </a:extLst>
          </p:cNvPr>
          <p:cNvSpPr>
            <a:spLocks noGrp="1"/>
          </p:cNvSpPr>
          <p:nvPr>
            <p:ph type="dt" sz="half" idx="10"/>
          </p:nvPr>
        </p:nvSpPr>
        <p:spPr/>
        <p:txBody>
          <a:bodyPr/>
          <a:lstStyle/>
          <a:p>
            <a:endParaRPr lang="en-AU"/>
          </a:p>
        </p:txBody>
      </p:sp>
      <p:sp>
        <p:nvSpPr>
          <p:cNvPr id="3" name="Footer Placeholder 2">
            <a:extLst>
              <a:ext uri="{FF2B5EF4-FFF2-40B4-BE49-F238E27FC236}">
                <a16:creationId xmlns:a16="http://schemas.microsoft.com/office/drawing/2014/main" id="{42F14B1B-5FF6-8469-6441-EB5B8B69B1E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12CD0E0-0D21-6F48-935E-F6B75CC63DE4}"/>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3517152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DA84B-7940-7822-2557-A9F64C4F63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31BFA02-B7AD-C565-8B71-EBFE90B147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DC65417-3DB2-4D8D-8200-BD30635C58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50B6C3-E111-C7CB-AC6A-CC00EF12A63A}"/>
              </a:ext>
            </a:extLst>
          </p:cNvPr>
          <p:cNvSpPr>
            <a:spLocks noGrp="1"/>
          </p:cNvSpPr>
          <p:nvPr>
            <p:ph type="dt" sz="half" idx="10"/>
          </p:nvPr>
        </p:nvSpPr>
        <p:spPr/>
        <p:txBody>
          <a:bodyPr/>
          <a:lstStyle/>
          <a:p>
            <a:endParaRPr lang="en-AU"/>
          </a:p>
        </p:txBody>
      </p:sp>
      <p:sp>
        <p:nvSpPr>
          <p:cNvPr id="6" name="Footer Placeholder 5">
            <a:extLst>
              <a:ext uri="{FF2B5EF4-FFF2-40B4-BE49-F238E27FC236}">
                <a16:creationId xmlns:a16="http://schemas.microsoft.com/office/drawing/2014/main" id="{F88C9C6B-73DF-DF29-7D8E-406889E845D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E5FA417-731E-9727-AF6F-6D28C1550517}"/>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1577838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92BEE-A08A-4C6E-7CF0-B5E142A6A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0CB7E99-09CB-4FCE-7697-4152BD23EA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B76087A-FE5D-60D9-AE0C-90223805AB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EC7038-77D9-3267-A27B-7B49BB1DB3B1}"/>
              </a:ext>
            </a:extLst>
          </p:cNvPr>
          <p:cNvSpPr>
            <a:spLocks noGrp="1"/>
          </p:cNvSpPr>
          <p:nvPr>
            <p:ph type="dt" sz="half" idx="10"/>
          </p:nvPr>
        </p:nvSpPr>
        <p:spPr/>
        <p:txBody>
          <a:bodyPr/>
          <a:lstStyle/>
          <a:p>
            <a:endParaRPr lang="en-AU"/>
          </a:p>
        </p:txBody>
      </p:sp>
      <p:sp>
        <p:nvSpPr>
          <p:cNvPr id="6" name="Footer Placeholder 5">
            <a:extLst>
              <a:ext uri="{FF2B5EF4-FFF2-40B4-BE49-F238E27FC236}">
                <a16:creationId xmlns:a16="http://schemas.microsoft.com/office/drawing/2014/main" id="{C54014C3-2621-ED8B-BAFE-7382D98EBBE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C83137F-F472-9F0A-46F3-68538886EFBC}"/>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802597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E9202-C610-B140-08AE-44A7A81AE15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52C6ED7-FC32-3714-E040-43D1C4BE2F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5690846-30E1-0BAF-95AF-2C33ADEE6F96}"/>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02EBE872-C7C3-B46E-9774-8FB6415FB2A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F6FBA00-691F-09A6-F95B-E68F8744BC6C}"/>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186755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9E502C-2424-B094-C539-7DA0B74C68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C953B7A-E936-2389-15BD-97911F5B1F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E08DFD5-019B-E5BD-82F1-29E012B370F6}"/>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BEF73B12-943B-CDB8-92BA-AA488F9AD7B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BFD7ABB-25EC-73C5-D340-E23440DCE824}"/>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951005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70D427A-31A8-804F-A88E-B2237F6FF8DD}"/>
              </a:ext>
            </a:extLst>
          </p:cNvPr>
          <p:cNvSpPr/>
          <p:nvPr userDrawn="1"/>
        </p:nvSpPr>
        <p:spPr>
          <a:xfrm rot="5400000">
            <a:off x="5706291" y="372292"/>
            <a:ext cx="779419" cy="12192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4"/>
          </a:p>
        </p:txBody>
      </p:sp>
      <p:pic>
        <p:nvPicPr>
          <p:cNvPr id="8" name="Picture 7" descr="A picture containing food&#10;&#10;Description automatically generated">
            <a:extLst>
              <a:ext uri="{FF2B5EF4-FFF2-40B4-BE49-F238E27FC236}">
                <a16:creationId xmlns:a16="http://schemas.microsoft.com/office/drawing/2014/main" id="{3919BA19-F123-3B46-B077-C952C919A7DB}"/>
              </a:ext>
            </a:extLst>
          </p:cNvPr>
          <p:cNvPicPr>
            <a:picLocks noChangeAspect="1"/>
          </p:cNvPicPr>
          <p:nvPr userDrawn="1"/>
        </p:nvPicPr>
        <p:blipFill>
          <a:blip r:embed="rId2"/>
          <a:stretch>
            <a:fillRect/>
          </a:stretch>
        </p:blipFill>
        <p:spPr>
          <a:xfrm>
            <a:off x="11507849" y="6139546"/>
            <a:ext cx="598271" cy="701040"/>
          </a:xfrm>
          <a:prstGeom prst="rect">
            <a:avLst/>
          </a:prstGeom>
        </p:spPr>
      </p:pic>
      <p:sp>
        <p:nvSpPr>
          <p:cNvPr id="4" name="Title Placeholder 1">
            <a:extLst>
              <a:ext uri="{FF2B5EF4-FFF2-40B4-BE49-F238E27FC236}">
                <a16:creationId xmlns:a16="http://schemas.microsoft.com/office/drawing/2014/main" id="{EC14B686-A7B8-C34E-BD3F-17AD72808B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lvl1pPr>
              <a:defRPr>
                <a:latin typeface="Arial" panose="020B0604020202020204" pitchFamily="34" charset="0"/>
                <a:ea typeface="Roboto" panose="02000000000000000000" pitchFamily="2" charset="0"/>
                <a:cs typeface="Arial" panose="020B0604020202020204" pitchFamily="34" charset="0"/>
              </a:defRPr>
            </a:lvl1pPr>
          </a:lstStyle>
          <a:p>
            <a:r>
              <a:rPr lang="en-GB"/>
              <a:t>Click to edit Master title style</a:t>
            </a:r>
            <a:endParaRPr lang="en-US"/>
          </a:p>
        </p:txBody>
      </p:sp>
      <p:sp>
        <p:nvSpPr>
          <p:cNvPr id="5" name="Text Placeholder 2">
            <a:extLst>
              <a:ext uri="{FF2B5EF4-FFF2-40B4-BE49-F238E27FC236}">
                <a16:creationId xmlns:a16="http://schemas.microsoft.com/office/drawing/2014/main" id="{99B41C51-D68E-9449-86C7-CBC06D1C8A04}"/>
              </a:ext>
            </a:extLst>
          </p:cNvPr>
          <p:cNvSpPr>
            <a:spLocks noGrp="1"/>
          </p:cNvSpPr>
          <p:nvPr>
            <p:ph idx="1"/>
          </p:nvPr>
        </p:nvSpPr>
        <p:spPr>
          <a:xfrm>
            <a:off x="838200" y="1825625"/>
            <a:ext cx="10515600" cy="4088158"/>
          </a:xfrm>
          <a:prstGeom prst="rect">
            <a:avLst/>
          </a:prstGeom>
        </p:spPr>
        <p:txBody>
          <a:bodyPr vert="horz" lIns="91440" tIns="45720" rIns="91440" bIns="45720" rtlCol="0">
            <a:normAutofit/>
          </a:bodyPr>
          <a:lstStyle>
            <a:lvl1pPr>
              <a:defRPr>
                <a:latin typeface="Arial" panose="020B0604020202020204" pitchFamily="34" charset="0"/>
                <a:ea typeface="Roboto" panose="02000000000000000000" pitchFamily="2" charset="0"/>
                <a:cs typeface="Arial" panose="020B0604020202020204" pitchFamily="34" charset="0"/>
              </a:defRPr>
            </a:lvl1pPr>
            <a:lvl2pPr>
              <a:defRPr>
                <a:latin typeface="Arial" panose="020B0604020202020204" pitchFamily="34" charset="0"/>
                <a:ea typeface="Roboto" panose="02000000000000000000" pitchFamily="2" charset="0"/>
                <a:cs typeface="Arial" panose="020B0604020202020204" pitchFamily="34" charset="0"/>
              </a:defRPr>
            </a:lvl2pPr>
            <a:lvl3pPr>
              <a:defRPr>
                <a:latin typeface="Arial" panose="020B0604020202020204" pitchFamily="34" charset="0"/>
                <a:ea typeface="Roboto" panose="02000000000000000000" pitchFamily="2" charset="0"/>
                <a:cs typeface="Arial" panose="020B0604020202020204" pitchFamily="34" charset="0"/>
              </a:defRPr>
            </a:lvl3pPr>
            <a:lvl4pPr>
              <a:defRPr>
                <a:latin typeface="Arial" panose="020B0604020202020204" pitchFamily="34" charset="0"/>
                <a:ea typeface="Roboto" panose="02000000000000000000" pitchFamily="2" charset="0"/>
                <a:cs typeface="Arial" panose="020B0604020202020204" pitchFamily="34" charset="0"/>
              </a:defRPr>
            </a:lvl4pPr>
            <a:lvl5pPr>
              <a:defRPr>
                <a:latin typeface="Arial" panose="020B0604020202020204" pitchFamily="34" charset="0"/>
                <a:ea typeface="Roboto" panose="02000000000000000000" pitchFamily="2" charset="0"/>
                <a:cs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Date Placeholder 1">
            <a:extLst>
              <a:ext uri="{FF2B5EF4-FFF2-40B4-BE49-F238E27FC236}">
                <a16:creationId xmlns:a16="http://schemas.microsoft.com/office/drawing/2014/main" id="{A183BF01-419E-0890-7FE1-A0EF7A192F51}"/>
              </a:ext>
            </a:extLst>
          </p:cNvPr>
          <p:cNvSpPr>
            <a:spLocks noGrp="1"/>
          </p:cNvSpPr>
          <p:nvPr>
            <p:ph type="dt" sz="half" idx="10"/>
          </p:nvPr>
        </p:nvSpPr>
        <p:spPr/>
        <p:txBody>
          <a:bodyPr/>
          <a:lstStyle/>
          <a:p>
            <a:endParaRPr lang="en-AU"/>
          </a:p>
        </p:txBody>
      </p:sp>
      <p:sp>
        <p:nvSpPr>
          <p:cNvPr id="3" name="Footer Placeholder 2">
            <a:extLst>
              <a:ext uri="{FF2B5EF4-FFF2-40B4-BE49-F238E27FC236}">
                <a16:creationId xmlns:a16="http://schemas.microsoft.com/office/drawing/2014/main" id="{B1BC6101-507B-F3EE-D41C-583775C6FD7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4985946-5ABD-9B6F-9732-CD57BE2421A0}"/>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495491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F9CB962-B705-314A-93E0-7EFEF584C6D7}"/>
              </a:ext>
            </a:extLst>
          </p:cNvPr>
          <p:cNvSpPr/>
          <p:nvPr userDrawn="1"/>
        </p:nvSpPr>
        <p:spPr>
          <a:xfrm>
            <a:off x="1" y="1"/>
            <a:ext cx="5543550" cy="6858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08A4A11-68D0-0342-99AF-D474A68AB20A}"/>
              </a:ext>
            </a:extLst>
          </p:cNvPr>
          <p:cNvPicPr>
            <a:picLocks noChangeAspect="1"/>
          </p:cNvPicPr>
          <p:nvPr userDrawn="1"/>
        </p:nvPicPr>
        <p:blipFill>
          <a:blip r:embed="rId2"/>
          <a:stretch>
            <a:fillRect/>
          </a:stretch>
        </p:blipFill>
        <p:spPr>
          <a:xfrm rot="2999759">
            <a:off x="1292068" y="-612610"/>
            <a:ext cx="5135041" cy="7002330"/>
          </a:xfrm>
          <a:prstGeom prst="rect">
            <a:avLst/>
          </a:prstGeom>
        </p:spPr>
      </p:pic>
      <p:pic>
        <p:nvPicPr>
          <p:cNvPr id="11" name="Picture 10">
            <a:extLst>
              <a:ext uri="{FF2B5EF4-FFF2-40B4-BE49-F238E27FC236}">
                <a16:creationId xmlns:a16="http://schemas.microsoft.com/office/drawing/2014/main" id="{C6E5ACA8-1A29-9F40-A4E7-578A7ACF5CD2}"/>
              </a:ext>
            </a:extLst>
          </p:cNvPr>
          <p:cNvPicPr>
            <a:picLocks noChangeAspect="1"/>
          </p:cNvPicPr>
          <p:nvPr userDrawn="1"/>
        </p:nvPicPr>
        <p:blipFill>
          <a:blip r:embed="rId3"/>
          <a:stretch>
            <a:fillRect/>
          </a:stretch>
        </p:blipFill>
        <p:spPr>
          <a:xfrm>
            <a:off x="415055" y="4792776"/>
            <a:ext cx="1760572" cy="1842248"/>
          </a:xfrm>
          <a:prstGeom prst="rect">
            <a:avLst/>
          </a:prstGeom>
        </p:spPr>
      </p:pic>
    </p:spTree>
    <p:extLst>
      <p:ext uri="{BB962C8B-B14F-4D97-AF65-F5344CB8AC3E}">
        <p14:creationId xmlns:p14="http://schemas.microsoft.com/office/powerpoint/2010/main" val="3416856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814D76-5DF1-A4E1-1338-B03D3642B4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DC58865-62AB-234F-36FF-19D673DE87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0927987-368E-CEF9-CAA0-8405857172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AU"/>
          </a:p>
        </p:txBody>
      </p:sp>
      <p:sp>
        <p:nvSpPr>
          <p:cNvPr id="5" name="Footer Placeholder 4">
            <a:extLst>
              <a:ext uri="{FF2B5EF4-FFF2-40B4-BE49-F238E27FC236}">
                <a16:creationId xmlns:a16="http://schemas.microsoft.com/office/drawing/2014/main" id="{56EC300B-6F01-71B4-9B2C-1056A57DE4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8A400E20-46EB-CC1D-6BF8-5489021285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AD6A8B-B5C3-4437-A9DE-A8C2149171DD}" type="slidenum">
              <a:rPr lang="en-AU" smtClean="0"/>
              <a:t>‹#›</a:t>
            </a:fld>
            <a:endParaRPr lang="en-AU"/>
          </a:p>
        </p:txBody>
      </p:sp>
    </p:spTree>
    <p:extLst>
      <p:ext uri="{BB962C8B-B14F-4D97-AF65-F5344CB8AC3E}">
        <p14:creationId xmlns:p14="http://schemas.microsoft.com/office/powerpoint/2010/main" val="4197211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hyperlink" Target="https://www.picpedia.org/highway-signs/q/questions.html" TargetMode="External"/><Relationship Id="rId2" Type="http://schemas.openxmlformats.org/officeDocument/2006/relationships/image" Target="../media/image10.jpeg"/><Relationship Id="rId1" Type="http://schemas.openxmlformats.org/officeDocument/2006/relationships/slideLayout" Target="../slideLayouts/slideLayout12.xml"/><Relationship Id="rId4"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DFF856-7F9C-9D4C-B764-1C7E4E7233C0}"/>
              </a:ext>
            </a:extLst>
          </p:cNvPr>
          <p:cNvSpPr txBox="1"/>
          <p:nvPr/>
        </p:nvSpPr>
        <p:spPr>
          <a:xfrm>
            <a:off x="-78497" y="2236126"/>
            <a:ext cx="5622524" cy="2308324"/>
          </a:xfrm>
          <a:prstGeom prst="rect">
            <a:avLst/>
          </a:prstGeom>
          <a:noFill/>
        </p:spPr>
        <p:txBody>
          <a:bodyPr wrap="square" lIns="91440" tIns="45720" rIns="91440" bIns="45720" rtlCol="0" anchor="t">
            <a:spAutoFit/>
          </a:bodyPr>
          <a:lstStyle/>
          <a:p>
            <a:pPr algn="ctr"/>
            <a:r>
              <a:rPr lang="en-AU" sz="4800"/>
              <a:t>Sentiment Analysis towards COVID-19 on Twitter</a:t>
            </a:r>
            <a:endParaRPr lang="en-US" sz="4800" b="1">
              <a:cs typeface="Calibri"/>
            </a:endParaRPr>
          </a:p>
        </p:txBody>
      </p:sp>
      <p:sp>
        <p:nvSpPr>
          <p:cNvPr id="3" name="TextBox 2">
            <a:extLst>
              <a:ext uri="{FF2B5EF4-FFF2-40B4-BE49-F238E27FC236}">
                <a16:creationId xmlns:a16="http://schemas.microsoft.com/office/drawing/2014/main" id="{5CCCC68E-A06E-1747-A719-B74DFB9FB81B}"/>
              </a:ext>
            </a:extLst>
          </p:cNvPr>
          <p:cNvSpPr txBox="1"/>
          <p:nvPr/>
        </p:nvSpPr>
        <p:spPr>
          <a:xfrm>
            <a:off x="5531966" y="2031777"/>
            <a:ext cx="6657086" cy="3477875"/>
          </a:xfrm>
          <a:prstGeom prst="rect">
            <a:avLst/>
          </a:prstGeom>
          <a:noFill/>
        </p:spPr>
        <p:txBody>
          <a:bodyPr wrap="square" lIns="91440" tIns="45720" rIns="91440" bIns="45720" rtlCol="0" anchor="t">
            <a:spAutoFit/>
          </a:bodyPr>
          <a:lstStyle/>
          <a:p>
            <a:pPr algn="ctr" fontAlgn="base"/>
            <a:r>
              <a:rPr lang="en-US" sz="4000">
                <a:latin typeface="Arial"/>
                <a:cs typeface="Arial"/>
              </a:rPr>
              <a:t>Deep Learners</a:t>
            </a:r>
          </a:p>
          <a:p>
            <a:pPr algn="ctr"/>
            <a:endParaRPr lang="en-US" sz="4000">
              <a:latin typeface="Arial"/>
              <a:cs typeface="Arial"/>
            </a:endParaRPr>
          </a:p>
          <a:p>
            <a:pPr fontAlgn="base"/>
            <a:r>
              <a:rPr lang="en-US" sz="2800">
                <a:latin typeface="Arial"/>
                <a:cs typeface="Arial"/>
              </a:rPr>
              <a:t> </a:t>
            </a:r>
            <a:r>
              <a:rPr lang="en-US" sz="2800" err="1">
                <a:latin typeface="Arial"/>
                <a:cs typeface="Arial"/>
              </a:rPr>
              <a:t>Chenglong</a:t>
            </a:r>
            <a:r>
              <a:rPr lang="en-US" sz="2800">
                <a:latin typeface="Arial"/>
                <a:cs typeface="Arial"/>
              </a:rPr>
              <a:t> Wei (z5375926)</a:t>
            </a:r>
          </a:p>
          <a:p>
            <a:pPr fontAlgn="base"/>
            <a:r>
              <a:rPr lang="en-US" sz="2800">
                <a:latin typeface="Arial"/>
                <a:cs typeface="Arial"/>
              </a:rPr>
              <a:t> Ziyi Ding (z5610550)</a:t>
            </a:r>
            <a:endParaRPr lang="en-US" sz="2800">
              <a:latin typeface="Arial" panose="020B0604020202020204" pitchFamily="34" charset="0"/>
              <a:cs typeface="Arial" panose="020B0604020202020204" pitchFamily="34" charset="0"/>
            </a:endParaRPr>
          </a:p>
          <a:p>
            <a:r>
              <a:rPr lang="en-US" sz="2800">
                <a:latin typeface="Arial"/>
                <a:cs typeface="Arial"/>
              </a:rPr>
              <a:t> Sidhanth Kafley (z5504979)</a:t>
            </a:r>
            <a:endParaRPr lang="en-US"/>
          </a:p>
          <a:p>
            <a:pPr fontAlgn="base"/>
            <a:r>
              <a:rPr lang="en-US" sz="2800">
                <a:latin typeface="Arial"/>
                <a:cs typeface="Arial"/>
              </a:rPr>
              <a:t> Yewei Huang (z5459400)</a:t>
            </a:r>
          </a:p>
          <a:p>
            <a:pPr fontAlgn="base"/>
            <a:r>
              <a:rPr lang="en-US" sz="2800">
                <a:latin typeface="Arial"/>
                <a:cs typeface="Arial"/>
              </a:rPr>
              <a:t> Gorjan Muratov (z5677486)</a:t>
            </a:r>
          </a:p>
        </p:txBody>
      </p:sp>
    </p:spTree>
    <p:extLst>
      <p:ext uri="{BB962C8B-B14F-4D97-AF65-F5344CB8AC3E}">
        <p14:creationId xmlns:p14="http://schemas.microsoft.com/office/powerpoint/2010/main" val="3413601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lstStyle/>
          <a:p>
            <a:r>
              <a:rPr lang="en-GB"/>
              <a:t>Motivation </a:t>
            </a:r>
            <a:endParaRPr lang="en-AU"/>
          </a:p>
        </p:txBody>
      </p:sp>
      <p:sp>
        <p:nvSpPr>
          <p:cNvPr id="3" name="Content Placeholder 2">
            <a:extLst>
              <a:ext uri="{FF2B5EF4-FFF2-40B4-BE49-F238E27FC236}">
                <a16:creationId xmlns:a16="http://schemas.microsoft.com/office/drawing/2014/main" id="{D1140ADC-BD0A-F855-7488-B023933118C6}"/>
              </a:ext>
            </a:extLst>
          </p:cNvPr>
          <p:cNvSpPr>
            <a:spLocks noGrp="1"/>
          </p:cNvSpPr>
          <p:nvPr>
            <p:ph idx="1"/>
          </p:nvPr>
        </p:nvSpPr>
        <p:spPr>
          <a:xfrm>
            <a:off x="231648" y="1277284"/>
            <a:ext cx="11631168" cy="1139033"/>
          </a:xfrm>
        </p:spPr>
        <p:txBody>
          <a:bodyPr vert="horz" lIns="91440" tIns="45720" rIns="91440" bIns="45720" rtlCol="0" anchor="t">
            <a:normAutofit/>
          </a:bodyPr>
          <a:lstStyle/>
          <a:p>
            <a:pPr>
              <a:buFont typeface="Wingdings" pitchFamily="2" charset="77"/>
              <a:buChar char="Ø"/>
            </a:pPr>
            <a:r>
              <a:rPr lang="en-AU">
                <a:latin typeface="Arial"/>
                <a:ea typeface="Roboto"/>
                <a:cs typeface="Arial"/>
              </a:rPr>
              <a:t> News and awareness about COVID-19 spread like the pandemic itself</a:t>
            </a:r>
            <a:endParaRPr lang="en-US"/>
          </a:p>
          <a:p>
            <a:pPr>
              <a:buFont typeface="Wingdings" pitchFamily="2" charset="77"/>
              <a:buChar char="Ø"/>
            </a:pPr>
            <a:r>
              <a:rPr lang="en-AU">
                <a:latin typeface="Arial"/>
                <a:ea typeface="Roboto"/>
                <a:cs typeface="Arial"/>
              </a:rPr>
              <a:t> Negative opinion played an important role in conditioning public</a:t>
            </a:r>
            <a:endParaRPr lang="en-AU"/>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2</a:t>
            </a:fld>
            <a:endParaRPr lang="en-AU"/>
          </a:p>
        </p:txBody>
      </p:sp>
      <p:sp>
        <p:nvSpPr>
          <p:cNvPr id="5" name="TextBox 4">
            <a:extLst>
              <a:ext uri="{FF2B5EF4-FFF2-40B4-BE49-F238E27FC236}">
                <a16:creationId xmlns:a16="http://schemas.microsoft.com/office/drawing/2014/main" id="{47471554-0422-62B8-814A-4ABC624E8E60}"/>
              </a:ext>
            </a:extLst>
          </p:cNvPr>
          <p:cNvSpPr txBox="1"/>
          <p:nvPr/>
        </p:nvSpPr>
        <p:spPr>
          <a:xfrm>
            <a:off x="119743" y="6225545"/>
            <a:ext cx="7326086" cy="261610"/>
          </a:xfrm>
          <a:prstGeom prst="rect">
            <a:avLst/>
          </a:prstGeom>
          <a:noFill/>
        </p:spPr>
        <p:txBody>
          <a:bodyPr wrap="square" rtlCol="0">
            <a:spAutoFit/>
          </a:bodyPr>
          <a:lstStyle/>
          <a:p>
            <a:r>
              <a:rPr lang="en-US" sz="1100">
                <a:latin typeface="Arial" panose="020B0604020202020204" pitchFamily="34" charset="0"/>
                <a:cs typeface="Arial" panose="020B0604020202020204" pitchFamily="34" charset="0"/>
              </a:rPr>
              <a:t>Presenter: </a:t>
            </a:r>
            <a:r>
              <a:rPr lang="en-US" sz="1100" err="1">
                <a:latin typeface="Arial" panose="020B0604020202020204" pitchFamily="34" charset="0"/>
                <a:cs typeface="Arial" panose="020B0604020202020204" pitchFamily="34" charset="0"/>
              </a:rPr>
              <a:t>Chenglong</a:t>
            </a:r>
            <a:r>
              <a:rPr lang="en-US" sz="1100">
                <a:latin typeface="Arial" panose="020B0604020202020204" pitchFamily="34" charset="0"/>
                <a:cs typeface="Arial" panose="020B0604020202020204" pitchFamily="34" charset="0"/>
              </a:rPr>
              <a:t> Wei (z5375926)</a:t>
            </a:r>
          </a:p>
        </p:txBody>
      </p:sp>
      <p:sp>
        <p:nvSpPr>
          <p:cNvPr id="6" name="TextBox 5">
            <a:extLst>
              <a:ext uri="{FF2B5EF4-FFF2-40B4-BE49-F238E27FC236}">
                <a16:creationId xmlns:a16="http://schemas.microsoft.com/office/drawing/2014/main" id="{87B4A1DE-7C0F-F0F4-D937-AE94C78CA7D0}"/>
              </a:ext>
            </a:extLst>
          </p:cNvPr>
          <p:cNvSpPr txBox="1"/>
          <p:nvPr/>
        </p:nvSpPr>
        <p:spPr>
          <a:xfrm>
            <a:off x="238836" y="2864099"/>
            <a:ext cx="11642783" cy="20282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90000"/>
              </a:lnSpc>
              <a:spcBef>
                <a:spcPts val="1000"/>
              </a:spcBef>
            </a:pPr>
            <a:r>
              <a:rPr lang="en-AU" sz="2800" b="1">
                <a:latin typeface="Arial"/>
                <a:cs typeface="Arial"/>
              </a:rPr>
              <a:t>Importance for Individuals</a:t>
            </a:r>
            <a:endParaRPr lang="en-US" b="1"/>
          </a:p>
          <a:p>
            <a:pPr algn="ctr">
              <a:lnSpc>
                <a:spcPct val="90000"/>
              </a:lnSpc>
              <a:spcBef>
                <a:spcPts val="1000"/>
              </a:spcBef>
            </a:pPr>
            <a:r>
              <a:rPr lang="en-AU" sz="2800">
                <a:latin typeface="Arial"/>
                <a:cs typeface="Arial"/>
              </a:rPr>
              <a:t>Policymaking</a:t>
            </a:r>
            <a:endParaRPr lang="en-US" sz="2800">
              <a:latin typeface="Arial"/>
              <a:cs typeface="Arial"/>
            </a:endParaRPr>
          </a:p>
          <a:p>
            <a:pPr algn="ctr">
              <a:lnSpc>
                <a:spcPct val="90000"/>
              </a:lnSpc>
              <a:spcBef>
                <a:spcPts val="1000"/>
              </a:spcBef>
            </a:pPr>
            <a:r>
              <a:rPr lang="en-AU" sz="2800">
                <a:latin typeface="Arial"/>
                <a:cs typeface="Arial"/>
              </a:rPr>
              <a:t>Crisis management</a:t>
            </a:r>
          </a:p>
          <a:p>
            <a:pPr algn="ctr">
              <a:lnSpc>
                <a:spcPct val="90000"/>
              </a:lnSpc>
              <a:spcBef>
                <a:spcPts val="1000"/>
              </a:spcBef>
            </a:pPr>
            <a:r>
              <a:rPr lang="en-AU" sz="2800">
                <a:latin typeface="Arial"/>
                <a:cs typeface="Arial"/>
              </a:rPr>
              <a:t>Public health administration.</a:t>
            </a:r>
            <a:endParaRPr lang="en-GB">
              <a:ea typeface="Calibri" panose="020F0502020204030204"/>
              <a:cs typeface="Calibri" panose="020F0502020204030204"/>
            </a:endParaRPr>
          </a:p>
        </p:txBody>
      </p:sp>
    </p:spTree>
    <p:extLst>
      <p:ext uri="{BB962C8B-B14F-4D97-AF65-F5344CB8AC3E}">
        <p14:creationId xmlns:p14="http://schemas.microsoft.com/office/powerpoint/2010/main" val="4241363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lstStyle/>
          <a:p>
            <a:r>
              <a:rPr lang="en-GB"/>
              <a:t>Problem Statement</a:t>
            </a:r>
            <a:endParaRPr lang="en-AU"/>
          </a:p>
        </p:txBody>
      </p:sp>
      <p:sp>
        <p:nvSpPr>
          <p:cNvPr id="3" name="Content Placeholder 2">
            <a:extLst>
              <a:ext uri="{FF2B5EF4-FFF2-40B4-BE49-F238E27FC236}">
                <a16:creationId xmlns:a16="http://schemas.microsoft.com/office/drawing/2014/main" id="{D1140ADC-BD0A-F855-7488-B023933118C6}"/>
              </a:ext>
            </a:extLst>
          </p:cNvPr>
          <p:cNvSpPr>
            <a:spLocks noGrp="1"/>
          </p:cNvSpPr>
          <p:nvPr>
            <p:ph idx="1"/>
          </p:nvPr>
        </p:nvSpPr>
        <p:spPr>
          <a:xfrm>
            <a:off x="231648" y="1421058"/>
            <a:ext cx="11631168" cy="4589598"/>
          </a:xfrm>
        </p:spPr>
        <p:txBody>
          <a:bodyPr vert="horz" lIns="91440" tIns="45720" rIns="91440" bIns="45720" rtlCol="0" anchor="t">
            <a:normAutofit/>
          </a:bodyPr>
          <a:lstStyle/>
          <a:p>
            <a:pPr>
              <a:lnSpc>
                <a:spcPct val="100000"/>
              </a:lnSpc>
              <a:buFont typeface="Wingdings" panose="020B0604020202020204" pitchFamily="34" charset="0"/>
              <a:buChar char="Ø"/>
            </a:pPr>
            <a:r>
              <a:rPr lang="en-AU">
                <a:latin typeface="Arial"/>
                <a:ea typeface="Roboto"/>
                <a:cs typeface="Arial"/>
              </a:rPr>
              <a:t> Tweets are shorts, informal, highly variable context. </a:t>
            </a:r>
            <a:endParaRPr lang="en-US">
              <a:latin typeface="Arial"/>
              <a:ea typeface="Roboto"/>
              <a:cs typeface="Arial"/>
            </a:endParaRPr>
          </a:p>
          <a:p>
            <a:pPr>
              <a:lnSpc>
                <a:spcPct val="100000"/>
              </a:lnSpc>
              <a:buFont typeface="Wingdings" panose="020B0604020202020204" pitchFamily="34" charset="0"/>
              <a:buChar char="Ø"/>
            </a:pPr>
            <a:r>
              <a:rPr lang="en-AU">
                <a:latin typeface="Arial"/>
                <a:ea typeface="Roboto"/>
                <a:cs typeface="Arial"/>
              </a:rPr>
              <a:t>  Estimating the sentiment of tweets about the COVID-19 pandemic to  track people’s opinions on major events surrounding it.</a:t>
            </a:r>
            <a:endParaRPr lang="en-AU"/>
          </a:p>
          <a:p>
            <a:pPr>
              <a:lnSpc>
                <a:spcPct val="100000"/>
              </a:lnSpc>
              <a:buFont typeface="Wingdings" pitchFamily="2" charset="77"/>
              <a:buChar char="Ø"/>
            </a:pPr>
            <a:r>
              <a:rPr lang="en-AU">
                <a:latin typeface="Arial"/>
                <a:ea typeface="Roboto"/>
                <a:cs typeface="Arial"/>
              </a:rPr>
              <a:t> Aims to evaluate statistical, ML, and DL models on Twitter sentiment.</a:t>
            </a:r>
          </a:p>
          <a:p>
            <a:pPr>
              <a:lnSpc>
                <a:spcPct val="100000"/>
              </a:lnSpc>
              <a:buFont typeface="Wingdings" pitchFamily="2" charset="77"/>
              <a:buChar char="Ø"/>
            </a:pPr>
            <a:r>
              <a:rPr lang="en-AU">
                <a:latin typeface="Arial"/>
                <a:ea typeface="Roboto"/>
                <a:cs typeface="Arial"/>
              </a:rPr>
              <a:t> How can Deep Learning be utilised for sentiment analysis of COVID-19 Tweets?</a:t>
            </a:r>
          </a:p>
          <a:p>
            <a:pPr marL="0" indent="0">
              <a:lnSpc>
                <a:spcPct val="100000"/>
              </a:lnSpc>
              <a:buNone/>
            </a:pPr>
            <a:endParaRPr lang="en-AU"/>
          </a:p>
          <a:p>
            <a:pPr marL="0" indent="0">
              <a:lnSpc>
                <a:spcPct val="100000"/>
              </a:lnSpc>
              <a:buNone/>
            </a:pPr>
            <a:endParaRPr lang="en-AU"/>
          </a:p>
          <a:p>
            <a:pPr marL="0" indent="0">
              <a:buNone/>
            </a:pPr>
            <a:endParaRPr lang="en-AU"/>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3</a:t>
            </a:fld>
            <a:endParaRPr lang="en-AU"/>
          </a:p>
        </p:txBody>
      </p:sp>
      <p:sp>
        <p:nvSpPr>
          <p:cNvPr id="5" name="TextBox 4">
            <a:extLst>
              <a:ext uri="{FF2B5EF4-FFF2-40B4-BE49-F238E27FC236}">
                <a16:creationId xmlns:a16="http://schemas.microsoft.com/office/drawing/2014/main" id="{47471554-0422-62B8-814A-4ABC624E8E60}"/>
              </a:ext>
            </a:extLst>
          </p:cNvPr>
          <p:cNvSpPr txBox="1"/>
          <p:nvPr/>
        </p:nvSpPr>
        <p:spPr>
          <a:xfrm>
            <a:off x="119743" y="6225545"/>
            <a:ext cx="7326086" cy="261610"/>
          </a:xfrm>
          <a:prstGeom prst="rect">
            <a:avLst/>
          </a:prstGeom>
          <a:noFill/>
        </p:spPr>
        <p:txBody>
          <a:bodyPr wrap="square" rtlCol="0">
            <a:spAutoFit/>
          </a:bodyPr>
          <a:lstStyle/>
          <a:p>
            <a:r>
              <a:rPr lang="en-US" sz="1100">
                <a:latin typeface="Arial" panose="020B0604020202020204" pitchFamily="34" charset="0"/>
                <a:cs typeface="Arial" panose="020B0604020202020204" pitchFamily="34" charset="0"/>
              </a:rPr>
              <a:t>Presenter: </a:t>
            </a:r>
            <a:r>
              <a:rPr lang="en-US" sz="1100" err="1">
                <a:latin typeface="Arial" panose="020B0604020202020204" pitchFamily="34" charset="0"/>
                <a:cs typeface="Arial" panose="020B0604020202020204" pitchFamily="34" charset="0"/>
              </a:rPr>
              <a:t>Chenglong</a:t>
            </a:r>
            <a:r>
              <a:rPr lang="en-US" sz="1100">
                <a:latin typeface="Arial" panose="020B0604020202020204" pitchFamily="34" charset="0"/>
                <a:cs typeface="Arial" panose="020B0604020202020204" pitchFamily="34" charset="0"/>
              </a:rPr>
              <a:t> Wei (z5375926)</a:t>
            </a:r>
          </a:p>
        </p:txBody>
      </p:sp>
    </p:spTree>
    <p:extLst>
      <p:ext uri="{BB962C8B-B14F-4D97-AF65-F5344CB8AC3E}">
        <p14:creationId xmlns:p14="http://schemas.microsoft.com/office/powerpoint/2010/main" val="975189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CCB65-E22F-1763-C7B6-2094BD01A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0A26F-C710-45F1-F599-AAC025BAD4ED}"/>
              </a:ext>
            </a:extLst>
          </p:cNvPr>
          <p:cNvSpPr>
            <a:spLocks noGrp="1"/>
          </p:cNvSpPr>
          <p:nvPr>
            <p:ph type="title"/>
          </p:nvPr>
        </p:nvSpPr>
        <p:spPr>
          <a:xfrm>
            <a:off x="231648" y="136525"/>
            <a:ext cx="11631168" cy="838835"/>
          </a:xfrm>
        </p:spPr>
        <p:txBody>
          <a:bodyPr>
            <a:normAutofit/>
          </a:bodyPr>
          <a:lstStyle/>
          <a:p>
            <a:r>
              <a:rPr lang="en-GB">
                <a:latin typeface="Arial"/>
                <a:ea typeface="Roboto"/>
                <a:cs typeface="Arial"/>
              </a:rPr>
              <a:t>Dataset</a:t>
            </a:r>
            <a:endParaRPr lang="en-AU">
              <a:latin typeface="Arial"/>
              <a:ea typeface="Roboto"/>
              <a:cs typeface="Arial"/>
            </a:endParaRPr>
          </a:p>
        </p:txBody>
      </p:sp>
      <p:sp>
        <p:nvSpPr>
          <p:cNvPr id="4" name="Slide Number Placeholder 3">
            <a:extLst>
              <a:ext uri="{FF2B5EF4-FFF2-40B4-BE49-F238E27FC236}">
                <a16:creationId xmlns:a16="http://schemas.microsoft.com/office/drawing/2014/main" id="{635A7F35-7058-119D-CCB1-294FC8E50227}"/>
              </a:ext>
            </a:extLst>
          </p:cNvPr>
          <p:cNvSpPr>
            <a:spLocks noGrp="1"/>
          </p:cNvSpPr>
          <p:nvPr>
            <p:ph type="sldNum" sz="quarter" idx="12"/>
          </p:nvPr>
        </p:nvSpPr>
        <p:spPr/>
        <p:txBody>
          <a:bodyPr/>
          <a:lstStyle/>
          <a:p>
            <a:fld id="{6BAD6A8B-B5C3-4437-A9DE-A8C2149171DD}" type="slidenum">
              <a:rPr lang="en-AU" smtClean="0"/>
              <a:t>4</a:t>
            </a:fld>
            <a:endParaRPr lang="en-AU"/>
          </a:p>
        </p:txBody>
      </p:sp>
      <p:sp>
        <p:nvSpPr>
          <p:cNvPr id="6" name="TextBox 5">
            <a:extLst>
              <a:ext uri="{FF2B5EF4-FFF2-40B4-BE49-F238E27FC236}">
                <a16:creationId xmlns:a16="http://schemas.microsoft.com/office/drawing/2014/main" id="{1A139D86-571A-ACA8-0BE2-BD9171E164CB}"/>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Ziyi Ding (z5610550)</a:t>
            </a:r>
          </a:p>
        </p:txBody>
      </p:sp>
      <p:sp>
        <p:nvSpPr>
          <p:cNvPr id="9" name="TextBox 8">
            <a:extLst>
              <a:ext uri="{FF2B5EF4-FFF2-40B4-BE49-F238E27FC236}">
                <a16:creationId xmlns:a16="http://schemas.microsoft.com/office/drawing/2014/main" id="{4003C47C-2A57-8797-CCF3-B037A0DEC701}"/>
              </a:ext>
            </a:extLst>
          </p:cNvPr>
          <p:cNvSpPr txBox="1"/>
          <p:nvPr/>
        </p:nvSpPr>
        <p:spPr>
          <a:xfrm>
            <a:off x="535080" y="1920763"/>
            <a:ext cx="4109106" cy="2677656"/>
          </a:xfrm>
          <a:prstGeom prst="rect">
            <a:avLst/>
          </a:prstGeom>
          <a:noFill/>
        </p:spPr>
        <p:txBody>
          <a:bodyPr wrap="square" lIns="91440" tIns="45720" rIns="91440" bIns="45720" anchor="t">
            <a:spAutoFit/>
          </a:bodyPr>
          <a:lstStyle/>
          <a:p>
            <a:r>
              <a:rPr lang="en-AU" sz="2800">
                <a:solidFill>
                  <a:srgbClr val="000000"/>
                </a:solidFill>
                <a:ea typeface="+mn-lt"/>
                <a:cs typeface="+mn-lt"/>
              </a:rPr>
              <a:t>Neutral 74.9%</a:t>
            </a:r>
            <a:endParaRPr lang="en-AU" sz="2800">
              <a:solidFill>
                <a:srgbClr val="000000"/>
              </a:solidFill>
              <a:ea typeface="Calibri"/>
              <a:cs typeface="Calibri"/>
            </a:endParaRPr>
          </a:p>
          <a:p>
            <a:r>
              <a:rPr lang="en-AU" sz="2800">
                <a:ea typeface="Calibri" panose="020F0502020204030204"/>
                <a:cs typeface="Calibri" panose="020F0502020204030204"/>
              </a:rPr>
              <a:t>Negative 18.2%</a:t>
            </a:r>
          </a:p>
          <a:p>
            <a:r>
              <a:rPr lang="en-AU" sz="2800">
                <a:ea typeface="Calibri" panose="020F0502020204030204"/>
                <a:cs typeface="Calibri" panose="020F0502020204030204"/>
              </a:rPr>
              <a:t>Positive 7%</a:t>
            </a:r>
          </a:p>
          <a:p>
            <a:pPr marL="342900" indent="-342900">
              <a:buFont typeface="Wingdings"/>
              <a:buChar char="Ø"/>
            </a:pPr>
            <a:endParaRPr lang="en-AU" sz="2800">
              <a:ea typeface="Calibri" panose="020F0502020204030204"/>
              <a:cs typeface="Calibri" panose="020F0502020204030204"/>
            </a:endParaRPr>
          </a:p>
          <a:p>
            <a:r>
              <a:rPr lang="en-AU" sz="2800">
                <a:ea typeface="Calibri" panose="020F0502020204030204"/>
                <a:cs typeface="Calibri" panose="020F0502020204030204"/>
              </a:rPr>
              <a:t>Slightly Skewed dataset</a:t>
            </a:r>
          </a:p>
          <a:p>
            <a:endParaRPr lang="en-US" sz="2800">
              <a:ea typeface="Calibri" panose="020F0502020204030204"/>
              <a:cs typeface="Calibri" panose="020F0502020204030204"/>
            </a:endParaRPr>
          </a:p>
        </p:txBody>
      </p:sp>
      <p:pic>
        <p:nvPicPr>
          <p:cNvPr id="11" name="图片 10">
            <a:extLst>
              <a:ext uri="{FF2B5EF4-FFF2-40B4-BE49-F238E27FC236}">
                <a16:creationId xmlns:a16="http://schemas.microsoft.com/office/drawing/2014/main" id="{69AC9DFE-A1EF-A8DD-01E6-929EA13CF98F}"/>
              </a:ext>
            </a:extLst>
          </p:cNvPr>
          <p:cNvPicPr>
            <a:picLocks noChangeAspect="1"/>
          </p:cNvPicPr>
          <p:nvPr/>
        </p:nvPicPr>
        <p:blipFill>
          <a:blip r:embed="rId2"/>
          <a:stretch>
            <a:fillRect/>
          </a:stretch>
        </p:blipFill>
        <p:spPr>
          <a:xfrm>
            <a:off x="4654276" y="373447"/>
            <a:ext cx="5467020" cy="5572452"/>
          </a:xfrm>
          <a:prstGeom prst="rect">
            <a:avLst/>
          </a:prstGeom>
        </p:spPr>
      </p:pic>
    </p:spTree>
    <p:extLst>
      <p:ext uri="{BB962C8B-B14F-4D97-AF65-F5344CB8AC3E}">
        <p14:creationId xmlns:p14="http://schemas.microsoft.com/office/powerpoint/2010/main" val="3191655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BEFF4-39E5-93FA-3F14-25BB7795D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C14E2-A6FC-4109-E8A6-45C0035E92E1}"/>
              </a:ext>
            </a:extLst>
          </p:cNvPr>
          <p:cNvSpPr>
            <a:spLocks noGrp="1"/>
          </p:cNvSpPr>
          <p:nvPr>
            <p:ph type="title"/>
          </p:nvPr>
        </p:nvSpPr>
        <p:spPr>
          <a:xfrm>
            <a:off x="231648" y="136525"/>
            <a:ext cx="11631168" cy="838835"/>
          </a:xfrm>
        </p:spPr>
        <p:txBody>
          <a:bodyPr>
            <a:normAutofit/>
          </a:bodyPr>
          <a:lstStyle/>
          <a:p>
            <a:r>
              <a:rPr lang="en-GB">
                <a:latin typeface="Arial"/>
                <a:ea typeface="Roboto"/>
                <a:cs typeface="Arial"/>
              </a:rPr>
              <a:t>Dataset</a:t>
            </a:r>
            <a:endParaRPr lang="en-AU">
              <a:latin typeface="Arial"/>
              <a:ea typeface="Roboto"/>
              <a:cs typeface="Arial"/>
            </a:endParaRPr>
          </a:p>
        </p:txBody>
      </p:sp>
      <p:sp>
        <p:nvSpPr>
          <p:cNvPr id="4" name="Slide Number Placeholder 3">
            <a:extLst>
              <a:ext uri="{FF2B5EF4-FFF2-40B4-BE49-F238E27FC236}">
                <a16:creationId xmlns:a16="http://schemas.microsoft.com/office/drawing/2014/main" id="{7437F9A3-666D-E7F7-BEB7-E65ED3FAB911}"/>
              </a:ext>
            </a:extLst>
          </p:cNvPr>
          <p:cNvSpPr>
            <a:spLocks noGrp="1"/>
          </p:cNvSpPr>
          <p:nvPr>
            <p:ph type="sldNum" sz="quarter" idx="12"/>
          </p:nvPr>
        </p:nvSpPr>
        <p:spPr/>
        <p:txBody>
          <a:bodyPr/>
          <a:lstStyle/>
          <a:p>
            <a:fld id="{6BAD6A8B-B5C3-4437-A9DE-A8C2149171DD}" type="slidenum">
              <a:rPr lang="en-AU" smtClean="0"/>
              <a:t>5</a:t>
            </a:fld>
            <a:endParaRPr lang="en-AU"/>
          </a:p>
        </p:txBody>
      </p:sp>
      <p:sp>
        <p:nvSpPr>
          <p:cNvPr id="6" name="TextBox 5">
            <a:extLst>
              <a:ext uri="{FF2B5EF4-FFF2-40B4-BE49-F238E27FC236}">
                <a16:creationId xmlns:a16="http://schemas.microsoft.com/office/drawing/2014/main" id="{57A03491-D724-E83A-8C99-B5827F42D4FF}"/>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Ziyi Ding (z5610550)</a:t>
            </a:r>
          </a:p>
        </p:txBody>
      </p:sp>
      <p:pic>
        <p:nvPicPr>
          <p:cNvPr id="12" name="图片 11" descr="图表, 直方图&#10;&#10;AI 生成的内容可能不正确。">
            <a:extLst>
              <a:ext uri="{FF2B5EF4-FFF2-40B4-BE49-F238E27FC236}">
                <a16:creationId xmlns:a16="http://schemas.microsoft.com/office/drawing/2014/main" id="{10CD6C2E-6FC7-5035-DDD4-E78BF8452812}"/>
              </a:ext>
            </a:extLst>
          </p:cNvPr>
          <p:cNvPicPr>
            <a:picLocks noChangeAspect="1"/>
          </p:cNvPicPr>
          <p:nvPr/>
        </p:nvPicPr>
        <p:blipFill>
          <a:blip r:embed="rId2"/>
          <a:stretch>
            <a:fillRect/>
          </a:stretch>
        </p:blipFill>
        <p:spPr>
          <a:xfrm>
            <a:off x="1874342" y="1328223"/>
            <a:ext cx="5202424" cy="3924075"/>
          </a:xfrm>
          <a:prstGeom prst="rect">
            <a:avLst/>
          </a:prstGeom>
        </p:spPr>
      </p:pic>
      <p:sp>
        <p:nvSpPr>
          <p:cNvPr id="9" name="Content Placeholder 2">
            <a:extLst>
              <a:ext uri="{FF2B5EF4-FFF2-40B4-BE49-F238E27FC236}">
                <a16:creationId xmlns:a16="http://schemas.microsoft.com/office/drawing/2014/main" id="{0486EFF5-6D5C-E129-620A-AD0E6EB37FD6}"/>
              </a:ext>
            </a:extLst>
          </p:cNvPr>
          <p:cNvSpPr>
            <a:spLocks noGrp="1"/>
          </p:cNvSpPr>
          <p:nvPr>
            <p:ph idx="1"/>
          </p:nvPr>
        </p:nvSpPr>
        <p:spPr>
          <a:xfrm>
            <a:off x="117611" y="2186502"/>
            <a:ext cx="2770949" cy="2213269"/>
          </a:xfrm>
        </p:spPr>
        <p:txBody>
          <a:bodyPr vert="horz" lIns="91440" tIns="45720" rIns="91440" bIns="45720" rtlCol="0" anchor="t">
            <a:normAutofit/>
          </a:bodyPr>
          <a:lstStyle/>
          <a:p>
            <a:pPr>
              <a:buFont typeface="Wingdings" pitchFamily="2" charset="77"/>
              <a:buChar char="Ø"/>
            </a:pPr>
            <a:endParaRPr lang="en-AU"/>
          </a:p>
          <a:p>
            <a:pPr marL="0" indent="0">
              <a:buNone/>
            </a:pPr>
            <a:r>
              <a:rPr lang="en-AU" sz="2400">
                <a:solidFill>
                  <a:srgbClr val="000000"/>
                </a:solidFill>
                <a:latin typeface="Arial"/>
                <a:ea typeface="Roboto"/>
                <a:cs typeface="Arial"/>
              </a:rPr>
              <a:t>Text Feature Distributions</a:t>
            </a:r>
            <a:endParaRPr lang="en-AU" sz="2400">
              <a:solidFill>
                <a:srgbClr val="000000"/>
              </a:solidFill>
            </a:endParaRPr>
          </a:p>
          <a:p>
            <a:pPr>
              <a:buFont typeface="Wingdings" pitchFamily="2" charset="77"/>
              <a:buChar char="Ø"/>
            </a:pPr>
            <a:endParaRPr lang="en-AU"/>
          </a:p>
          <a:p>
            <a:pPr lvl="4">
              <a:buFont typeface="Wingdings" pitchFamily="2" charset="77"/>
              <a:buChar char="Ø"/>
            </a:pPr>
            <a:endParaRPr lang="en-AU"/>
          </a:p>
        </p:txBody>
      </p:sp>
      <p:pic>
        <p:nvPicPr>
          <p:cNvPr id="3" name="图片 2" descr="图表, 箱线图&#10;&#10;AI 生成的内容可能不正确。">
            <a:extLst>
              <a:ext uri="{FF2B5EF4-FFF2-40B4-BE49-F238E27FC236}">
                <a16:creationId xmlns:a16="http://schemas.microsoft.com/office/drawing/2014/main" id="{F580BB8A-8D03-35A6-88BE-BEE9DFFEED72}"/>
              </a:ext>
            </a:extLst>
          </p:cNvPr>
          <p:cNvPicPr>
            <a:picLocks noChangeAspect="1"/>
          </p:cNvPicPr>
          <p:nvPr/>
        </p:nvPicPr>
        <p:blipFill>
          <a:blip r:embed="rId3"/>
          <a:stretch>
            <a:fillRect/>
          </a:stretch>
        </p:blipFill>
        <p:spPr>
          <a:xfrm>
            <a:off x="7081838" y="1586865"/>
            <a:ext cx="5114925" cy="3181350"/>
          </a:xfrm>
          <a:prstGeom prst="rect">
            <a:avLst/>
          </a:prstGeom>
        </p:spPr>
      </p:pic>
      <p:sp>
        <p:nvSpPr>
          <p:cNvPr id="5" name="文本框 4">
            <a:extLst>
              <a:ext uri="{FF2B5EF4-FFF2-40B4-BE49-F238E27FC236}">
                <a16:creationId xmlns:a16="http://schemas.microsoft.com/office/drawing/2014/main" id="{AC89CC80-3FB2-59E5-FD44-B242741CAFFF}"/>
              </a:ext>
            </a:extLst>
          </p:cNvPr>
          <p:cNvSpPr txBox="1"/>
          <p:nvPr/>
        </p:nvSpPr>
        <p:spPr>
          <a:xfrm>
            <a:off x="11058350" y="973153"/>
            <a:ext cx="160637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等线"/>
                <a:cs typeface="Calibri"/>
              </a:rPr>
              <a:t>0 – Negative</a:t>
            </a:r>
            <a:endParaRPr lang="zh-CN" altLang="en-US" sz="1200">
              <a:ea typeface="等线" panose="02010600030101010101" pitchFamily="2" charset="-122"/>
              <a:cs typeface="Calibri"/>
            </a:endParaRPr>
          </a:p>
          <a:p>
            <a:r>
              <a:rPr lang="zh-CN" altLang="en-US" sz="1200">
                <a:ea typeface="等线"/>
                <a:cs typeface="Calibri"/>
              </a:rPr>
              <a:t>1 </a:t>
            </a:r>
            <a:r>
              <a:rPr lang="zh-CN" sz="1200">
                <a:ea typeface="等线"/>
                <a:cs typeface="Calibri"/>
              </a:rPr>
              <a:t>– </a:t>
            </a:r>
            <a:r>
              <a:rPr lang="zh-CN" altLang="en-US" sz="1200">
                <a:ea typeface="等线"/>
                <a:cs typeface="Calibri"/>
              </a:rPr>
              <a:t>Neutral</a:t>
            </a:r>
          </a:p>
          <a:p>
            <a:r>
              <a:rPr lang="zh-CN" altLang="en-US" sz="1200">
                <a:ea typeface="等线"/>
                <a:cs typeface="Calibri"/>
              </a:rPr>
              <a:t>2 </a:t>
            </a:r>
            <a:r>
              <a:rPr lang="zh-CN" sz="1200">
                <a:ea typeface="等线"/>
                <a:cs typeface="Calibri"/>
              </a:rPr>
              <a:t>– </a:t>
            </a:r>
            <a:r>
              <a:rPr lang="en-US" altLang="zh-CN" sz="1200">
                <a:ea typeface="等线"/>
                <a:cs typeface="Calibri"/>
              </a:rPr>
              <a:t>Positive</a:t>
            </a:r>
            <a:endParaRPr lang="zh-CN" altLang="en-US" sz="1200">
              <a:ea typeface="等线"/>
              <a:cs typeface="Calibri"/>
            </a:endParaRPr>
          </a:p>
        </p:txBody>
      </p:sp>
    </p:spTree>
    <p:extLst>
      <p:ext uri="{BB962C8B-B14F-4D97-AF65-F5344CB8AC3E}">
        <p14:creationId xmlns:p14="http://schemas.microsoft.com/office/powerpoint/2010/main" val="2201050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E7308-0EEB-3EAA-2A6D-DD63E0CEA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18059-1F26-8B46-8999-863E0A6641B3}"/>
              </a:ext>
            </a:extLst>
          </p:cNvPr>
          <p:cNvSpPr>
            <a:spLocks noGrp="1"/>
          </p:cNvSpPr>
          <p:nvPr>
            <p:ph type="title"/>
          </p:nvPr>
        </p:nvSpPr>
        <p:spPr>
          <a:xfrm>
            <a:off x="231648" y="136525"/>
            <a:ext cx="11631168" cy="838835"/>
          </a:xfrm>
        </p:spPr>
        <p:txBody>
          <a:bodyPr>
            <a:normAutofit/>
          </a:bodyPr>
          <a:lstStyle/>
          <a:p>
            <a:r>
              <a:rPr lang="en-GB">
                <a:latin typeface="Arial"/>
                <a:ea typeface="Roboto"/>
                <a:cs typeface="Arial"/>
              </a:rPr>
              <a:t>Dataset</a:t>
            </a:r>
            <a:endParaRPr lang="en-AU">
              <a:latin typeface="Arial"/>
              <a:ea typeface="Roboto"/>
              <a:cs typeface="Arial"/>
            </a:endParaRPr>
          </a:p>
        </p:txBody>
      </p:sp>
      <p:sp>
        <p:nvSpPr>
          <p:cNvPr id="4" name="Slide Number Placeholder 3">
            <a:extLst>
              <a:ext uri="{FF2B5EF4-FFF2-40B4-BE49-F238E27FC236}">
                <a16:creationId xmlns:a16="http://schemas.microsoft.com/office/drawing/2014/main" id="{D7C77B0A-9AEE-A47A-4922-0A39019F258C}"/>
              </a:ext>
            </a:extLst>
          </p:cNvPr>
          <p:cNvSpPr>
            <a:spLocks noGrp="1"/>
          </p:cNvSpPr>
          <p:nvPr>
            <p:ph type="sldNum" sz="quarter" idx="12"/>
          </p:nvPr>
        </p:nvSpPr>
        <p:spPr/>
        <p:txBody>
          <a:bodyPr/>
          <a:lstStyle/>
          <a:p>
            <a:fld id="{6BAD6A8B-B5C3-4437-A9DE-A8C2149171DD}" type="slidenum">
              <a:rPr lang="en-AU" smtClean="0"/>
              <a:t>6</a:t>
            </a:fld>
            <a:endParaRPr lang="en-AU"/>
          </a:p>
        </p:txBody>
      </p:sp>
      <p:sp>
        <p:nvSpPr>
          <p:cNvPr id="6" name="TextBox 5">
            <a:extLst>
              <a:ext uri="{FF2B5EF4-FFF2-40B4-BE49-F238E27FC236}">
                <a16:creationId xmlns:a16="http://schemas.microsoft.com/office/drawing/2014/main" id="{E8A36131-E5EB-BB73-74AC-FF79F2FEB5E9}"/>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Ziyi Ding (z5610550)</a:t>
            </a:r>
          </a:p>
        </p:txBody>
      </p:sp>
      <p:pic>
        <p:nvPicPr>
          <p:cNvPr id="3" name="图片 2" descr="图表, 箱线图&#10;&#10;AI 生成的内容可能不正确。">
            <a:extLst>
              <a:ext uri="{FF2B5EF4-FFF2-40B4-BE49-F238E27FC236}">
                <a16:creationId xmlns:a16="http://schemas.microsoft.com/office/drawing/2014/main" id="{D52ECE08-245E-BAE2-F129-1DC606AD6607}"/>
              </a:ext>
            </a:extLst>
          </p:cNvPr>
          <p:cNvPicPr>
            <a:picLocks noChangeAspect="1"/>
          </p:cNvPicPr>
          <p:nvPr/>
        </p:nvPicPr>
        <p:blipFill>
          <a:blip r:embed="rId2"/>
          <a:stretch>
            <a:fillRect/>
          </a:stretch>
        </p:blipFill>
        <p:spPr>
          <a:xfrm>
            <a:off x="7090816" y="1548173"/>
            <a:ext cx="4977413" cy="3284483"/>
          </a:xfrm>
          <a:prstGeom prst="rect">
            <a:avLst/>
          </a:prstGeom>
        </p:spPr>
      </p:pic>
      <p:sp>
        <p:nvSpPr>
          <p:cNvPr id="9" name="Content Placeholder 2">
            <a:extLst>
              <a:ext uri="{FF2B5EF4-FFF2-40B4-BE49-F238E27FC236}">
                <a16:creationId xmlns:a16="http://schemas.microsoft.com/office/drawing/2014/main" id="{BEB8FF61-E8C1-23C1-0472-1692BC3DAB97}"/>
              </a:ext>
            </a:extLst>
          </p:cNvPr>
          <p:cNvSpPr>
            <a:spLocks noGrp="1"/>
          </p:cNvSpPr>
          <p:nvPr>
            <p:ph idx="1"/>
          </p:nvPr>
        </p:nvSpPr>
        <p:spPr>
          <a:xfrm>
            <a:off x="119976" y="2169160"/>
            <a:ext cx="2770949" cy="2213269"/>
          </a:xfrm>
        </p:spPr>
        <p:txBody>
          <a:bodyPr vert="horz" lIns="91440" tIns="45720" rIns="91440" bIns="45720" rtlCol="0" anchor="t">
            <a:normAutofit/>
          </a:bodyPr>
          <a:lstStyle/>
          <a:p>
            <a:pPr>
              <a:buFont typeface="Wingdings" pitchFamily="2" charset="77"/>
              <a:buChar char="Ø"/>
            </a:pPr>
            <a:endParaRPr lang="en-AU"/>
          </a:p>
          <a:p>
            <a:pPr marL="0" indent="0">
              <a:buNone/>
            </a:pPr>
            <a:r>
              <a:rPr lang="en-AU" sz="2400">
                <a:solidFill>
                  <a:srgbClr val="000000"/>
                </a:solidFill>
                <a:latin typeface="Arial"/>
                <a:ea typeface="Roboto"/>
                <a:cs typeface="Arial"/>
              </a:rPr>
              <a:t>Text Feature Distributions</a:t>
            </a:r>
            <a:endParaRPr lang="en-AU" sz="2400">
              <a:solidFill>
                <a:srgbClr val="000000"/>
              </a:solidFill>
            </a:endParaRPr>
          </a:p>
          <a:p>
            <a:pPr>
              <a:buFont typeface="Wingdings" pitchFamily="2" charset="77"/>
              <a:buChar char="Ø"/>
            </a:pPr>
            <a:endParaRPr lang="en-AU"/>
          </a:p>
          <a:p>
            <a:pPr lvl="4">
              <a:buFont typeface="Wingdings" pitchFamily="2" charset="77"/>
              <a:buChar char="Ø"/>
            </a:pPr>
            <a:endParaRPr lang="en-AU"/>
          </a:p>
        </p:txBody>
      </p:sp>
      <p:pic>
        <p:nvPicPr>
          <p:cNvPr id="7" name="图片 6" descr="图表, 条形图&#10;&#10;AI 生成的内容可能不正确。">
            <a:extLst>
              <a:ext uri="{FF2B5EF4-FFF2-40B4-BE49-F238E27FC236}">
                <a16:creationId xmlns:a16="http://schemas.microsoft.com/office/drawing/2014/main" id="{B9CBC0AC-C9B8-7A86-A346-D3C91B05805F}"/>
              </a:ext>
            </a:extLst>
          </p:cNvPr>
          <p:cNvPicPr>
            <a:picLocks noChangeAspect="1"/>
          </p:cNvPicPr>
          <p:nvPr/>
        </p:nvPicPr>
        <p:blipFill>
          <a:blip r:embed="rId3"/>
          <a:stretch>
            <a:fillRect/>
          </a:stretch>
        </p:blipFill>
        <p:spPr>
          <a:xfrm>
            <a:off x="1981200" y="1543050"/>
            <a:ext cx="4953000" cy="3467100"/>
          </a:xfrm>
          <a:prstGeom prst="rect">
            <a:avLst/>
          </a:prstGeom>
        </p:spPr>
      </p:pic>
      <p:sp>
        <p:nvSpPr>
          <p:cNvPr id="8" name="文本框 7">
            <a:extLst>
              <a:ext uri="{FF2B5EF4-FFF2-40B4-BE49-F238E27FC236}">
                <a16:creationId xmlns:a16="http://schemas.microsoft.com/office/drawing/2014/main" id="{A1F317E3-6E8A-B4F6-1A07-7D0896166013}"/>
              </a:ext>
            </a:extLst>
          </p:cNvPr>
          <p:cNvSpPr txBox="1"/>
          <p:nvPr/>
        </p:nvSpPr>
        <p:spPr>
          <a:xfrm>
            <a:off x="11058350" y="780937"/>
            <a:ext cx="160637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等线"/>
                <a:cs typeface="Calibri"/>
              </a:rPr>
              <a:t>0 – Negative</a:t>
            </a:r>
            <a:endParaRPr lang="zh-CN" altLang="en-US" sz="1200">
              <a:ea typeface="等线" panose="02010600030101010101" pitchFamily="2" charset="-122"/>
              <a:cs typeface="Calibri"/>
            </a:endParaRPr>
          </a:p>
          <a:p>
            <a:r>
              <a:rPr lang="zh-CN" altLang="en-US" sz="1200">
                <a:ea typeface="等线"/>
                <a:cs typeface="Calibri"/>
              </a:rPr>
              <a:t>1 </a:t>
            </a:r>
            <a:r>
              <a:rPr lang="zh-CN" sz="1200">
                <a:ea typeface="等线"/>
                <a:cs typeface="Calibri"/>
              </a:rPr>
              <a:t>– </a:t>
            </a:r>
            <a:r>
              <a:rPr lang="zh-CN" altLang="en-US" sz="1200">
                <a:ea typeface="等线"/>
                <a:cs typeface="Calibri"/>
              </a:rPr>
              <a:t>Neutral</a:t>
            </a:r>
          </a:p>
          <a:p>
            <a:r>
              <a:rPr lang="zh-CN" altLang="en-US" sz="1200">
                <a:ea typeface="等线"/>
                <a:cs typeface="Calibri"/>
              </a:rPr>
              <a:t>2 </a:t>
            </a:r>
            <a:r>
              <a:rPr lang="zh-CN" sz="1200">
                <a:ea typeface="等线"/>
                <a:cs typeface="Calibri"/>
              </a:rPr>
              <a:t>– </a:t>
            </a:r>
            <a:r>
              <a:rPr lang="en-US" altLang="zh-CN" sz="1200">
                <a:ea typeface="等线"/>
                <a:cs typeface="Calibri"/>
              </a:rPr>
              <a:t>Positive</a:t>
            </a:r>
            <a:endParaRPr lang="zh-CN" altLang="en-US" sz="1200">
              <a:ea typeface="等线"/>
              <a:cs typeface="Calibri"/>
            </a:endParaRPr>
          </a:p>
        </p:txBody>
      </p:sp>
    </p:spTree>
    <p:extLst>
      <p:ext uri="{BB962C8B-B14F-4D97-AF65-F5344CB8AC3E}">
        <p14:creationId xmlns:p14="http://schemas.microsoft.com/office/powerpoint/2010/main" val="2733830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BAB7B-E925-3E21-4C8C-C11C6565E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0C956-CF6F-4F73-88B1-35D3AE8FFCD5}"/>
              </a:ext>
            </a:extLst>
          </p:cNvPr>
          <p:cNvSpPr>
            <a:spLocks noGrp="1"/>
          </p:cNvSpPr>
          <p:nvPr>
            <p:ph type="title"/>
          </p:nvPr>
        </p:nvSpPr>
        <p:spPr>
          <a:xfrm>
            <a:off x="231648" y="136525"/>
            <a:ext cx="11631168" cy="838835"/>
          </a:xfrm>
        </p:spPr>
        <p:txBody>
          <a:bodyPr/>
          <a:lstStyle/>
          <a:p>
            <a:r>
              <a:rPr lang="en-GB">
                <a:latin typeface="Arial"/>
                <a:ea typeface="Roboto"/>
                <a:cs typeface="Arial"/>
              </a:rPr>
              <a:t>Dataset</a:t>
            </a:r>
            <a:endParaRPr lang="en-GB"/>
          </a:p>
        </p:txBody>
      </p:sp>
      <p:sp>
        <p:nvSpPr>
          <p:cNvPr id="3" name="Content Placeholder 2">
            <a:extLst>
              <a:ext uri="{FF2B5EF4-FFF2-40B4-BE49-F238E27FC236}">
                <a16:creationId xmlns:a16="http://schemas.microsoft.com/office/drawing/2014/main" id="{992DABD3-6EE6-ABD9-EB7D-03F3F3FF7C44}"/>
              </a:ext>
            </a:extLst>
          </p:cNvPr>
          <p:cNvSpPr>
            <a:spLocks noGrp="1"/>
          </p:cNvSpPr>
          <p:nvPr>
            <p:ph idx="1"/>
          </p:nvPr>
        </p:nvSpPr>
        <p:spPr>
          <a:xfrm>
            <a:off x="231648" y="759460"/>
            <a:ext cx="11631168" cy="5035296"/>
          </a:xfrm>
        </p:spPr>
        <p:txBody>
          <a:bodyPr vert="horz" lIns="91440" tIns="45720" rIns="91440" bIns="45720" rtlCol="0" anchor="t">
            <a:normAutofit/>
          </a:bodyPr>
          <a:lstStyle/>
          <a:p>
            <a:pPr>
              <a:buFont typeface="Wingdings" pitchFamily="2" charset="77"/>
              <a:buChar char="Ø"/>
            </a:pPr>
            <a:endParaRPr lang="en-AU"/>
          </a:p>
          <a:p>
            <a:pPr marL="0" indent="0">
              <a:buNone/>
            </a:pPr>
            <a:r>
              <a:rPr lang="en-AU" sz="2400">
                <a:solidFill>
                  <a:srgbClr val="000000"/>
                </a:solidFill>
                <a:latin typeface="Arial"/>
                <a:ea typeface="Roboto"/>
                <a:cs typeface="Arial"/>
              </a:rPr>
              <a:t>Word Frequency Analysis</a:t>
            </a:r>
            <a:endParaRPr lang="en-AU" sz="2400">
              <a:solidFill>
                <a:srgbClr val="000000"/>
              </a:solidFill>
            </a:endParaRPr>
          </a:p>
          <a:p>
            <a:pPr marL="0" indent="0">
              <a:buNone/>
            </a:pPr>
            <a:endParaRPr lang="en-AU"/>
          </a:p>
          <a:p>
            <a:pPr lvl="4">
              <a:buFont typeface="Wingdings" pitchFamily="2" charset="77"/>
              <a:buChar char="Ø"/>
            </a:pPr>
            <a:endParaRPr lang="en-AU"/>
          </a:p>
        </p:txBody>
      </p:sp>
      <p:sp>
        <p:nvSpPr>
          <p:cNvPr id="4" name="Slide Number Placeholder 3">
            <a:extLst>
              <a:ext uri="{FF2B5EF4-FFF2-40B4-BE49-F238E27FC236}">
                <a16:creationId xmlns:a16="http://schemas.microsoft.com/office/drawing/2014/main" id="{D03209C0-713D-AD31-8FDB-3EC93E9906F1}"/>
              </a:ext>
            </a:extLst>
          </p:cNvPr>
          <p:cNvSpPr>
            <a:spLocks noGrp="1"/>
          </p:cNvSpPr>
          <p:nvPr>
            <p:ph type="sldNum" sz="quarter" idx="12"/>
          </p:nvPr>
        </p:nvSpPr>
        <p:spPr/>
        <p:txBody>
          <a:bodyPr/>
          <a:lstStyle/>
          <a:p>
            <a:fld id="{6BAD6A8B-B5C3-4437-A9DE-A8C2149171DD}" type="slidenum">
              <a:rPr lang="en-AU" smtClean="0"/>
              <a:t>7</a:t>
            </a:fld>
            <a:endParaRPr lang="en-AU"/>
          </a:p>
        </p:txBody>
      </p:sp>
      <p:sp>
        <p:nvSpPr>
          <p:cNvPr id="5" name="TextBox 4">
            <a:extLst>
              <a:ext uri="{FF2B5EF4-FFF2-40B4-BE49-F238E27FC236}">
                <a16:creationId xmlns:a16="http://schemas.microsoft.com/office/drawing/2014/main" id="{A84ECF12-401E-3FA4-5218-53D860CC6217}"/>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Ziyi Ding (z5610550)</a:t>
            </a:r>
          </a:p>
        </p:txBody>
      </p:sp>
      <p:pic>
        <p:nvPicPr>
          <p:cNvPr id="7" name="图片 6" descr="图表, 条形图&#10;&#10;AI 生成的内容可能不正确。">
            <a:extLst>
              <a:ext uri="{FF2B5EF4-FFF2-40B4-BE49-F238E27FC236}">
                <a16:creationId xmlns:a16="http://schemas.microsoft.com/office/drawing/2014/main" id="{BA2F3C20-1AC2-FFC4-E7F3-9580B57DE582}"/>
              </a:ext>
            </a:extLst>
          </p:cNvPr>
          <p:cNvPicPr>
            <a:picLocks noChangeAspect="1"/>
          </p:cNvPicPr>
          <p:nvPr/>
        </p:nvPicPr>
        <p:blipFill>
          <a:blip r:embed="rId2"/>
          <a:stretch>
            <a:fillRect/>
          </a:stretch>
        </p:blipFill>
        <p:spPr>
          <a:xfrm>
            <a:off x="882650" y="1907540"/>
            <a:ext cx="10325100" cy="3982720"/>
          </a:xfrm>
          <a:prstGeom prst="rect">
            <a:avLst/>
          </a:prstGeom>
        </p:spPr>
      </p:pic>
    </p:spTree>
    <p:extLst>
      <p:ext uri="{BB962C8B-B14F-4D97-AF65-F5344CB8AC3E}">
        <p14:creationId xmlns:p14="http://schemas.microsoft.com/office/powerpoint/2010/main" val="3092735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normAutofit/>
          </a:bodyPr>
          <a:lstStyle/>
          <a:p>
            <a:r>
              <a:rPr lang="en-GB">
                <a:latin typeface="Arial"/>
                <a:ea typeface="Roboto"/>
                <a:cs typeface="Arial"/>
              </a:rPr>
              <a:t>Methods – Approach 1</a:t>
            </a:r>
            <a:endParaRPr lang="en-AU"/>
          </a:p>
        </p:txBody>
      </p:sp>
      <p:sp>
        <p:nvSpPr>
          <p:cNvPr id="3" name="Content Placeholder 2">
            <a:extLst>
              <a:ext uri="{FF2B5EF4-FFF2-40B4-BE49-F238E27FC236}">
                <a16:creationId xmlns:a16="http://schemas.microsoft.com/office/drawing/2014/main" id="{D1140ADC-BD0A-F855-7488-B023933118C6}"/>
              </a:ext>
            </a:extLst>
          </p:cNvPr>
          <p:cNvSpPr>
            <a:spLocks noGrp="1"/>
          </p:cNvSpPr>
          <p:nvPr>
            <p:ph idx="1"/>
          </p:nvPr>
        </p:nvSpPr>
        <p:spPr>
          <a:xfrm>
            <a:off x="231648" y="1211842"/>
            <a:ext cx="11631168" cy="4798814"/>
          </a:xfrm>
        </p:spPr>
        <p:txBody>
          <a:bodyPr vert="horz" lIns="91440" tIns="45720" rIns="91440" bIns="45720" rtlCol="0" anchor="t">
            <a:normAutofit/>
          </a:bodyPr>
          <a:lstStyle/>
          <a:p>
            <a:pPr>
              <a:buFont typeface="Wingdings" pitchFamily="2" charset="2"/>
              <a:buChar char="Ø"/>
            </a:pPr>
            <a:r>
              <a:rPr lang="en-AU">
                <a:latin typeface="Arial"/>
                <a:ea typeface="Roboto"/>
                <a:cs typeface="Arial"/>
              </a:rPr>
              <a:t> Standardise pre-processing, evaluation, and data split</a:t>
            </a:r>
          </a:p>
          <a:p>
            <a:pPr>
              <a:buFont typeface="Wingdings" pitchFamily="2" charset="2"/>
              <a:buChar char="Ø"/>
            </a:pPr>
            <a:r>
              <a:rPr lang="en-AU">
                <a:latin typeface="Arial"/>
                <a:ea typeface="Roboto"/>
                <a:cs typeface="Arial"/>
              </a:rPr>
              <a:t> Create 2 rule-based models</a:t>
            </a:r>
          </a:p>
          <a:p>
            <a:pPr>
              <a:buFont typeface="Wingdings" pitchFamily="2" charset="2"/>
              <a:buChar char="Ø"/>
            </a:pPr>
            <a:r>
              <a:rPr lang="en-AU">
                <a:latin typeface="Arial"/>
                <a:ea typeface="Roboto"/>
                <a:cs typeface="Arial"/>
              </a:rPr>
              <a:t> Create 3 traditional machine learning models (NB, LR)</a:t>
            </a:r>
            <a:endParaRPr lang="en-AU"/>
          </a:p>
          <a:p>
            <a:pPr>
              <a:buFont typeface="Wingdings" pitchFamily="2" charset="2"/>
              <a:buChar char="Ø"/>
            </a:pPr>
            <a:r>
              <a:rPr lang="en-AU">
                <a:latin typeface="Arial"/>
                <a:ea typeface="Roboto"/>
                <a:cs typeface="Arial"/>
              </a:rPr>
              <a:t> Create 2 neural network models (LSTM, GRU)</a:t>
            </a:r>
          </a:p>
          <a:p>
            <a:pPr>
              <a:buFont typeface="Wingdings" pitchFamily="2" charset="2"/>
              <a:buChar char="Ø"/>
            </a:pPr>
            <a:r>
              <a:rPr lang="en-AU">
                <a:latin typeface="Arial"/>
                <a:ea typeface="Roboto"/>
                <a:cs typeface="Arial"/>
              </a:rPr>
              <a:t> Compare and contrast model effectiveness at sentiment analysis</a:t>
            </a:r>
          </a:p>
          <a:p>
            <a:pPr>
              <a:buFont typeface="Wingdings" pitchFamily="2" charset="2"/>
              <a:buChar char="Ø"/>
            </a:pPr>
            <a:r>
              <a:rPr lang="en-AU">
                <a:latin typeface="Arial"/>
                <a:ea typeface="Roboto"/>
                <a:cs typeface="Arial"/>
              </a:rPr>
              <a:t> How do model complexities affect learning?</a:t>
            </a:r>
            <a:endParaRPr lang="en-AU"/>
          </a:p>
          <a:p>
            <a:pPr>
              <a:buFont typeface="Wingdings" pitchFamily="2" charset="2"/>
              <a:buChar char="Ø"/>
            </a:pPr>
            <a:r>
              <a:rPr lang="en-AU">
                <a:latin typeface="Arial"/>
                <a:ea typeface="Roboto"/>
                <a:cs typeface="Arial"/>
              </a:rPr>
              <a:t> How do neural networks better learn this task?</a:t>
            </a:r>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8</a:t>
            </a:fld>
            <a:endParaRPr lang="en-AU"/>
          </a:p>
        </p:txBody>
      </p:sp>
      <p:sp>
        <p:nvSpPr>
          <p:cNvPr id="6" name="TextBox 5">
            <a:extLst>
              <a:ext uri="{FF2B5EF4-FFF2-40B4-BE49-F238E27FC236}">
                <a16:creationId xmlns:a16="http://schemas.microsoft.com/office/drawing/2014/main" id="{0699F208-1CDC-6FEA-A315-8FBE78581435}"/>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Sidhanth Kafley (z5504979)</a:t>
            </a:r>
            <a:endParaRPr lang="en-US">
              <a:latin typeface="Arial"/>
              <a:cs typeface="Arial"/>
            </a:endParaRPr>
          </a:p>
        </p:txBody>
      </p:sp>
    </p:spTree>
    <p:extLst>
      <p:ext uri="{BB962C8B-B14F-4D97-AF65-F5344CB8AC3E}">
        <p14:creationId xmlns:p14="http://schemas.microsoft.com/office/powerpoint/2010/main" val="546283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A6D71-0884-8818-7030-C50F15F4AC2A}"/>
              </a:ext>
            </a:extLst>
          </p:cNvPr>
          <p:cNvSpPr>
            <a:spLocks noGrp="1"/>
          </p:cNvSpPr>
          <p:nvPr>
            <p:ph type="title"/>
          </p:nvPr>
        </p:nvSpPr>
        <p:spPr>
          <a:xfrm>
            <a:off x="515815" y="288925"/>
            <a:ext cx="10515600" cy="1325563"/>
          </a:xfrm>
        </p:spPr>
        <p:txBody>
          <a:bodyPr/>
          <a:lstStyle/>
          <a:p>
            <a:r>
              <a:rPr lang="en-US">
                <a:latin typeface="Arial"/>
                <a:ea typeface="Roboto"/>
                <a:cs typeface="Arial"/>
              </a:rPr>
              <a:t>Rules based Model: Text Blob</a:t>
            </a:r>
            <a:endParaRPr lang="en-US"/>
          </a:p>
        </p:txBody>
      </p:sp>
      <p:sp>
        <p:nvSpPr>
          <p:cNvPr id="3" name="Content Placeholder 2">
            <a:extLst>
              <a:ext uri="{FF2B5EF4-FFF2-40B4-BE49-F238E27FC236}">
                <a16:creationId xmlns:a16="http://schemas.microsoft.com/office/drawing/2014/main" id="{E3C44B18-C547-F3E1-05B2-568CBD671355}"/>
              </a:ext>
            </a:extLst>
          </p:cNvPr>
          <p:cNvSpPr>
            <a:spLocks noGrp="1"/>
          </p:cNvSpPr>
          <p:nvPr>
            <p:ph idx="1"/>
          </p:nvPr>
        </p:nvSpPr>
        <p:spPr>
          <a:xfrm>
            <a:off x="1140293" y="1618685"/>
            <a:ext cx="9263595" cy="4295098"/>
          </a:xfrm>
        </p:spPr>
        <p:txBody>
          <a:bodyPr vert="horz" lIns="91440" tIns="45720" rIns="91440" bIns="45720" rtlCol="0" anchor="t">
            <a:normAutofit/>
          </a:bodyPr>
          <a:lstStyle/>
          <a:p>
            <a:pPr>
              <a:lnSpc>
                <a:spcPct val="150000"/>
              </a:lnSpc>
              <a:buFont typeface="Wingdings" panose="020B0604020202020204" pitchFamily="34" charset="0"/>
              <a:buChar char="Ø"/>
            </a:pPr>
            <a:r>
              <a:rPr lang="en-US" sz="2400">
                <a:latin typeface="Arial"/>
                <a:ea typeface="Roboto"/>
                <a:cs typeface="Arial"/>
              </a:rPr>
              <a:t> Assigns sentiment score based on a predefined dictionary</a:t>
            </a:r>
            <a:endParaRPr lang="en-US" sz="2400"/>
          </a:p>
          <a:p>
            <a:pPr>
              <a:lnSpc>
                <a:spcPct val="150000"/>
              </a:lnSpc>
              <a:buFont typeface="Wingdings" panose="020B0604020202020204" pitchFamily="34" charset="0"/>
              <a:buChar char="Ø"/>
            </a:pPr>
            <a:r>
              <a:rPr lang="en-US" sz="2400">
                <a:latin typeface="Arial"/>
                <a:ea typeface="Roboto"/>
                <a:cs typeface="Arial"/>
              </a:rPr>
              <a:t> Calculates polarity score based on average word score, range from –1 to +1.</a:t>
            </a:r>
            <a:endParaRPr lang="en-US" sz="2400"/>
          </a:p>
          <a:p>
            <a:pPr>
              <a:lnSpc>
                <a:spcPct val="150000"/>
              </a:lnSpc>
              <a:buFont typeface="Wingdings" panose="020B0604020202020204" pitchFamily="34" charset="0"/>
              <a:buChar char="Ø"/>
            </a:pPr>
            <a:r>
              <a:rPr lang="en-US" sz="2400">
                <a:latin typeface="Arial"/>
                <a:ea typeface="Roboto"/>
                <a:cs typeface="Arial"/>
              </a:rPr>
              <a:t> Very basic, simple to implement and performs well for general sentiment analysis.</a:t>
            </a:r>
            <a:endParaRPr lang="en-US" sz="2400"/>
          </a:p>
          <a:p>
            <a:pPr>
              <a:buFont typeface="Wingdings" panose="020B0604020202020204" pitchFamily="34" charset="0"/>
              <a:buChar char="Ø"/>
            </a:pPr>
            <a:endParaRPr lang="en-US"/>
          </a:p>
          <a:p>
            <a:pPr>
              <a:buFont typeface="Wingdings" panose="020B0604020202020204" pitchFamily="34" charset="0"/>
              <a:buChar char="Ø"/>
            </a:pPr>
            <a:endParaRPr lang="en-US"/>
          </a:p>
        </p:txBody>
      </p:sp>
      <p:sp>
        <p:nvSpPr>
          <p:cNvPr id="4" name="Slide Number Placeholder 3">
            <a:extLst>
              <a:ext uri="{FF2B5EF4-FFF2-40B4-BE49-F238E27FC236}">
                <a16:creationId xmlns:a16="http://schemas.microsoft.com/office/drawing/2014/main" id="{3310CECB-F7E5-DE2C-0C3E-6FB48972373F}"/>
              </a:ext>
            </a:extLst>
          </p:cNvPr>
          <p:cNvSpPr>
            <a:spLocks noGrp="1"/>
          </p:cNvSpPr>
          <p:nvPr>
            <p:ph type="sldNum" sz="quarter" idx="12"/>
          </p:nvPr>
        </p:nvSpPr>
        <p:spPr/>
        <p:txBody>
          <a:bodyPr/>
          <a:lstStyle/>
          <a:p>
            <a:fld id="{6BAD6A8B-B5C3-4437-A9DE-A8C2149171DD}" type="slidenum">
              <a:rPr lang="en-AU" smtClean="0"/>
              <a:t>9</a:t>
            </a:fld>
            <a:endParaRPr lang="en-AU"/>
          </a:p>
        </p:txBody>
      </p:sp>
      <p:sp>
        <p:nvSpPr>
          <p:cNvPr id="5" name="TextBox 4">
            <a:extLst>
              <a:ext uri="{FF2B5EF4-FFF2-40B4-BE49-F238E27FC236}">
                <a16:creationId xmlns:a16="http://schemas.microsoft.com/office/drawing/2014/main" id="{0E5D01A1-CFFA-5FE3-4E37-452009EB15A3}"/>
              </a:ext>
            </a:extLst>
          </p:cNvPr>
          <p:cNvSpPr txBox="1"/>
          <p:nvPr/>
        </p:nvSpPr>
        <p:spPr>
          <a:xfrm>
            <a:off x="307009" y="6281530"/>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Arial"/>
              </a:rPr>
              <a:t>Presenter: Sidhanth Kafley (z5504979)</a:t>
            </a:r>
            <a:endParaRPr lang="en-US" sz="1100">
              <a:latin typeface="Arial"/>
              <a:cs typeface="Arial"/>
            </a:endParaRPr>
          </a:p>
        </p:txBody>
      </p:sp>
    </p:spTree>
    <p:extLst>
      <p:ext uri="{BB962C8B-B14F-4D97-AF65-F5344CB8AC3E}">
        <p14:creationId xmlns:p14="http://schemas.microsoft.com/office/powerpoint/2010/main" val="2402354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DD5A3-676C-403E-F033-4426883E32FC}"/>
              </a:ext>
            </a:extLst>
          </p:cNvPr>
          <p:cNvSpPr>
            <a:spLocks noGrp="1"/>
          </p:cNvSpPr>
          <p:nvPr>
            <p:ph type="title"/>
          </p:nvPr>
        </p:nvSpPr>
        <p:spPr>
          <a:xfrm>
            <a:off x="165538" y="365125"/>
            <a:ext cx="11188262" cy="789536"/>
          </a:xfrm>
        </p:spPr>
        <p:txBody>
          <a:bodyPr/>
          <a:lstStyle/>
          <a:p>
            <a:r>
              <a:rPr lang="en-US">
                <a:latin typeface="Arial"/>
                <a:ea typeface="Roboto"/>
                <a:cs typeface="Arial"/>
              </a:rPr>
              <a:t>Results: Text Blob</a:t>
            </a:r>
            <a:endParaRPr lang="en-US"/>
          </a:p>
        </p:txBody>
      </p:sp>
      <p:sp>
        <p:nvSpPr>
          <p:cNvPr id="4" name="Slide Number Placeholder 3">
            <a:extLst>
              <a:ext uri="{FF2B5EF4-FFF2-40B4-BE49-F238E27FC236}">
                <a16:creationId xmlns:a16="http://schemas.microsoft.com/office/drawing/2014/main" id="{DC5AFB60-9455-5467-F1CB-773F15E2879A}"/>
              </a:ext>
            </a:extLst>
          </p:cNvPr>
          <p:cNvSpPr>
            <a:spLocks noGrp="1"/>
          </p:cNvSpPr>
          <p:nvPr>
            <p:ph type="sldNum" sz="quarter" idx="12"/>
          </p:nvPr>
        </p:nvSpPr>
        <p:spPr/>
        <p:txBody>
          <a:bodyPr/>
          <a:lstStyle/>
          <a:p>
            <a:fld id="{6BAD6A8B-B5C3-4437-A9DE-A8C2149171DD}" type="slidenum">
              <a:rPr lang="en-AU" smtClean="0"/>
              <a:t>10</a:t>
            </a:fld>
            <a:endParaRPr lang="en-AU"/>
          </a:p>
        </p:txBody>
      </p:sp>
      <p:graphicFrame>
        <p:nvGraphicFramePr>
          <p:cNvPr id="6" name="Content Placeholder 4">
            <a:extLst>
              <a:ext uri="{FF2B5EF4-FFF2-40B4-BE49-F238E27FC236}">
                <a16:creationId xmlns:a16="http://schemas.microsoft.com/office/drawing/2014/main" id="{A6F19553-C1B6-FC39-50EB-1C498CC10C0B}"/>
              </a:ext>
            </a:extLst>
          </p:cNvPr>
          <p:cNvGraphicFramePr>
            <a:graphicFrameLocks/>
          </p:cNvGraphicFramePr>
          <p:nvPr>
            <p:extLst>
              <p:ext uri="{D42A27DB-BD31-4B8C-83A1-F6EECF244321}">
                <p14:modId xmlns:p14="http://schemas.microsoft.com/office/powerpoint/2010/main" val="1334783149"/>
              </p:ext>
            </p:extLst>
          </p:nvPr>
        </p:nvGraphicFramePr>
        <p:xfrm>
          <a:off x="530772" y="1177158"/>
          <a:ext cx="10947785" cy="2446153"/>
        </p:xfrm>
        <a:graphic>
          <a:graphicData uri="http://schemas.openxmlformats.org/drawingml/2006/table">
            <a:tbl>
              <a:tblPr firstRow="1" bandRow="1">
                <a:tableStyleId>{5C22544A-7EE6-4342-B048-85BDC9FD1C3A}</a:tableStyleId>
              </a:tblPr>
              <a:tblGrid>
                <a:gridCol w="2189557">
                  <a:extLst>
                    <a:ext uri="{9D8B030D-6E8A-4147-A177-3AD203B41FA5}">
                      <a16:colId xmlns:a16="http://schemas.microsoft.com/office/drawing/2014/main" val="2909495223"/>
                    </a:ext>
                  </a:extLst>
                </a:gridCol>
                <a:gridCol w="2189557">
                  <a:extLst>
                    <a:ext uri="{9D8B030D-6E8A-4147-A177-3AD203B41FA5}">
                      <a16:colId xmlns:a16="http://schemas.microsoft.com/office/drawing/2014/main" val="853550214"/>
                    </a:ext>
                  </a:extLst>
                </a:gridCol>
                <a:gridCol w="2189557">
                  <a:extLst>
                    <a:ext uri="{9D8B030D-6E8A-4147-A177-3AD203B41FA5}">
                      <a16:colId xmlns:a16="http://schemas.microsoft.com/office/drawing/2014/main" val="2930109634"/>
                    </a:ext>
                  </a:extLst>
                </a:gridCol>
                <a:gridCol w="2189557">
                  <a:extLst>
                    <a:ext uri="{9D8B030D-6E8A-4147-A177-3AD203B41FA5}">
                      <a16:colId xmlns:a16="http://schemas.microsoft.com/office/drawing/2014/main" val="1731727157"/>
                    </a:ext>
                  </a:extLst>
                </a:gridCol>
                <a:gridCol w="2189557">
                  <a:extLst>
                    <a:ext uri="{9D8B030D-6E8A-4147-A177-3AD203B41FA5}">
                      <a16:colId xmlns:a16="http://schemas.microsoft.com/office/drawing/2014/main" val="1931615175"/>
                    </a:ext>
                  </a:extLst>
                </a:gridCol>
              </a:tblGrid>
              <a:tr h="477000">
                <a:tc>
                  <a:txBody>
                    <a:bodyPr/>
                    <a:lstStyle/>
                    <a:p>
                      <a:endParaRPr lang="en-GB"/>
                    </a:p>
                  </a:txBody>
                  <a:tcPr/>
                </a:tc>
                <a:tc>
                  <a:txBody>
                    <a:bodyPr/>
                    <a:lstStyle/>
                    <a:p>
                      <a:r>
                        <a:rPr lang="en-GB"/>
                        <a:t>Precision</a:t>
                      </a:r>
                    </a:p>
                  </a:txBody>
                  <a:tcPr/>
                </a:tc>
                <a:tc>
                  <a:txBody>
                    <a:bodyPr/>
                    <a:lstStyle/>
                    <a:p>
                      <a:r>
                        <a:rPr lang="en-GB"/>
                        <a:t>Recall</a:t>
                      </a:r>
                    </a:p>
                  </a:txBody>
                  <a:tcPr/>
                </a:tc>
                <a:tc>
                  <a:txBody>
                    <a:bodyPr/>
                    <a:lstStyle/>
                    <a:p>
                      <a:r>
                        <a:rPr lang="en-GB"/>
                        <a:t>F1</a:t>
                      </a:r>
                    </a:p>
                  </a:txBody>
                  <a:tcPr/>
                </a:tc>
                <a:tc>
                  <a:txBody>
                    <a:bodyPr/>
                    <a:lstStyle/>
                    <a:p>
                      <a:r>
                        <a:rPr lang="en-GB"/>
                        <a:t>Accuracy</a:t>
                      </a:r>
                    </a:p>
                  </a:txBody>
                  <a:tcPr/>
                </a:tc>
                <a:extLst>
                  <a:ext uri="{0D108BD9-81ED-4DB2-BD59-A6C34878D82A}">
                    <a16:rowId xmlns:a16="http://schemas.microsoft.com/office/drawing/2014/main" val="1952714622"/>
                  </a:ext>
                </a:extLst>
              </a:tr>
              <a:tr h="477000">
                <a:tc>
                  <a:txBody>
                    <a:bodyPr/>
                    <a:lstStyle/>
                    <a:p>
                      <a:r>
                        <a:rPr lang="en-GB"/>
                        <a:t>Negative</a:t>
                      </a:r>
                    </a:p>
                  </a:txBody>
                  <a:tcPr/>
                </a:tc>
                <a:tc>
                  <a:txBody>
                    <a:bodyPr/>
                    <a:lstStyle/>
                    <a:p>
                      <a:r>
                        <a:rPr lang="en-GB"/>
                        <a:t>86%</a:t>
                      </a:r>
                    </a:p>
                  </a:txBody>
                  <a:tcPr/>
                </a:tc>
                <a:tc>
                  <a:txBody>
                    <a:bodyPr/>
                    <a:lstStyle/>
                    <a:p>
                      <a:r>
                        <a:rPr lang="en-GB"/>
                        <a:t>43%</a:t>
                      </a:r>
                    </a:p>
                  </a:txBody>
                  <a:tcPr/>
                </a:tc>
                <a:tc>
                  <a:txBody>
                    <a:bodyPr/>
                    <a:lstStyle/>
                    <a:p>
                      <a:r>
                        <a:rPr lang="en-GB"/>
                        <a:t>58%</a:t>
                      </a:r>
                    </a:p>
                  </a:txBody>
                  <a:tcPr/>
                </a:tc>
                <a:tc>
                  <a:txBody>
                    <a:bodyPr/>
                    <a:lstStyle/>
                    <a:p>
                      <a:endParaRPr lang="en-GB"/>
                    </a:p>
                  </a:txBody>
                  <a:tcPr/>
                </a:tc>
                <a:extLst>
                  <a:ext uri="{0D108BD9-81ED-4DB2-BD59-A6C34878D82A}">
                    <a16:rowId xmlns:a16="http://schemas.microsoft.com/office/drawing/2014/main" val="3896438"/>
                  </a:ext>
                </a:extLst>
              </a:tr>
              <a:tr h="477000">
                <a:tc>
                  <a:txBody>
                    <a:bodyPr/>
                    <a:lstStyle/>
                    <a:p>
                      <a:r>
                        <a:rPr lang="en-GB"/>
                        <a:t>Neutral</a:t>
                      </a:r>
                    </a:p>
                  </a:txBody>
                  <a:tcPr/>
                </a:tc>
                <a:tc>
                  <a:txBody>
                    <a:bodyPr/>
                    <a:lstStyle/>
                    <a:p>
                      <a:r>
                        <a:rPr lang="en-GB"/>
                        <a:t>31%</a:t>
                      </a:r>
                    </a:p>
                  </a:txBody>
                  <a:tcPr/>
                </a:tc>
                <a:tc>
                  <a:txBody>
                    <a:bodyPr/>
                    <a:lstStyle/>
                    <a:p>
                      <a:r>
                        <a:rPr lang="en-GB"/>
                        <a:t>64%</a:t>
                      </a:r>
                    </a:p>
                  </a:txBody>
                  <a:tcPr/>
                </a:tc>
                <a:tc>
                  <a:txBody>
                    <a:bodyPr/>
                    <a:lstStyle/>
                    <a:p>
                      <a:r>
                        <a:rPr lang="en-GB"/>
                        <a:t>42%</a:t>
                      </a:r>
                    </a:p>
                  </a:txBody>
                  <a:tcPr/>
                </a:tc>
                <a:tc>
                  <a:txBody>
                    <a:bodyPr/>
                    <a:lstStyle/>
                    <a:p>
                      <a:endParaRPr lang="en-GB"/>
                    </a:p>
                  </a:txBody>
                  <a:tcPr/>
                </a:tc>
                <a:extLst>
                  <a:ext uri="{0D108BD9-81ED-4DB2-BD59-A6C34878D82A}">
                    <a16:rowId xmlns:a16="http://schemas.microsoft.com/office/drawing/2014/main" val="523979322"/>
                  </a:ext>
                </a:extLst>
              </a:tr>
              <a:tr h="477000">
                <a:tc>
                  <a:txBody>
                    <a:bodyPr/>
                    <a:lstStyle/>
                    <a:p>
                      <a:r>
                        <a:rPr lang="en-GB"/>
                        <a:t>Positive</a:t>
                      </a:r>
                    </a:p>
                  </a:txBody>
                  <a:tcPr/>
                </a:tc>
                <a:tc>
                  <a:txBody>
                    <a:bodyPr/>
                    <a:lstStyle/>
                    <a:p>
                      <a:r>
                        <a:rPr lang="en-GB"/>
                        <a:t>15%</a:t>
                      </a:r>
                    </a:p>
                  </a:txBody>
                  <a:tcPr/>
                </a:tc>
                <a:tc>
                  <a:txBody>
                    <a:bodyPr/>
                    <a:lstStyle/>
                    <a:p>
                      <a:r>
                        <a:rPr lang="en-GB"/>
                        <a:t>55%</a:t>
                      </a:r>
                    </a:p>
                  </a:txBody>
                  <a:tcPr/>
                </a:tc>
                <a:tc>
                  <a:txBody>
                    <a:bodyPr/>
                    <a:lstStyle/>
                    <a:p>
                      <a:r>
                        <a:rPr lang="en-GB"/>
                        <a:t>24%</a:t>
                      </a:r>
                    </a:p>
                  </a:txBody>
                  <a:tcPr/>
                </a:tc>
                <a:tc>
                  <a:txBody>
                    <a:bodyPr/>
                    <a:lstStyle/>
                    <a:p>
                      <a:endParaRPr lang="en-GB"/>
                    </a:p>
                  </a:txBody>
                  <a:tcPr/>
                </a:tc>
                <a:extLst>
                  <a:ext uri="{0D108BD9-81ED-4DB2-BD59-A6C34878D82A}">
                    <a16:rowId xmlns:a16="http://schemas.microsoft.com/office/drawing/2014/main" val="3504590966"/>
                  </a:ext>
                </a:extLst>
              </a:tr>
              <a:tr h="538153">
                <a:tc>
                  <a:txBody>
                    <a:bodyPr/>
                    <a:lstStyle/>
                    <a:p>
                      <a:r>
                        <a:rPr lang="en-GB"/>
                        <a:t>Average</a:t>
                      </a:r>
                    </a:p>
                  </a:txBody>
                  <a:tcPr/>
                </a:tc>
                <a:tc>
                  <a:txBody>
                    <a:bodyPr/>
                    <a:lstStyle/>
                    <a:p>
                      <a:r>
                        <a:rPr lang="en-GB"/>
                        <a:t>71%</a:t>
                      </a:r>
                    </a:p>
                  </a:txBody>
                  <a:tcPr/>
                </a:tc>
                <a:tc>
                  <a:txBody>
                    <a:bodyPr/>
                    <a:lstStyle/>
                    <a:p>
                      <a:r>
                        <a:rPr lang="en-GB"/>
                        <a:t>48%</a:t>
                      </a:r>
                    </a:p>
                  </a:txBody>
                  <a:tcPr/>
                </a:tc>
                <a:tc>
                  <a:txBody>
                    <a:bodyPr/>
                    <a:lstStyle/>
                    <a:p>
                      <a:r>
                        <a:rPr lang="en-GB"/>
                        <a:t>52%</a:t>
                      </a:r>
                    </a:p>
                  </a:txBody>
                  <a:tcPr/>
                </a:tc>
                <a:tc>
                  <a:txBody>
                    <a:bodyPr/>
                    <a:lstStyle/>
                    <a:p>
                      <a:r>
                        <a:rPr lang="en-GB"/>
                        <a:t>48%</a:t>
                      </a:r>
                    </a:p>
                  </a:txBody>
                  <a:tcPr/>
                </a:tc>
                <a:extLst>
                  <a:ext uri="{0D108BD9-81ED-4DB2-BD59-A6C34878D82A}">
                    <a16:rowId xmlns:a16="http://schemas.microsoft.com/office/drawing/2014/main" val="2124244325"/>
                  </a:ext>
                </a:extLst>
              </a:tr>
            </a:tbl>
          </a:graphicData>
        </a:graphic>
      </p:graphicFrame>
      <p:sp>
        <p:nvSpPr>
          <p:cNvPr id="7" name="TextBox 6">
            <a:extLst>
              <a:ext uri="{FF2B5EF4-FFF2-40B4-BE49-F238E27FC236}">
                <a16:creationId xmlns:a16="http://schemas.microsoft.com/office/drawing/2014/main" id="{E215A49F-08C7-CF9B-CF5D-6B60CA449404}"/>
              </a:ext>
            </a:extLst>
          </p:cNvPr>
          <p:cNvSpPr txBox="1"/>
          <p:nvPr/>
        </p:nvSpPr>
        <p:spPr>
          <a:xfrm>
            <a:off x="835272" y="3688878"/>
            <a:ext cx="10514180" cy="27392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rial"/>
                <a:ea typeface="Calibri"/>
                <a:cs typeface="Arial"/>
              </a:rPr>
              <a:t>Example:</a:t>
            </a:r>
          </a:p>
          <a:p>
            <a:pPr algn="l"/>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graphicFrame>
        <p:nvGraphicFramePr>
          <p:cNvPr id="8" name="Table 7">
            <a:extLst>
              <a:ext uri="{FF2B5EF4-FFF2-40B4-BE49-F238E27FC236}">
                <a16:creationId xmlns:a16="http://schemas.microsoft.com/office/drawing/2014/main" id="{1A12FCDF-002E-E627-F48D-03252B109D70}"/>
              </a:ext>
            </a:extLst>
          </p:cNvPr>
          <p:cNvGraphicFramePr>
            <a:graphicFrameLocks noGrp="1"/>
          </p:cNvGraphicFramePr>
          <p:nvPr>
            <p:extLst>
              <p:ext uri="{D42A27DB-BD31-4B8C-83A1-F6EECF244321}">
                <p14:modId xmlns:p14="http://schemas.microsoft.com/office/powerpoint/2010/main" val="383300843"/>
              </p:ext>
            </p:extLst>
          </p:nvPr>
        </p:nvGraphicFramePr>
        <p:xfrm>
          <a:off x="838200" y="4308230"/>
          <a:ext cx="10507333" cy="1651000"/>
        </p:xfrm>
        <a:graphic>
          <a:graphicData uri="http://schemas.openxmlformats.org/drawingml/2006/table">
            <a:tbl>
              <a:tblPr firstRow="1" bandRow="1">
                <a:tableStyleId>{5C22544A-7EE6-4342-B048-85BDC9FD1C3A}</a:tableStyleId>
              </a:tblPr>
              <a:tblGrid>
                <a:gridCol w="611944">
                  <a:extLst>
                    <a:ext uri="{9D8B030D-6E8A-4147-A177-3AD203B41FA5}">
                      <a16:colId xmlns:a16="http://schemas.microsoft.com/office/drawing/2014/main" val="1864710216"/>
                    </a:ext>
                  </a:extLst>
                </a:gridCol>
                <a:gridCol w="7902525">
                  <a:extLst>
                    <a:ext uri="{9D8B030D-6E8A-4147-A177-3AD203B41FA5}">
                      <a16:colId xmlns:a16="http://schemas.microsoft.com/office/drawing/2014/main" val="1524365596"/>
                    </a:ext>
                  </a:extLst>
                </a:gridCol>
                <a:gridCol w="1992864">
                  <a:extLst>
                    <a:ext uri="{9D8B030D-6E8A-4147-A177-3AD203B41FA5}">
                      <a16:colId xmlns:a16="http://schemas.microsoft.com/office/drawing/2014/main" val="826679116"/>
                    </a:ext>
                  </a:extLst>
                </a:gridCol>
              </a:tblGrid>
              <a:tr h="370840">
                <a:tc>
                  <a:txBody>
                    <a:bodyPr/>
                    <a:lstStyle/>
                    <a:p>
                      <a:endParaRPr lang="en-US"/>
                    </a:p>
                  </a:txBody>
                  <a:tcPr/>
                </a:tc>
                <a:tc>
                  <a:txBody>
                    <a:bodyPr/>
                    <a:lstStyle/>
                    <a:p>
                      <a:r>
                        <a:rPr lang="en-US"/>
                        <a:t>Input</a:t>
                      </a:r>
                    </a:p>
                  </a:txBody>
                  <a:tcPr/>
                </a:tc>
                <a:tc>
                  <a:txBody>
                    <a:bodyPr/>
                    <a:lstStyle/>
                    <a:p>
                      <a:r>
                        <a:rPr lang="en-US"/>
                        <a:t>Output</a:t>
                      </a:r>
                    </a:p>
                  </a:txBody>
                  <a:tcPr/>
                </a:tc>
                <a:extLst>
                  <a:ext uri="{0D108BD9-81ED-4DB2-BD59-A6C34878D82A}">
                    <a16:rowId xmlns:a16="http://schemas.microsoft.com/office/drawing/2014/main" val="439445911"/>
                  </a:ext>
                </a:extLst>
              </a:tr>
              <a:tr h="370840">
                <a:tc>
                  <a:txBody>
                    <a:bodyPr/>
                    <a:lstStyle/>
                    <a:p>
                      <a:r>
                        <a:rPr lang="en-US"/>
                        <a:t>1.</a:t>
                      </a:r>
                    </a:p>
                  </a:txBody>
                  <a:tcPr/>
                </a:tc>
                <a:tc>
                  <a:txBody>
                    <a:bodyPr/>
                    <a:lstStyle/>
                    <a:p>
                      <a:pPr lvl="0">
                        <a:buNone/>
                      </a:pPr>
                      <a:r>
                        <a:rPr lang="en-US" sz="1800" b="0" i="0" u="none" strike="noStrike" noProof="0"/>
                        <a:t>genome sequence of the new coronavirus associated with a pneumonia cluster in </a:t>
                      </a:r>
                      <a:r>
                        <a:rPr lang="en-US" sz="1800" b="0" i="0" u="none" strike="noStrike" noProof="0" err="1"/>
                        <a:t>wuhan</a:t>
                      </a:r>
                      <a:r>
                        <a:rPr lang="en-US" sz="1800" b="0" i="0" u="none" strike="noStrike" noProof="0"/>
                        <a:t>, </a:t>
                      </a:r>
                      <a:r>
                        <a:rPr lang="en-US" sz="1800" b="0" i="0" u="none" strike="noStrike" noProof="0" err="1"/>
                        <a:t>china</a:t>
                      </a:r>
                      <a:r>
                        <a:rPr lang="en-US" sz="1800" b="0" i="0" u="none" strike="noStrike" noProof="0"/>
                        <a:t>:</a:t>
                      </a:r>
                      <a:endParaRPr lang="en-US"/>
                    </a:p>
                  </a:txBody>
                  <a:tcPr/>
                </a:tc>
                <a:tc>
                  <a:txBody>
                    <a:bodyPr/>
                    <a:lstStyle/>
                    <a:p>
                      <a:r>
                        <a:rPr lang="en-US"/>
                        <a:t>Neutral</a:t>
                      </a:r>
                    </a:p>
                  </a:txBody>
                  <a:tcPr/>
                </a:tc>
                <a:extLst>
                  <a:ext uri="{0D108BD9-81ED-4DB2-BD59-A6C34878D82A}">
                    <a16:rowId xmlns:a16="http://schemas.microsoft.com/office/drawing/2014/main" val="2955967593"/>
                  </a:ext>
                </a:extLst>
              </a:tr>
              <a:tr h="370840">
                <a:tc>
                  <a:txBody>
                    <a:bodyPr/>
                    <a:lstStyle/>
                    <a:p>
                      <a:r>
                        <a:rPr lang="en-US"/>
                        <a:t>2.</a:t>
                      </a:r>
                    </a:p>
                  </a:txBody>
                  <a:tcPr/>
                </a:tc>
                <a:tc>
                  <a:txBody>
                    <a:bodyPr/>
                    <a:lstStyle/>
                    <a:p>
                      <a:pPr lvl="0">
                        <a:buNone/>
                      </a:pPr>
                      <a:r>
                        <a:rPr lang="en-US" sz="1800" b="0" i="0" u="none" strike="noStrike" noProof="0"/>
                        <a:t>@karidebbink @vineet321 the </a:t>
                      </a:r>
                      <a:r>
                        <a:rPr lang="en-US" sz="1800" b="0" i="0" u="none" strike="noStrike" noProof="0" err="1"/>
                        <a:t>frieman</a:t>
                      </a:r>
                      <a:r>
                        <a:rPr lang="en-US" sz="1800" b="0" i="0" u="none" strike="noStrike" noProof="0"/>
                        <a:t> scary scale makes its debut. </a:t>
                      </a:r>
                      <a:r>
                        <a:rPr lang="en-US" sz="1800" b="0" i="0" u="none" strike="noStrike" noProof="0" err="1"/>
                        <a:t>wuhan</a:t>
                      </a:r>
                      <a:r>
                        <a:rPr lang="en-US" sz="1800" b="0" i="0" u="none" strike="noStrike" noProof="0"/>
                        <a:t> coronavirus scores 3 out of 10 n95 masks.</a:t>
                      </a:r>
                      <a:endParaRPr lang="en-US"/>
                    </a:p>
                  </a:txBody>
                  <a:tcPr/>
                </a:tc>
                <a:tc>
                  <a:txBody>
                    <a:bodyPr/>
                    <a:lstStyle/>
                    <a:p>
                      <a:r>
                        <a:rPr lang="en-US"/>
                        <a:t>Negative</a:t>
                      </a:r>
                    </a:p>
                  </a:txBody>
                  <a:tcPr/>
                </a:tc>
                <a:extLst>
                  <a:ext uri="{0D108BD9-81ED-4DB2-BD59-A6C34878D82A}">
                    <a16:rowId xmlns:a16="http://schemas.microsoft.com/office/drawing/2014/main" val="4200272261"/>
                  </a:ext>
                </a:extLst>
              </a:tr>
            </a:tbl>
          </a:graphicData>
        </a:graphic>
      </p:graphicFrame>
      <p:sp>
        <p:nvSpPr>
          <p:cNvPr id="5" name="TextBox 4">
            <a:extLst>
              <a:ext uri="{FF2B5EF4-FFF2-40B4-BE49-F238E27FC236}">
                <a16:creationId xmlns:a16="http://schemas.microsoft.com/office/drawing/2014/main" id="{0E7CB765-AF60-8EE7-93BE-574F1399E34F}"/>
              </a:ext>
            </a:extLst>
          </p:cNvPr>
          <p:cNvSpPr txBox="1"/>
          <p:nvPr/>
        </p:nvSpPr>
        <p:spPr>
          <a:xfrm>
            <a:off x="307009" y="6281530"/>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Arial"/>
              </a:rPr>
              <a:t>Presenter: Sidhanth Kafley (z5504979)</a:t>
            </a:r>
            <a:endParaRPr lang="en-US" sz="1100">
              <a:latin typeface="Arial"/>
              <a:cs typeface="Arial"/>
            </a:endParaRPr>
          </a:p>
        </p:txBody>
      </p:sp>
    </p:spTree>
    <p:extLst>
      <p:ext uri="{BB962C8B-B14F-4D97-AF65-F5344CB8AC3E}">
        <p14:creationId xmlns:p14="http://schemas.microsoft.com/office/powerpoint/2010/main" val="4257005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F0C81-B558-D8E4-3269-B42D15D8FA8C}"/>
              </a:ext>
            </a:extLst>
          </p:cNvPr>
          <p:cNvSpPr>
            <a:spLocks noGrp="1"/>
          </p:cNvSpPr>
          <p:nvPr>
            <p:ph type="title"/>
          </p:nvPr>
        </p:nvSpPr>
        <p:spPr>
          <a:xfrm>
            <a:off x="176049" y="365125"/>
            <a:ext cx="11177751" cy="983977"/>
          </a:xfrm>
        </p:spPr>
        <p:txBody>
          <a:bodyPr/>
          <a:lstStyle/>
          <a:p>
            <a:r>
              <a:rPr lang="en-US">
                <a:latin typeface="Arial"/>
                <a:ea typeface="Roboto"/>
                <a:cs typeface="Arial"/>
              </a:rPr>
              <a:t>Rule based Model: Vader</a:t>
            </a:r>
            <a:endParaRPr lang="en-US"/>
          </a:p>
        </p:txBody>
      </p:sp>
      <p:sp>
        <p:nvSpPr>
          <p:cNvPr id="3" name="Content Placeholder 2">
            <a:extLst>
              <a:ext uri="{FF2B5EF4-FFF2-40B4-BE49-F238E27FC236}">
                <a16:creationId xmlns:a16="http://schemas.microsoft.com/office/drawing/2014/main" id="{9E34B1BE-2DE8-F0E5-C0FD-7C2EEE58D491}"/>
              </a:ext>
            </a:extLst>
          </p:cNvPr>
          <p:cNvSpPr>
            <a:spLocks noGrp="1"/>
          </p:cNvSpPr>
          <p:nvPr>
            <p:ph idx="1"/>
          </p:nvPr>
        </p:nvSpPr>
        <p:spPr>
          <a:xfrm>
            <a:off x="838200" y="1585263"/>
            <a:ext cx="10515600" cy="4088158"/>
          </a:xfrm>
        </p:spPr>
        <p:txBody>
          <a:bodyPr vert="horz" lIns="91440" tIns="45720" rIns="91440" bIns="45720" rtlCol="0" anchor="t">
            <a:normAutofit/>
          </a:bodyPr>
          <a:lstStyle/>
          <a:p>
            <a:pPr>
              <a:lnSpc>
                <a:spcPct val="150000"/>
              </a:lnSpc>
              <a:buFont typeface="Wingdings" panose="020B0604020202020204" pitchFamily="34" charset="0"/>
              <a:buChar char="Ø"/>
            </a:pPr>
            <a:r>
              <a:rPr lang="en-US" sz="2400">
                <a:latin typeface="Arial"/>
                <a:ea typeface="Roboto"/>
                <a:cs typeface="Arial"/>
              </a:rPr>
              <a:t> Vader uses a lexicon of 7500 words, with each word assigned a valence score (+4 to –4) to reflect sentiment.</a:t>
            </a:r>
            <a:endParaRPr lang="en-US" sz="2400"/>
          </a:p>
          <a:p>
            <a:pPr>
              <a:lnSpc>
                <a:spcPct val="150000"/>
              </a:lnSpc>
              <a:buFont typeface="Wingdings" panose="020B0604020202020204" pitchFamily="34" charset="0"/>
              <a:buChar char="Ø"/>
            </a:pPr>
            <a:r>
              <a:rPr lang="en-US" sz="2400">
                <a:latin typeface="Arial"/>
                <a:ea typeface="Roboto"/>
                <a:cs typeface="Arial"/>
              </a:rPr>
              <a:t> Uses heuristic rules like punctuation, capitalization, emojis, etc., to improve sentiment analysis</a:t>
            </a:r>
          </a:p>
          <a:p>
            <a:pPr>
              <a:lnSpc>
                <a:spcPct val="150000"/>
              </a:lnSpc>
              <a:buFont typeface="Wingdings" panose="020B0604020202020204" pitchFamily="34" charset="0"/>
              <a:buChar char="Ø"/>
            </a:pPr>
            <a:r>
              <a:rPr lang="en-US" sz="2400">
                <a:latin typeface="Arial"/>
                <a:ea typeface="Roboto"/>
                <a:cs typeface="Arial"/>
              </a:rPr>
              <a:t> Easy to use, simple to implement and works well with social media related contents like tweets.</a:t>
            </a:r>
            <a:endParaRPr lang="en-US" sz="2400"/>
          </a:p>
        </p:txBody>
      </p:sp>
      <p:sp>
        <p:nvSpPr>
          <p:cNvPr id="4" name="Slide Number Placeholder 3">
            <a:extLst>
              <a:ext uri="{FF2B5EF4-FFF2-40B4-BE49-F238E27FC236}">
                <a16:creationId xmlns:a16="http://schemas.microsoft.com/office/drawing/2014/main" id="{517BBAEA-77DC-1591-C2A0-A035BECB934C}"/>
              </a:ext>
            </a:extLst>
          </p:cNvPr>
          <p:cNvSpPr>
            <a:spLocks noGrp="1"/>
          </p:cNvSpPr>
          <p:nvPr>
            <p:ph type="sldNum" sz="quarter" idx="12"/>
          </p:nvPr>
        </p:nvSpPr>
        <p:spPr/>
        <p:txBody>
          <a:bodyPr/>
          <a:lstStyle/>
          <a:p>
            <a:fld id="{6BAD6A8B-B5C3-4437-A9DE-A8C2149171DD}" type="slidenum">
              <a:rPr lang="en-AU" smtClean="0"/>
              <a:t>11</a:t>
            </a:fld>
            <a:endParaRPr lang="en-AU"/>
          </a:p>
        </p:txBody>
      </p:sp>
      <p:sp>
        <p:nvSpPr>
          <p:cNvPr id="6" name="TextBox 5">
            <a:extLst>
              <a:ext uri="{FF2B5EF4-FFF2-40B4-BE49-F238E27FC236}">
                <a16:creationId xmlns:a16="http://schemas.microsoft.com/office/drawing/2014/main" id="{17D64D20-063F-90AD-074A-2D1AA23B8B03}"/>
              </a:ext>
            </a:extLst>
          </p:cNvPr>
          <p:cNvSpPr txBox="1"/>
          <p:nvPr/>
        </p:nvSpPr>
        <p:spPr>
          <a:xfrm>
            <a:off x="307009" y="6281530"/>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Arial"/>
              </a:rPr>
              <a:t>Presenter: Sidhanth Kafley (z5504979)</a:t>
            </a:r>
            <a:endParaRPr lang="en-US" sz="1100">
              <a:latin typeface="Arial"/>
              <a:cs typeface="Arial"/>
            </a:endParaRPr>
          </a:p>
        </p:txBody>
      </p:sp>
    </p:spTree>
    <p:extLst>
      <p:ext uri="{BB962C8B-B14F-4D97-AF65-F5344CB8AC3E}">
        <p14:creationId xmlns:p14="http://schemas.microsoft.com/office/powerpoint/2010/main" val="2043816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C4848-790D-E9BE-EEE1-3DB14EC9D2D3}"/>
              </a:ext>
            </a:extLst>
          </p:cNvPr>
          <p:cNvSpPr>
            <a:spLocks noGrp="1"/>
          </p:cNvSpPr>
          <p:nvPr>
            <p:ph type="title"/>
          </p:nvPr>
        </p:nvSpPr>
        <p:spPr>
          <a:xfrm>
            <a:off x="202325" y="365125"/>
            <a:ext cx="11151475" cy="857853"/>
          </a:xfrm>
        </p:spPr>
        <p:txBody>
          <a:bodyPr/>
          <a:lstStyle/>
          <a:p>
            <a:r>
              <a:rPr lang="en-US">
                <a:latin typeface="Arial"/>
                <a:ea typeface="Roboto"/>
                <a:cs typeface="Arial"/>
              </a:rPr>
              <a:t>Results: Vader</a:t>
            </a:r>
            <a:endParaRPr lang="en-US"/>
          </a:p>
        </p:txBody>
      </p:sp>
      <p:sp>
        <p:nvSpPr>
          <p:cNvPr id="4" name="Slide Number Placeholder 3">
            <a:extLst>
              <a:ext uri="{FF2B5EF4-FFF2-40B4-BE49-F238E27FC236}">
                <a16:creationId xmlns:a16="http://schemas.microsoft.com/office/drawing/2014/main" id="{76B434C2-9F04-E25C-CCF7-D10377BD07C4}"/>
              </a:ext>
            </a:extLst>
          </p:cNvPr>
          <p:cNvSpPr>
            <a:spLocks noGrp="1"/>
          </p:cNvSpPr>
          <p:nvPr>
            <p:ph type="sldNum" sz="quarter" idx="12"/>
          </p:nvPr>
        </p:nvSpPr>
        <p:spPr/>
        <p:txBody>
          <a:bodyPr/>
          <a:lstStyle/>
          <a:p>
            <a:fld id="{6BAD6A8B-B5C3-4437-A9DE-A8C2149171DD}" type="slidenum">
              <a:rPr lang="en-AU" smtClean="0"/>
              <a:t>12</a:t>
            </a:fld>
            <a:endParaRPr lang="en-AU"/>
          </a:p>
        </p:txBody>
      </p:sp>
      <p:graphicFrame>
        <p:nvGraphicFramePr>
          <p:cNvPr id="6" name="Content Placeholder 4">
            <a:extLst>
              <a:ext uri="{FF2B5EF4-FFF2-40B4-BE49-F238E27FC236}">
                <a16:creationId xmlns:a16="http://schemas.microsoft.com/office/drawing/2014/main" id="{0BAFB65C-021F-5E47-6726-C341CEEC23EC}"/>
              </a:ext>
            </a:extLst>
          </p:cNvPr>
          <p:cNvGraphicFramePr>
            <a:graphicFrameLocks/>
          </p:cNvGraphicFramePr>
          <p:nvPr>
            <p:extLst>
              <p:ext uri="{D42A27DB-BD31-4B8C-83A1-F6EECF244321}">
                <p14:modId xmlns:p14="http://schemas.microsoft.com/office/powerpoint/2010/main" val="1180627239"/>
              </p:ext>
            </p:extLst>
          </p:nvPr>
        </p:nvGraphicFramePr>
        <p:xfrm>
          <a:off x="404648" y="1140372"/>
          <a:ext cx="11277615" cy="2423620"/>
        </p:xfrm>
        <a:graphic>
          <a:graphicData uri="http://schemas.openxmlformats.org/drawingml/2006/table">
            <a:tbl>
              <a:tblPr firstRow="1" bandRow="1">
                <a:tableStyleId>{5C22544A-7EE6-4342-B048-85BDC9FD1C3A}</a:tableStyleId>
              </a:tblPr>
              <a:tblGrid>
                <a:gridCol w="2255523">
                  <a:extLst>
                    <a:ext uri="{9D8B030D-6E8A-4147-A177-3AD203B41FA5}">
                      <a16:colId xmlns:a16="http://schemas.microsoft.com/office/drawing/2014/main" val="2909495223"/>
                    </a:ext>
                  </a:extLst>
                </a:gridCol>
                <a:gridCol w="2255523">
                  <a:extLst>
                    <a:ext uri="{9D8B030D-6E8A-4147-A177-3AD203B41FA5}">
                      <a16:colId xmlns:a16="http://schemas.microsoft.com/office/drawing/2014/main" val="853550214"/>
                    </a:ext>
                  </a:extLst>
                </a:gridCol>
                <a:gridCol w="2255523">
                  <a:extLst>
                    <a:ext uri="{9D8B030D-6E8A-4147-A177-3AD203B41FA5}">
                      <a16:colId xmlns:a16="http://schemas.microsoft.com/office/drawing/2014/main" val="2930109634"/>
                    </a:ext>
                  </a:extLst>
                </a:gridCol>
                <a:gridCol w="2255523">
                  <a:extLst>
                    <a:ext uri="{9D8B030D-6E8A-4147-A177-3AD203B41FA5}">
                      <a16:colId xmlns:a16="http://schemas.microsoft.com/office/drawing/2014/main" val="1731727157"/>
                    </a:ext>
                  </a:extLst>
                </a:gridCol>
                <a:gridCol w="2255523">
                  <a:extLst>
                    <a:ext uri="{9D8B030D-6E8A-4147-A177-3AD203B41FA5}">
                      <a16:colId xmlns:a16="http://schemas.microsoft.com/office/drawing/2014/main" val="1931615175"/>
                    </a:ext>
                  </a:extLst>
                </a:gridCol>
              </a:tblGrid>
              <a:tr h="472295">
                <a:tc>
                  <a:txBody>
                    <a:bodyPr/>
                    <a:lstStyle/>
                    <a:p>
                      <a:endParaRPr lang="en-GB"/>
                    </a:p>
                  </a:txBody>
                  <a:tcPr/>
                </a:tc>
                <a:tc>
                  <a:txBody>
                    <a:bodyPr/>
                    <a:lstStyle/>
                    <a:p>
                      <a:r>
                        <a:rPr lang="en-GB"/>
                        <a:t>Precision</a:t>
                      </a:r>
                    </a:p>
                  </a:txBody>
                  <a:tcPr/>
                </a:tc>
                <a:tc>
                  <a:txBody>
                    <a:bodyPr/>
                    <a:lstStyle/>
                    <a:p>
                      <a:r>
                        <a:rPr lang="en-GB"/>
                        <a:t>Recall</a:t>
                      </a:r>
                    </a:p>
                  </a:txBody>
                  <a:tcPr/>
                </a:tc>
                <a:tc>
                  <a:txBody>
                    <a:bodyPr/>
                    <a:lstStyle/>
                    <a:p>
                      <a:r>
                        <a:rPr lang="en-GB"/>
                        <a:t>F1</a:t>
                      </a:r>
                    </a:p>
                  </a:txBody>
                  <a:tcPr/>
                </a:tc>
                <a:tc>
                  <a:txBody>
                    <a:bodyPr/>
                    <a:lstStyle/>
                    <a:p>
                      <a:r>
                        <a:rPr lang="en-GB"/>
                        <a:t>Accuracy</a:t>
                      </a:r>
                    </a:p>
                  </a:txBody>
                  <a:tcPr/>
                </a:tc>
                <a:extLst>
                  <a:ext uri="{0D108BD9-81ED-4DB2-BD59-A6C34878D82A}">
                    <a16:rowId xmlns:a16="http://schemas.microsoft.com/office/drawing/2014/main" val="1952714622"/>
                  </a:ext>
                </a:extLst>
              </a:tr>
              <a:tr h="472295">
                <a:tc>
                  <a:txBody>
                    <a:bodyPr/>
                    <a:lstStyle/>
                    <a:p>
                      <a:r>
                        <a:rPr lang="en-GB"/>
                        <a:t>Negative</a:t>
                      </a:r>
                    </a:p>
                  </a:txBody>
                  <a:tcPr/>
                </a:tc>
                <a:tc>
                  <a:txBody>
                    <a:bodyPr/>
                    <a:lstStyle/>
                    <a:p>
                      <a:r>
                        <a:rPr lang="en-GB"/>
                        <a:t>86%</a:t>
                      </a:r>
                    </a:p>
                  </a:txBody>
                  <a:tcPr/>
                </a:tc>
                <a:tc>
                  <a:txBody>
                    <a:bodyPr/>
                    <a:lstStyle/>
                    <a:p>
                      <a:r>
                        <a:rPr lang="en-GB"/>
                        <a:t>43%</a:t>
                      </a:r>
                    </a:p>
                  </a:txBody>
                  <a:tcPr/>
                </a:tc>
                <a:tc>
                  <a:txBody>
                    <a:bodyPr/>
                    <a:lstStyle/>
                    <a:p>
                      <a:r>
                        <a:rPr lang="en-GB"/>
                        <a:t>58%</a:t>
                      </a:r>
                    </a:p>
                  </a:txBody>
                  <a:tcPr/>
                </a:tc>
                <a:tc>
                  <a:txBody>
                    <a:bodyPr/>
                    <a:lstStyle/>
                    <a:p>
                      <a:endParaRPr lang="en-GB"/>
                    </a:p>
                  </a:txBody>
                  <a:tcPr/>
                </a:tc>
                <a:extLst>
                  <a:ext uri="{0D108BD9-81ED-4DB2-BD59-A6C34878D82A}">
                    <a16:rowId xmlns:a16="http://schemas.microsoft.com/office/drawing/2014/main" val="3896438"/>
                  </a:ext>
                </a:extLst>
              </a:tr>
              <a:tr h="472295">
                <a:tc>
                  <a:txBody>
                    <a:bodyPr/>
                    <a:lstStyle/>
                    <a:p>
                      <a:r>
                        <a:rPr lang="en-GB"/>
                        <a:t>Neutral</a:t>
                      </a:r>
                    </a:p>
                  </a:txBody>
                  <a:tcPr/>
                </a:tc>
                <a:tc>
                  <a:txBody>
                    <a:bodyPr/>
                    <a:lstStyle/>
                    <a:p>
                      <a:r>
                        <a:rPr lang="en-GB"/>
                        <a:t>31%</a:t>
                      </a:r>
                    </a:p>
                  </a:txBody>
                  <a:tcPr/>
                </a:tc>
                <a:tc>
                  <a:txBody>
                    <a:bodyPr/>
                    <a:lstStyle/>
                    <a:p>
                      <a:r>
                        <a:rPr lang="en-GB"/>
                        <a:t>64%</a:t>
                      </a:r>
                    </a:p>
                  </a:txBody>
                  <a:tcPr/>
                </a:tc>
                <a:tc>
                  <a:txBody>
                    <a:bodyPr/>
                    <a:lstStyle/>
                    <a:p>
                      <a:r>
                        <a:rPr lang="en-GB"/>
                        <a:t>42%</a:t>
                      </a:r>
                    </a:p>
                  </a:txBody>
                  <a:tcPr/>
                </a:tc>
                <a:tc>
                  <a:txBody>
                    <a:bodyPr/>
                    <a:lstStyle/>
                    <a:p>
                      <a:endParaRPr lang="en-GB"/>
                    </a:p>
                  </a:txBody>
                  <a:tcPr/>
                </a:tc>
                <a:extLst>
                  <a:ext uri="{0D108BD9-81ED-4DB2-BD59-A6C34878D82A}">
                    <a16:rowId xmlns:a16="http://schemas.microsoft.com/office/drawing/2014/main" val="523979322"/>
                  </a:ext>
                </a:extLst>
              </a:tr>
              <a:tr h="472295">
                <a:tc>
                  <a:txBody>
                    <a:bodyPr/>
                    <a:lstStyle/>
                    <a:p>
                      <a:r>
                        <a:rPr lang="en-GB"/>
                        <a:t>Positive</a:t>
                      </a:r>
                    </a:p>
                  </a:txBody>
                  <a:tcPr/>
                </a:tc>
                <a:tc>
                  <a:txBody>
                    <a:bodyPr/>
                    <a:lstStyle/>
                    <a:p>
                      <a:r>
                        <a:rPr lang="en-GB"/>
                        <a:t>15%</a:t>
                      </a:r>
                    </a:p>
                  </a:txBody>
                  <a:tcPr/>
                </a:tc>
                <a:tc>
                  <a:txBody>
                    <a:bodyPr/>
                    <a:lstStyle/>
                    <a:p>
                      <a:r>
                        <a:rPr lang="en-GB"/>
                        <a:t>55%</a:t>
                      </a:r>
                    </a:p>
                  </a:txBody>
                  <a:tcPr/>
                </a:tc>
                <a:tc>
                  <a:txBody>
                    <a:bodyPr/>
                    <a:lstStyle/>
                    <a:p>
                      <a:r>
                        <a:rPr lang="en-GB"/>
                        <a:t>24%</a:t>
                      </a:r>
                    </a:p>
                  </a:txBody>
                  <a:tcPr/>
                </a:tc>
                <a:tc>
                  <a:txBody>
                    <a:bodyPr/>
                    <a:lstStyle/>
                    <a:p>
                      <a:endParaRPr lang="en-GB"/>
                    </a:p>
                  </a:txBody>
                  <a:tcPr/>
                </a:tc>
                <a:extLst>
                  <a:ext uri="{0D108BD9-81ED-4DB2-BD59-A6C34878D82A}">
                    <a16:rowId xmlns:a16="http://schemas.microsoft.com/office/drawing/2014/main" val="3504590966"/>
                  </a:ext>
                </a:extLst>
              </a:tr>
              <a:tr h="534440">
                <a:tc>
                  <a:txBody>
                    <a:bodyPr/>
                    <a:lstStyle/>
                    <a:p>
                      <a:r>
                        <a:rPr lang="en-GB"/>
                        <a:t>Average</a:t>
                      </a:r>
                    </a:p>
                  </a:txBody>
                  <a:tcPr/>
                </a:tc>
                <a:tc>
                  <a:txBody>
                    <a:bodyPr/>
                    <a:lstStyle/>
                    <a:p>
                      <a:r>
                        <a:rPr lang="en-GB"/>
                        <a:t>71%</a:t>
                      </a:r>
                    </a:p>
                  </a:txBody>
                  <a:tcPr/>
                </a:tc>
                <a:tc>
                  <a:txBody>
                    <a:bodyPr/>
                    <a:lstStyle/>
                    <a:p>
                      <a:r>
                        <a:rPr lang="en-GB"/>
                        <a:t>48%</a:t>
                      </a:r>
                    </a:p>
                  </a:txBody>
                  <a:tcPr/>
                </a:tc>
                <a:tc>
                  <a:txBody>
                    <a:bodyPr/>
                    <a:lstStyle/>
                    <a:p>
                      <a:r>
                        <a:rPr lang="en-GB"/>
                        <a:t>52%</a:t>
                      </a:r>
                    </a:p>
                  </a:txBody>
                  <a:tcPr/>
                </a:tc>
                <a:tc>
                  <a:txBody>
                    <a:bodyPr/>
                    <a:lstStyle/>
                    <a:p>
                      <a:r>
                        <a:rPr lang="en-GB"/>
                        <a:t>48%</a:t>
                      </a:r>
                    </a:p>
                  </a:txBody>
                  <a:tcPr/>
                </a:tc>
                <a:extLst>
                  <a:ext uri="{0D108BD9-81ED-4DB2-BD59-A6C34878D82A}">
                    <a16:rowId xmlns:a16="http://schemas.microsoft.com/office/drawing/2014/main" val="2124244325"/>
                  </a:ext>
                </a:extLst>
              </a:tr>
            </a:tbl>
          </a:graphicData>
        </a:graphic>
      </p:graphicFrame>
      <p:sp>
        <p:nvSpPr>
          <p:cNvPr id="8" name="TextBox 7">
            <a:extLst>
              <a:ext uri="{FF2B5EF4-FFF2-40B4-BE49-F238E27FC236}">
                <a16:creationId xmlns:a16="http://schemas.microsoft.com/office/drawing/2014/main" id="{9952C59B-8084-D4AA-26FB-E70D16D722EE}"/>
              </a:ext>
            </a:extLst>
          </p:cNvPr>
          <p:cNvSpPr txBox="1"/>
          <p:nvPr/>
        </p:nvSpPr>
        <p:spPr>
          <a:xfrm>
            <a:off x="836531" y="3862283"/>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rial"/>
                <a:cs typeface="Arial"/>
              </a:rPr>
              <a:t>Example:​</a:t>
            </a:r>
            <a:endParaRPr lang="en-US"/>
          </a:p>
        </p:txBody>
      </p:sp>
      <p:graphicFrame>
        <p:nvGraphicFramePr>
          <p:cNvPr id="5" name="Table 4">
            <a:extLst>
              <a:ext uri="{FF2B5EF4-FFF2-40B4-BE49-F238E27FC236}">
                <a16:creationId xmlns:a16="http://schemas.microsoft.com/office/drawing/2014/main" id="{215EE412-586A-3981-7A2C-8E61148155CE}"/>
              </a:ext>
            </a:extLst>
          </p:cNvPr>
          <p:cNvGraphicFramePr>
            <a:graphicFrameLocks noGrp="1"/>
          </p:cNvGraphicFramePr>
          <p:nvPr>
            <p:extLst>
              <p:ext uri="{D42A27DB-BD31-4B8C-83A1-F6EECF244321}">
                <p14:modId xmlns:p14="http://schemas.microsoft.com/office/powerpoint/2010/main" val="3166921770"/>
              </p:ext>
            </p:extLst>
          </p:nvPr>
        </p:nvGraphicFramePr>
        <p:xfrm>
          <a:off x="996462" y="4460630"/>
          <a:ext cx="10507333" cy="1381760"/>
        </p:xfrm>
        <a:graphic>
          <a:graphicData uri="http://schemas.openxmlformats.org/drawingml/2006/table">
            <a:tbl>
              <a:tblPr firstRow="1" bandRow="1">
                <a:tableStyleId>{5C22544A-7EE6-4342-B048-85BDC9FD1C3A}</a:tableStyleId>
              </a:tblPr>
              <a:tblGrid>
                <a:gridCol w="611944">
                  <a:extLst>
                    <a:ext uri="{9D8B030D-6E8A-4147-A177-3AD203B41FA5}">
                      <a16:colId xmlns:a16="http://schemas.microsoft.com/office/drawing/2014/main" val="1864710216"/>
                    </a:ext>
                  </a:extLst>
                </a:gridCol>
                <a:gridCol w="7902525">
                  <a:extLst>
                    <a:ext uri="{9D8B030D-6E8A-4147-A177-3AD203B41FA5}">
                      <a16:colId xmlns:a16="http://schemas.microsoft.com/office/drawing/2014/main" val="1524365596"/>
                    </a:ext>
                  </a:extLst>
                </a:gridCol>
                <a:gridCol w="1992864">
                  <a:extLst>
                    <a:ext uri="{9D8B030D-6E8A-4147-A177-3AD203B41FA5}">
                      <a16:colId xmlns:a16="http://schemas.microsoft.com/office/drawing/2014/main" val="826679116"/>
                    </a:ext>
                  </a:extLst>
                </a:gridCol>
              </a:tblGrid>
              <a:tr h="370840">
                <a:tc>
                  <a:txBody>
                    <a:bodyPr/>
                    <a:lstStyle/>
                    <a:p>
                      <a:endParaRPr lang="en-US"/>
                    </a:p>
                  </a:txBody>
                  <a:tcPr/>
                </a:tc>
                <a:tc>
                  <a:txBody>
                    <a:bodyPr/>
                    <a:lstStyle/>
                    <a:p>
                      <a:r>
                        <a:rPr lang="en-US"/>
                        <a:t>Input</a:t>
                      </a:r>
                    </a:p>
                  </a:txBody>
                  <a:tcPr/>
                </a:tc>
                <a:tc>
                  <a:txBody>
                    <a:bodyPr/>
                    <a:lstStyle/>
                    <a:p>
                      <a:r>
                        <a:rPr lang="en-US"/>
                        <a:t>Output</a:t>
                      </a:r>
                    </a:p>
                  </a:txBody>
                  <a:tcPr/>
                </a:tc>
                <a:extLst>
                  <a:ext uri="{0D108BD9-81ED-4DB2-BD59-A6C34878D82A}">
                    <a16:rowId xmlns:a16="http://schemas.microsoft.com/office/drawing/2014/main" val="439445911"/>
                  </a:ext>
                </a:extLst>
              </a:tr>
              <a:tr h="370840">
                <a:tc>
                  <a:txBody>
                    <a:bodyPr/>
                    <a:lstStyle/>
                    <a:p>
                      <a:r>
                        <a:rPr lang="en-US"/>
                        <a:t>1.</a:t>
                      </a:r>
                    </a:p>
                  </a:txBody>
                  <a:tcPr/>
                </a:tc>
                <a:tc>
                  <a:txBody>
                    <a:bodyPr/>
                    <a:lstStyle/>
                    <a:p>
                      <a:pPr lvl="0">
                        <a:buNone/>
                      </a:pPr>
                      <a:r>
                        <a:rPr lang="en-US" sz="1800" b="0" i="0" u="none" strike="noStrike" noProof="0" err="1">
                          <a:latin typeface="Calibri"/>
                        </a:rPr>
                        <a:t>tldr</a:t>
                      </a:r>
                      <a:r>
                        <a:rPr lang="en-US" sz="1800" b="0" i="0" u="none" strike="noStrike" noProof="0">
                          <a:latin typeface="Calibri"/>
                        </a:rPr>
                        <a:t>: not </a:t>
                      </a:r>
                      <a:r>
                        <a:rPr lang="en-US" sz="1800" b="0" i="0" u="none" strike="noStrike" noProof="0" err="1">
                          <a:latin typeface="Calibri"/>
                        </a:rPr>
                        <a:t>sars</a:t>
                      </a:r>
                      <a:r>
                        <a:rPr lang="en-US" sz="1800" b="0" i="0" u="none" strike="noStrike" noProof="0">
                          <a:latin typeface="Calibri"/>
                        </a:rPr>
                        <a:t>, possibly new coronavirus. difficult to confirm because patients identified later in infection </a:t>
                      </a:r>
                      <a:r>
                        <a:rPr lang="en-US" sz="1800" b="0" i="0" u="none" strike="noStrike" noProof="0" err="1">
                          <a:latin typeface="Calibri"/>
                        </a:rPr>
                        <a:t>when‚ä</a:t>
                      </a:r>
                      <a:r>
                        <a:rPr lang="en-US" sz="1800" b="0" i="0" u="none" strike="noStrike" noProof="0">
                          <a:latin typeface="Calibri"/>
                        </a:rPr>
                        <a:t>¶</a:t>
                      </a:r>
                      <a:endParaRPr lang="en-US"/>
                    </a:p>
                  </a:txBody>
                  <a:tcPr/>
                </a:tc>
                <a:tc>
                  <a:txBody>
                    <a:bodyPr/>
                    <a:lstStyle/>
                    <a:p>
                      <a:r>
                        <a:rPr lang="en-US"/>
                        <a:t>Negative</a:t>
                      </a:r>
                    </a:p>
                  </a:txBody>
                  <a:tcPr/>
                </a:tc>
                <a:extLst>
                  <a:ext uri="{0D108BD9-81ED-4DB2-BD59-A6C34878D82A}">
                    <a16:rowId xmlns:a16="http://schemas.microsoft.com/office/drawing/2014/main" val="2955967593"/>
                  </a:ext>
                </a:extLst>
              </a:tr>
              <a:tr h="370840">
                <a:tc>
                  <a:txBody>
                    <a:bodyPr/>
                    <a:lstStyle/>
                    <a:p>
                      <a:r>
                        <a:rPr lang="en-US"/>
                        <a:t>2.</a:t>
                      </a:r>
                    </a:p>
                  </a:txBody>
                  <a:tcPr/>
                </a:tc>
                <a:tc>
                  <a:txBody>
                    <a:bodyPr/>
                    <a:lstStyle/>
                    <a:p>
                      <a:pPr lvl="0">
                        <a:buNone/>
                      </a:pPr>
                      <a:r>
                        <a:rPr lang="en-US" sz="1800" b="0" i="0" u="none" strike="noStrike" noProof="0">
                          <a:latin typeface="Calibri"/>
                        </a:rPr>
                        <a:t>new coronavirus may be cause of outbreak in </a:t>
                      </a:r>
                      <a:r>
                        <a:rPr lang="en-US" sz="1800" b="0" i="0" u="none" strike="noStrike" noProof="0" err="1">
                          <a:latin typeface="Calibri"/>
                        </a:rPr>
                        <a:t>china</a:t>
                      </a:r>
                      <a:r>
                        <a:rPr lang="en-US" sz="1800" b="0" i="0" u="none" strike="noStrike" noProof="0">
                          <a:latin typeface="Calibri"/>
                        </a:rPr>
                        <a:t> from @webmd</a:t>
                      </a:r>
                      <a:endParaRPr lang="en-US"/>
                    </a:p>
                  </a:txBody>
                  <a:tcPr/>
                </a:tc>
                <a:tc>
                  <a:txBody>
                    <a:bodyPr/>
                    <a:lstStyle/>
                    <a:p>
                      <a:r>
                        <a:rPr lang="en-US"/>
                        <a:t>Neutral</a:t>
                      </a:r>
                    </a:p>
                  </a:txBody>
                  <a:tcPr/>
                </a:tc>
                <a:extLst>
                  <a:ext uri="{0D108BD9-81ED-4DB2-BD59-A6C34878D82A}">
                    <a16:rowId xmlns:a16="http://schemas.microsoft.com/office/drawing/2014/main" val="4200272261"/>
                  </a:ext>
                </a:extLst>
              </a:tr>
            </a:tbl>
          </a:graphicData>
        </a:graphic>
      </p:graphicFrame>
      <p:sp>
        <p:nvSpPr>
          <p:cNvPr id="7" name="TextBox 6">
            <a:extLst>
              <a:ext uri="{FF2B5EF4-FFF2-40B4-BE49-F238E27FC236}">
                <a16:creationId xmlns:a16="http://schemas.microsoft.com/office/drawing/2014/main" id="{36442940-6844-DD06-EAC8-4B86A153B439}"/>
              </a:ext>
            </a:extLst>
          </p:cNvPr>
          <p:cNvSpPr txBox="1"/>
          <p:nvPr/>
        </p:nvSpPr>
        <p:spPr>
          <a:xfrm>
            <a:off x="307009" y="6281530"/>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Arial"/>
              </a:rPr>
              <a:t>Presenter: Sidhanth Kafley (z5504979)</a:t>
            </a:r>
            <a:endParaRPr lang="en-US" sz="1100">
              <a:latin typeface="Arial"/>
              <a:cs typeface="Arial"/>
            </a:endParaRPr>
          </a:p>
        </p:txBody>
      </p:sp>
    </p:spTree>
    <p:extLst>
      <p:ext uri="{BB962C8B-B14F-4D97-AF65-F5344CB8AC3E}">
        <p14:creationId xmlns:p14="http://schemas.microsoft.com/office/powerpoint/2010/main" val="828645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62E3A-6751-2BE4-4512-F70AE2B6B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B718B4-16DE-7614-4605-A904639F32A6}"/>
              </a:ext>
            </a:extLst>
          </p:cNvPr>
          <p:cNvSpPr>
            <a:spLocks noGrp="1"/>
          </p:cNvSpPr>
          <p:nvPr>
            <p:ph type="title"/>
          </p:nvPr>
        </p:nvSpPr>
        <p:spPr>
          <a:xfrm>
            <a:off x="231648" y="136525"/>
            <a:ext cx="11631168" cy="838835"/>
          </a:xfrm>
        </p:spPr>
        <p:txBody>
          <a:bodyPr>
            <a:normAutofit/>
          </a:bodyPr>
          <a:lstStyle/>
          <a:p>
            <a:r>
              <a:rPr lang="en-GB">
                <a:latin typeface="Arial"/>
                <a:ea typeface="Roboto"/>
                <a:cs typeface="Arial"/>
              </a:rPr>
              <a:t>Bernoulli Naive Bayes</a:t>
            </a:r>
            <a:endParaRPr lang="zh-CN"/>
          </a:p>
        </p:txBody>
      </p:sp>
      <p:sp>
        <p:nvSpPr>
          <p:cNvPr id="3" name="Content Placeholder 2">
            <a:extLst>
              <a:ext uri="{FF2B5EF4-FFF2-40B4-BE49-F238E27FC236}">
                <a16:creationId xmlns:a16="http://schemas.microsoft.com/office/drawing/2014/main" id="{E5370BB9-85CC-8DAD-195E-24CF669FDD73}"/>
              </a:ext>
            </a:extLst>
          </p:cNvPr>
          <p:cNvSpPr>
            <a:spLocks noGrp="1"/>
          </p:cNvSpPr>
          <p:nvPr>
            <p:ph idx="1"/>
          </p:nvPr>
        </p:nvSpPr>
        <p:spPr>
          <a:xfrm>
            <a:off x="478308" y="4630664"/>
            <a:ext cx="10476073" cy="1515354"/>
          </a:xfrm>
        </p:spPr>
        <p:txBody>
          <a:bodyPr vert="horz" lIns="91440" tIns="45720" rIns="91440" bIns="45720" rtlCol="0" anchor="t">
            <a:normAutofit/>
          </a:bodyPr>
          <a:lstStyle/>
          <a:p>
            <a:pPr>
              <a:buFont typeface="Wingdings" pitchFamily="2" charset="2"/>
              <a:buChar char="Ø"/>
            </a:pPr>
            <a:r>
              <a:rPr lang="en-AU">
                <a:latin typeface="Arial"/>
                <a:ea typeface="Roboto"/>
                <a:cs typeface="Arial"/>
              </a:rPr>
              <a:t> Uses binary features (word presence/absence)</a:t>
            </a:r>
            <a:endParaRPr lang="en-US"/>
          </a:p>
          <a:p>
            <a:pPr>
              <a:buFont typeface="Wingdings" pitchFamily="2" charset="2"/>
              <a:buChar char="Ø"/>
            </a:pPr>
            <a:r>
              <a:rPr lang="en-AU">
                <a:latin typeface="Arial"/>
                <a:ea typeface="Roboto"/>
                <a:cs typeface="Arial"/>
              </a:rPr>
              <a:t> Data imbalance evident in class predictions</a:t>
            </a:r>
            <a:endParaRPr lang="en-AU"/>
          </a:p>
          <a:p>
            <a:pPr marL="0" indent="0">
              <a:buNone/>
            </a:pPr>
            <a:endParaRPr lang="en-AU" b="1"/>
          </a:p>
          <a:p>
            <a:pPr lvl="1">
              <a:buFont typeface="Courier New" pitchFamily="2" charset="2"/>
              <a:buChar char="o"/>
            </a:pPr>
            <a:endParaRPr lang="en-AU" b="1"/>
          </a:p>
          <a:p>
            <a:pPr>
              <a:buFont typeface="Wingdings" pitchFamily="2" charset="2"/>
              <a:buChar char="Ø"/>
            </a:pPr>
            <a:endParaRPr lang="en-AU"/>
          </a:p>
        </p:txBody>
      </p:sp>
      <p:sp>
        <p:nvSpPr>
          <p:cNvPr id="4" name="Slide Number Placeholder 3">
            <a:extLst>
              <a:ext uri="{FF2B5EF4-FFF2-40B4-BE49-F238E27FC236}">
                <a16:creationId xmlns:a16="http://schemas.microsoft.com/office/drawing/2014/main" id="{ACF8E11B-FA1D-E192-2309-23055365FDB3}"/>
              </a:ext>
            </a:extLst>
          </p:cNvPr>
          <p:cNvSpPr>
            <a:spLocks noGrp="1"/>
          </p:cNvSpPr>
          <p:nvPr>
            <p:ph type="sldNum" sz="quarter" idx="12"/>
          </p:nvPr>
        </p:nvSpPr>
        <p:spPr/>
        <p:txBody>
          <a:bodyPr/>
          <a:lstStyle/>
          <a:p>
            <a:fld id="{6BAD6A8B-B5C3-4437-A9DE-A8C2149171DD}" type="slidenum">
              <a:rPr lang="en-AU" smtClean="0"/>
              <a:t>13</a:t>
            </a:fld>
            <a:endParaRPr lang="en-AU"/>
          </a:p>
        </p:txBody>
      </p:sp>
      <p:sp>
        <p:nvSpPr>
          <p:cNvPr id="6" name="TextBox 5">
            <a:extLst>
              <a:ext uri="{FF2B5EF4-FFF2-40B4-BE49-F238E27FC236}">
                <a16:creationId xmlns:a16="http://schemas.microsoft.com/office/drawing/2014/main" id="{098DC0B4-C989-9346-55CC-0FFB4051E18E}"/>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Yewei Huang (z5459400)</a:t>
            </a:r>
          </a:p>
        </p:txBody>
      </p:sp>
      <p:graphicFrame>
        <p:nvGraphicFramePr>
          <p:cNvPr id="5" name="表格 4">
            <a:extLst>
              <a:ext uri="{FF2B5EF4-FFF2-40B4-BE49-F238E27FC236}">
                <a16:creationId xmlns:a16="http://schemas.microsoft.com/office/drawing/2014/main" id="{4C75F899-E00C-1741-720E-4A9D727B4BF9}"/>
              </a:ext>
            </a:extLst>
          </p:cNvPr>
          <p:cNvGraphicFramePr>
            <a:graphicFrameLocks noGrp="1"/>
          </p:cNvGraphicFramePr>
          <p:nvPr>
            <p:extLst>
              <p:ext uri="{D42A27DB-BD31-4B8C-83A1-F6EECF244321}">
                <p14:modId xmlns:p14="http://schemas.microsoft.com/office/powerpoint/2010/main" val="3414106351"/>
              </p:ext>
            </p:extLst>
          </p:nvPr>
        </p:nvGraphicFramePr>
        <p:xfrm>
          <a:off x="1234965" y="1056289"/>
          <a:ext cx="9167875" cy="3409290"/>
        </p:xfrm>
        <a:graphic>
          <a:graphicData uri="http://schemas.openxmlformats.org/drawingml/2006/table">
            <a:tbl>
              <a:tblPr firstRow="1" bandRow="1">
                <a:tableStyleId>{5C22544A-7EE6-4342-B048-85BDC9FD1C3A}</a:tableStyleId>
              </a:tblPr>
              <a:tblGrid>
                <a:gridCol w="1833575">
                  <a:extLst>
                    <a:ext uri="{9D8B030D-6E8A-4147-A177-3AD203B41FA5}">
                      <a16:colId xmlns:a16="http://schemas.microsoft.com/office/drawing/2014/main" val="1632210879"/>
                    </a:ext>
                  </a:extLst>
                </a:gridCol>
                <a:gridCol w="1833575">
                  <a:extLst>
                    <a:ext uri="{9D8B030D-6E8A-4147-A177-3AD203B41FA5}">
                      <a16:colId xmlns:a16="http://schemas.microsoft.com/office/drawing/2014/main" val="2758001264"/>
                    </a:ext>
                  </a:extLst>
                </a:gridCol>
                <a:gridCol w="1833575">
                  <a:extLst>
                    <a:ext uri="{9D8B030D-6E8A-4147-A177-3AD203B41FA5}">
                      <a16:colId xmlns:a16="http://schemas.microsoft.com/office/drawing/2014/main" val="3307147138"/>
                    </a:ext>
                  </a:extLst>
                </a:gridCol>
                <a:gridCol w="1833575">
                  <a:extLst>
                    <a:ext uri="{9D8B030D-6E8A-4147-A177-3AD203B41FA5}">
                      <a16:colId xmlns:a16="http://schemas.microsoft.com/office/drawing/2014/main" val="2857274169"/>
                    </a:ext>
                  </a:extLst>
                </a:gridCol>
                <a:gridCol w="1833575">
                  <a:extLst>
                    <a:ext uri="{9D8B030D-6E8A-4147-A177-3AD203B41FA5}">
                      <a16:colId xmlns:a16="http://schemas.microsoft.com/office/drawing/2014/main" val="3904885140"/>
                    </a:ext>
                  </a:extLst>
                </a:gridCol>
              </a:tblGrid>
              <a:tr h="681858">
                <a:tc>
                  <a:txBody>
                    <a:bodyPr/>
                    <a:lstStyle/>
                    <a:p>
                      <a:endParaRPr lang="zh-CN" altLang="en-US"/>
                    </a:p>
                  </a:txBody>
                  <a:tcPr/>
                </a:tc>
                <a:tc>
                  <a:txBody>
                    <a:bodyPr/>
                    <a:lstStyle/>
                    <a:p>
                      <a:r>
                        <a:rPr lang="zh-CN" altLang="en-US"/>
                        <a:t>Precision</a:t>
                      </a:r>
                    </a:p>
                  </a:txBody>
                  <a:tcPr/>
                </a:tc>
                <a:tc>
                  <a:txBody>
                    <a:bodyPr/>
                    <a:lstStyle/>
                    <a:p>
                      <a:r>
                        <a:rPr lang="zh-CN" altLang="en-US"/>
                        <a:t>Recall</a:t>
                      </a:r>
                    </a:p>
                  </a:txBody>
                  <a:tcPr/>
                </a:tc>
                <a:tc>
                  <a:txBody>
                    <a:bodyPr/>
                    <a:lstStyle/>
                    <a:p>
                      <a:r>
                        <a:rPr lang="zh-CN" altLang="en-US"/>
                        <a:t>F1-score</a:t>
                      </a:r>
                    </a:p>
                  </a:txBody>
                  <a:tcPr/>
                </a:tc>
                <a:tc>
                  <a:txBody>
                    <a:bodyPr/>
                    <a:lstStyle/>
                    <a:p>
                      <a:r>
                        <a:rPr lang="zh-CN" altLang="en-US"/>
                        <a:t>Accuracy</a:t>
                      </a:r>
                    </a:p>
                  </a:txBody>
                  <a:tcPr/>
                </a:tc>
                <a:extLst>
                  <a:ext uri="{0D108BD9-81ED-4DB2-BD59-A6C34878D82A}">
                    <a16:rowId xmlns:a16="http://schemas.microsoft.com/office/drawing/2014/main" val="1383378963"/>
                  </a:ext>
                </a:extLst>
              </a:tr>
              <a:tr h="681858">
                <a:tc>
                  <a:txBody>
                    <a:bodyPr/>
                    <a:lstStyle/>
                    <a:p>
                      <a:r>
                        <a:rPr lang="zh-CN" altLang="en-US"/>
                        <a:t>Negative</a:t>
                      </a:r>
                    </a:p>
                  </a:txBody>
                  <a:tcPr/>
                </a:tc>
                <a:tc>
                  <a:txBody>
                    <a:bodyPr/>
                    <a:lstStyle/>
                    <a:p>
                      <a:r>
                        <a:rPr lang="zh-CN" altLang="en-US"/>
                        <a:t>74%</a:t>
                      </a:r>
                      <a:endParaRPr lang="en-US" altLang="zh-CN"/>
                    </a:p>
                  </a:txBody>
                  <a:tcPr/>
                </a:tc>
                <a:tc>
                  <a:txBody>
                    <a:bodyPr/>
                    <a:lstStyle/>
                    <a:p>
                      <a:r>
                        <a:rPr lang="zh-CN" altLang="en-US"/>
                        <a:t>35%</a:t>
                      </a:r>
                    </a:p>
                  </a:txBody>
                  <a:tcPr/>
                </a:tc>
                <a:tc>
                  <a:txBody>
                    <a:bodyPr/>
                    <a:lstStyle/>
                    <a:p>
                      <a:r>
                        <a:rPr lang="zh-CN" altLang="en-US"/>
                        <a:t>47%</a:t>
                      </a:r>
                    </a:p>
                  </a:txBody>
                  <a:tcPr/>
                </a:tc>
                <a:tc>
                  <a:txBody>
                    <a:bodyPr/>
                    <a:lstStyle/>
                    <a:p>
                      <a:endParaRPr lang="zh-CN" altLang="en-US"/>
                    </a:p>
                  </a:txBody>
                  <a:tcPr/>
                </a:tc>
                <a:extLst>
                  <a:ext uri="{0D108BD9-81ED-4DB2-BD59-A6C34878D82A}">
                    <a16:rowId xmlns:a16="http://schemas.microsoft.com/office/drawing/2014/main" val="1928565477"/>
                  </a:ext>
                </a:extLst>
              </a:tr>
              <a:tr h="681858">
                <a:tc>
                  <a:txBody>
                    <a:bodyPr/>
                    <a:lstStyle/>
                    <a:p>
                      <a:r>
                        <a:rPr lang="zh-CN" altLang="en-US"/>
                        <a:t>Neutral</a:t>
                      </a:r>
                    </a:p>
                  </a:txBody>
                  <a:tcPr/>
                </a:tc>
                <a:tc>
                  <a:txBody>
                    <a:bodyPr/>
                    <a:lstStyle/>
                    <a:p>
                      <a:r>
                        <a:rPr lang="zh-CN" altLang="en-US"/>
                        <a:t>80%</a:t>
                      </a:r>
                    </a:p>
                  </a:txBody>
                  <a:tcPr/>
                </a:tc>
                <a:tc>
                  <a:txBody>
                    <a:bodyPr/>
                    <a:lstStyle/>
                    <a:p>
                      <a:r>
                        <a:rPr lang="zh-CN" altLang="en-US"/>
                        <a:t>97%</a:t>
                      </a:r>
                    </a:p>
                  </a:txBody>
                  <a:tcPr/>
                </a:tc>
                <a:tc>
                  <a:txBody>
                    <a:bodyPr/>
                    <a:lstStyle/>
                    <a:p>
                      <a:r>
                        <a:rPr lang="zh-CN" altLang="en-US"/>
                        <a:t>87%</a:t>
                      </a:r>
                    </a:p>
                  </a:txBody>
                  <a:tcPr/>
                </a:tc>
                <a:tc>
                  <a:txBody>
                    <a:bodyPr/>
                    <a:lstStyle/>
                    <a:p>
                      <a:endParaRPr lang="zh-CN" altLang="en-US"/>
                    </a:p>
                  </a:txBody>
                  <a:tcPr/>
                </a:tc>
                <a:extLst>
                  <a:ext uri="{0D108BD9-81ED-4DB2-BD59-A6C34878D82A}">
                    <a16:rowId xmlns:a16="http://schemas.microsoft.com/office/drawing/2014/main" val="974599847"/>
                  </a:ext>
                </a:extLst>
              </a:tr>
              <a:tr h="681858">
                <a:tc>
                  <a:txBody>
                    <a:bodyPr/>
                    <a:lstStyle/>
                    <a:p>
                      <a:r>
                        <a:rPr lang="zh-CN" altLang="en-US"/>
                        <a:t>Positive</a:t>
                      </a:r>
                    </a:p>
                  </a:txBody>
                  <a:tcPr/>
                </a:tc>
                <a:tc>
                  <a:txBody>
                    <a:bodyPr/>
                    <a:lstStyle/>
                    <a:p>
                      <a:r>
                        <a:rPr lang="zh-CN" altLang="en-US"/>
                        <a:t>50%</a:t>
                      </a:r>
                    </a:p>
                  </a:txBody>
                  <a:tcPr/>
                </a:tc>
                <a:tc>
                  <a:txBody>
                    <a:bodyPr/>
                    <a:lstStyle/>
                    <a:p>
                      <a:r>
                        <a:rPr lang="zh-CN" altLang="en-US"/>
                        <a:t>0%</a:t>
                      </a:r>
                    </a:p>
                  </a:txBody>
                  <a:tcPr/>
                </a:tc>
                <a:tc>
                  <a:txBody>
                    <a:bodyPr/>
                    <a:lstStyle/>
                    <a:p>
                      <a:r>
                        <a:rPr lang="zh-CN" altLang="en-US"/>
                        <a:t>1%</a:t>
                      </a:r>
                    </a:p>
                  </a:txBody>
                  <a:tcPr/>
                </a:tc>
                <a:tc>
                  <a:txBody>
                    <a:bodyPr/>
                    <a:lstStyle/>
                    <a:p>
                      <a:endParaRPr lang="zh-CN" altLang="en-US"/>
                    </a:p>
                  </a:txBody>
                  <a:tcPr/>
                </a:tc>
                <a:extLst>
                  <a:ext uri="{0D108BD9-81ED-4DB2-BD59-A6C34878D82A}">
                    <a16:rowId xmlns:a16="http://schemas.microsoft.com/office/drawing/2014/main" val="3588281523"/>
                  </a:ext>
                </a:extLst>
              </a:tr>
              <a:tr h="681858">
                <a:tc>
                  <a:txBody>
                    <a:bodyPr/>
                    <a:lstStyle/>
                    <a:p>
                      <a:pPr lvl="0">
                        <a:buNone/>
                      </a:pPr>
                      <a:r>
                        <a:rPr lang="zh-CN" altLang="en-US"/>
                        <a:t>Average</a:t>
                      </a:r>
                    </a:p>
                  </a:txBody>
                  <a:tcPr/>
                </a:tc>
                <a:tc>
                  <a:txBody>
                    <a:bodyPr/>
                    <a:lstStyle/>
                    <a:p>
                      <a:pPr lvl="0">
                        <a:buNone/>
                      </a:pPr>
                      <a:r>
                        <a:rPr lang="zh-CN" altLang="en-US"/>
                        <a:t>76%</a:t>
                      </a:r>
                    </a:p>
                  </a:txBody>
                  <a:tcPr/>
                </a:tc>
                <a:tc>
                  <a:txBody>
                    <a:bodyPr/>
                    <a:lstStyle/>
                    <a:p>
                      <a:pPr lvl="0">
                        <a:buNone/>
                      </a:pPr>
                      <a:r>
                        <a:rPr lang="zh-CN" altLang="en-US"/>
                        <a:t>79%</a:t>
                      </a:r>
                    </a:p>
                  </a:txBody>
                  <a:tcPr/>
                </a:tc>
                <a:tc>
                  <a:txBody>
                    <a:bodyPr/>
                    <a:lstStyle/>
                    <a:p>
                      <a:pPr lvl="0">
                        <a:buNone/>
                      </a:pPr>
                      <a:r>
                        <a:rPr lang="zh-CN" altLang="en-US"/>
                        <a:t>74%</a:t>
                      </a:r>
                    </a:p>
                  </a:txBody>
                  <a:tcPr/>
                </a:tc>
                <a:tc>
                  <a:txBody>
                    <a:bodyPr/>
                    <a:lstStyle/>
                    <a:p>
                      <a:pPr lvl="0">
                        <a:buNone/>
                      </a:pPr>
                      <a:r>
                        <a:rPr lang="zh-CN" altLang="en-US"/>
                        <a:t>79%</a:t>
                      </a:r>
                    </a:p>
                  </a:txBody>
                  <a:tcPr/>
                </a:tc>
                <a:extLst>
                  <a:ext uri="{0D108BD9-81ED-4DB2-BD59-A6C34878D82A}">
                    <a16:rowId xmlns:a16="http://schemas.microsoft.com/office/drawing/2014/main" val="726173327"/>
                  </a:ext>
                </a:extLst>
              </a:tr>
            </a:tbl>
          </a:graphicData>
        </a:graphic>
      </p:graphicFrame>
    </p:spTree>
    <p:extLst>
      <p:ext uri="{BB962C8B-B14F-4D97-AF65-F5344CB8AC3E}">
        <p14:creationId xmlns:p14="http://schemas.microsoft.com/office/powerpoint/2010/main" val="1061075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99388-E768-91AD-CA02-5474B83D8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5AAC0-BA6D-9BAA-27FC-271EAE594D00}"/>
              </a:ext>
            </a:extLst>
          </p:cNvPr>
          <p:cNvSpPr>
            <a:spLocks noGrp="1"/>
          </p:cNvSpPr>
          <p:nvPr>
            <p:ph type="title"/>
          </p:nvPr>
        </p:nvSpPr>
        <p:spPr>
          <a:xfrm>
            <a:off x="231648" y="136525"/>
            <a:ext cx="11631168" cy="838835"/>
          </a:xfrm>
        </p:spPr>
        <p:txBody>
          <a:bodyPr>
            <a:normAutofit/>
          </a:bodyPr>
          <a:lstStyle/>
          <a:p>
            <a:r>
              <a:rPr lang="en-GB">
                <a:latin typeface="Arial"/>
                <a:ea typeface="Roboto"/>
                <a:cs typeface="Arial"/>
              </a:rPr>
              <a:t>Multinomial Naive Bayes Performance</a:t>
            </a:r>
            <a:endParaRPr lang="zh-CN"/>
          </a:p>
        </p:txBody>
      </p:sp>
      <p:sp>
        <p:nvSpPr>
          <p:cNvPr id="3" name="Content Placeholder 2">
            <a:extLst>
              <a:ext uri="{FF2B5EF4-FFF2-40B4-BE49-F238E27FC236}">
                <a16:creationId xmlns:a16="http://schemas.microsoft.com/office/drawing/2014/main" id="{D142305D-15EF-E746-C5A0-FAEA953FD0D6}"/>
              </a:ext>
            </a:extLst>
          </p:cNvPr>
          <p:cNvSpPr>
            <a:spLocks noGrp="1"/>
          </p:cNvSpPr>
          <p:nvPr>
            <p:ph idx="1"/>
          </p:nvPr>
        </p:nvSpPr>
        <p:spPr>
          <a:xfrm>
            <a:off x="553757" y="3756220"/>
            <a:ext cx="10804896" cy="2374718"/>
          </a:xfrm>
        </p:spPr>
        <p:txBody>
          <a:bodyPr vert="horz" lIns="91440" tIns="45720" rIns="91440" bIns="45720" rtlCol="0" anchor="t">
            <a:normAutofit/>
          </a:bodyPr>
          <a:lstStyle/>
          <a:p>
            <a:pPr marL="457200" indent="-457200">
              <a:buFont typeface="Wingdings" panose="020B0604020202020204" pitchFamily="34" charset="0"/>
              <a:buChar char="Ø"/>
            </a:pPr>
            <a:r>
              <a:rPr lang="en-AU">
                <a:latin typeface="Arial"/>
                <a:ea typeface="Roboto"/>
                <a:cs typeface="Arial"/>
              </a:rPr>
              <a:t>Uses word frequencies instead of binary features</a:t>
            </a:r>
            <a:endParaRPr lang="en-AU">
              <a:latin typeface="Arial"/>
              <a:cs typeface="Arial"/>
            </a:endParaRPr>
          </a:p>
          <a:p>
            <a:pPr>
              <a:buFont typeface="Wingdings" pitchFamily="2" charset="2"/>
              <a:buChar char="Ø"/>
            </a:pPr>
            <a:r>
              <a:rPr lang="en-AU">
                <a:latin typeface="Arial"/>
                <a:ea typeface="Roboto"/>
                <a:cs typeface="Arial"/>
              </a:rPr>
              <a:t> Slightly better than BNB overall</a:t>
            </a:r>
          </a:p>
          <a:p>
            <a:pPr>
              <a:buFont typeface="Wingdings" pitchFamily="2" charset="2"/>
              <a:buChar char="Ø"/>
            </a:pPr>
            <a:r>
              <a:rPr lang="en-AU">
                <a:latin typeface="Arial"/>
                <a:ea typeface="Roboto"/>
                <a:cs typeface="Arial"/>
              </a:rPr>
              <a:t> Still struggles with positive sentiment</a:t>
            </a:r>
          </a:p>
          <a:p>
            <a:pPr>
              <a:buFont typeface="Wingdings" pitchFamily="2" charset="2"/>
              <a:buChar char="Ø"/>
            </a:pPr>
            <a:r>
              <a:rPr lang="en-AU">
                <a:latin typeface="Arial"/>
                <a:ea typeface="Roboto"/>
                <a:cs typeface="Arial"/>
              </a:rPr>
              <a:t> Improvement, but still limited by independence assumption</a:t>
            </a:r>
          </a:p>
          <a:p>
            <a:pPr lvl="1">
              <a:buFont typeface="Courier New" pitchFamily="2" charset="2"/>
              <a:buChar char="o"/>
            </a:pPr>
            <a:endParaRPr lang="en-AU">
              <a:latin typeface="Arial"/>
              <a:cs typeface="Arial"/>
            </a:endParaRPr>
          </a:p>
        </p:txBody>
      </p:sp>
      <p:sp>
        <p:nvSpPr>
          <p:cNvPr id="4" name="Slide Number Placeholder 3">
            <a:extLst>
              <a:ext uri="{FF2B5EF4-FFF2-40B4-BE49-F238E27FC236}">
                <a16:creationId xmlns:a16="http://schemas.microsoft.com/office/drawing/2014/main" id="{9DAD4862-7934-19DA-B25D-3022B5609227}"/>
              </a:ext>
            </a:extLst>
          </p:cNvPr>
          <p:cNvSpPr>
            <a:spLocks noGrp="1"/>
          </p:cNvSpPr>
          <p:nvPr>
            <p:ph type="sldNum" sz="quarter" idx="12"/>
          </p:nvPr>
        </p:nvSpPr>
        <p:spPr/>
        <p:txBody>
          <a:bodyPr/>
          <a:lstStyle/>
          <a:p>
            <a:fld id="{6BAD6A8B-B5C3-4437-A9DE-A8C2149171DD}" type="slidenum">
              <a:rPr lang="en-AU" smtClean="0"/>
              <a:t>14</a:t>
            </a:fld>
            <a:endParaRPr lang="en-AU"/>
          </a:p>
        </p:txBody>
      </p:sp>
      <p:sp>
        <p:nvSpPr>
          <p:cNvPr id="6" name="TextBox 5">
            <a:extLst>
              <a:ext uri="{FF2B5EF4-FFF2-40B4-BE49-F238E27FC236}">
                <a16:creationId xmlns:a16="http://schemas.microsoft.com/office/drawing/2014/main" id="{DE342910-3D21-69B7-26C6-A13AFC531E36}"/>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Yewei Huang (z5459400)</a:t>
            </a:r>
          </a:p>
        </p:txBody>
      </p:sp>
      <p:graphicFrame>
        <p:nvGraphicFramePr>
          <p:cNvPr id="7" name="表格 6">
            <a:extLst>
              <a:ext uri="{FF2B5EF4-FFF2-40B4-BE49-F238E27FC236}">
                <a16:creationId xmlns:a16="http://schemas.microsoft.com/office/drawing/2014/main" id="{39F50B9D-B853-FED6-825B-BC549BC2FAC6}"/>
              </a:ext>
            </a:extLst>
          </p:cNvPr>
          <p:cNvGraphicFramePr>
            <a:graphicFrameLocks noGrp="1"/>
          </p:cNvGraphicFramePr>
          <p:nvPr>
            <p:extLst>
              <p:ext uri="{D42A27DB-BD31-4B8C-83A1-F6EECF244321}">
                <p14:modId xmlns:p14="http://schemas.microsoft.com/office/powerpoint/2010/main" val="2365261499"/>
              </p:ext>
            </p:extLst>
          </p:nvPr>
        </p:nvGraphicFramePr>
        <p:xfrm>
          <a:off x="1508234" y="1014248"/>
          <a:ext cx="9179250" cy="2616260"/>
        </p:xfrm>
        <a:graphic>
          <a:graphicData uri="http://schemas.openxmlformats.org/drawingml/2006/table">
            <a:tbl>
              <a:tblPr firstRow="1" bandRow="1">
                <a:tableStyleId>{5C22544A-7EE6-4342-B048-85BDC9FD1C3A}</a:tableStyleId>
              </a:tblPr>
              <a:tblGrid>
                <a:gridCol w="1835850">
                  <a:extLst>
                    <a:ext uri="{9D8B030D-6E8A-4147-A177-3AD203B41FA5}">
                      <a16:colId xmlns:a16="http://schemas.microsoft.com/office/drawing/2014/main" val="1632210879"/>
                    </a:ext>
                  </a:extLst>
                </a:gridCol>
                <a:gridCol w="1835850">
                  <a:extLst>
                    <a:ext uri="{9D8B030D-6E8A-4147-A177-3AD203B41FA5}">
                      <a16:colId xmlns:a16="http://schemas.microsoft.com/office/drawing/2014/main" val="2758001264"/>
                    </a:ext>
                  </a:extLst>
                </a:gridCol>
                <a:gridCol w="1835850">
                  <a:extLst>
                    <a:ext uri="{9D8B030D-6E8A-4147-A177-3AD203B41FA5}">
                      <a16:colId xmlns:a16="http://schemas.microsoft.com/office/drawing/2014/main" val="3307147138"/>
                    </a:ext>
                  </a:extLst>
                </a:gridCol>
                <a:gridCol w="1835850">
                  <a:extLst>
                    <a:ext uri="{9D8B030D-6E8A-4147-A177-3AD203B41FA5}">
                      <a16:colId xmlns:a16="http://schemas.microsoft.com/office/drawing/2014/main" val="2857274169"/>
                    </a:ext>
                  </a:extLst>
                </a:gridCol>
                <a:gridCol w="1835850">
                  <a:extLst>
                    <a:ext uri="{9D8B030D-6E8A-4147-A177-3AD203B41FA5}">
                      <a16:colId xmlns:a16="http://schemas.microsoft.com/office/drawing/2014/main" val="3904885140"/>
                    </a:ext>
                  </a:extLst>
                </a:gridCol>
              </a:tblGrid>
              <a:tr h="523252">
                <a:tc>
                  <a:txBody>
                    <a:bodyPr/>
                    <a:lstStyle/>
                    <a:p>
                      <a:endParaRPr lang="zh-CN" altLang="en-US"/>
                    </a:p>
                  </a:txBody>
                  <a:tcPr/>
                </a:tc>
                <a:tc>
                  <a:txBody>
                    <a:bodyPr/>
                    <a:lstStyle/>
                    <a:p>
                      <a:r>
                        <a:rPr lang="zh-CN" altLang="en-US"/>
                        <a:t>Precision</a:t>
                      </a:r>
                    </a:p>
                  </a:txBody>
                  <a:tcPr/>
                </a:tc>
                <a:tc>
                  <a:txBody>
                    <a:bodyPr/>
                    <a:lstStyle/>
                    <a:p>
                      <a:r>
                        <a:rPr lang="zh-CN" altLang="en-US"/>
                        <a:t>Recall</a:t>
                      </a:r>
                    </a:p>
                  </a:txBody>
                  <a:tcPr/>
                </a:tc>
                <a:tc>
                  <a:txBody>
                    <a:bodyPr/>
                    <a:lstStyle/>
                    <a:p>
                      <a:r>
                        <a:rPr lang="zh-CN" altLang="en-US"/>
                        <a:t>F1-score</a:t>
                      </a:r>
                    </a:p>
                  </a:txBody>
                  <a:tcPr/>
                </a:tc>
                <a:tc>
                  <a:txBody>
                    <a:bodyPr/>
                    <a:lstStyle/>
                    <a:p>
                      <a:r>
                        <a:rPr lang="zh-CN" altLang="en-US"/>
                        <a:t>Accuracy</a:t>
                      </a:r>
                    </a:p>
                  </a:txBody>
                  <a:tcPr/>
                </a:tc>
                <a:extLst>
                  <a:ext uri="{0D108BD9-81ED-4DB2-BD59-A6C34878D82A}">
                    <a16:rowId xmlns:a16="http://schemas.microsoft.com/office/drawing/2014/main" val="1383378963"/>
                  </a:ext>
                </a:extLst>
              </a:tr>
              <a:tr h="523252">
                <a:tc>
                  <a:txBody>
                    <a:bodyPr/>
                    <a:lstStyle/>
                    <a:p>
                      <a:r>
                        <a:rPr lang="zh-CN" altLang="en-US"/>
                        <a:t>Negative</a:t>
                      </a:r>
                    </a:p>
                  </a:txBody>
                  <a:tcPr/>
                </a:tc>
                <a:tc>
                  <a:txBody>
                    <a:bodyPr/>
                    <a:lstStyle/>
                    <a:p>
                      <a:r>
                        <a:rPr lang="zh-CN" altLang="en-US"/>
                        <a:t>78%</a:t>
                      </a:r>
                    </a:p>
                  </a:txBody>
                  <a:tcPr/>
                </a:tc>
                <a:tc>
                  <a:txBody>
                    <a:bodyPr/>
                    <a:lstStyle/>
                    <a:p>
                      <a:r>
                        <a:rPr lang="zh-CN" altLang="en-US"/>
                        <a:t>46%</a:t>
                      </a:r>
                    </a:p>
                  </a:txBody>
                  <a:tcPr/>
                </a:tc>
                <a:tc>
                  <a:txBody>
                    <a:bodyPr/>
                    <a:lstStyle/>
                    <a:p>
                      <a:r>
                        <a:rPr lang="zh-CN" altLang="en-US"/>
                        <a:t>58%</a:t>
                      </a:r>
                    </a:p>
                  </a:txBody>
                  <a:tcPr/>
                </a:tc>
                <a:tc>
                  <a:txBody>
                    <a:bodyPr/>
                    <a:lstStyle/>
                    <a:p>
                      <a:endParaRPr lang="zh-CN" altLang="en-US"/>
                    </a:p>
                  </a:txBody>
                  <a:tcPr/>
                </a:tc>
                <a:extLst>
                  <a:ext uri="{0D108BD9-81ED-4DB2-BD59-A6C34878D82A}">
                    <a16:rowId xmlns:a16="http://schemas.microsoft.com/office/drawing/2014/main" val="1928565477"/>
                  </a:ext>
                </a:extLst>
              </a:tr>
              <a:tr h="523252">
                <a:tc>
                  <a:txBody>
                    <a:bodyPr/>
                    <a:lstStyle/>
                    <a:p>
                      <a:r>
                        <a:rPr lang="zh-CN" altLang="en-US"/>
                        <a:t>Neutral</a:t>
                      </a:r>
                    </a:p>
                  </a:txBody>
                  <a:tcPr/>
                </a:tc>
                <a:tc>
                  <a:txBody>
                    <a:bodyPr/>
                    <a:lstStyle/>
                    <a:p>
                      <a:r>
                        <a:rPr lang="zh-CN" altLang="en-US"/>
                        <a:t>81%</a:t>
                      </a:r>
                    </a:p>
                  </a:txBody>
                  <a:tcPr/>
                </a:tc>
                <a:tc>
                  <a:txBody>
                    <a:bodyPr/>
                    <a:lstStyle/>
                    <a:p>
                      <a:r>
                        <a:rPr lang="zh-CN" altLang="en-US"/>
                        <a:t>97%</a:t>
                      </a:r>
                    </a:p>
                  </a:txBody>
                  <a:tcPr/>
                </a:tc>
                <a:tc>
                  <a:txBody>
                    <a:bodyPr/>
                    <a:lstStyle/>
                    <a:p>
                      <a:r>
                        <a:rPr lang="zh-CN" altLang="en-US"/>
                        <a:t>88%</a:t>
                      </a:r>
                    </a:p>
                  </a:txBody>
                  <a:tcPr/>
                </a:tc>
                <a:tc>
                  <a:txBody>
                    <a:bodyPr/>
                    <a:lstStyle/>
                    <a:p>
                      <a:endParaRPr lang="zh-CN" altLang="en-US"/>
                    </a:p>
                  </a:txBody>
                  <a:tcPr/>
                </a:tc>
                <a:extLst>
                  <a:ext uri="{0D108BD9-81ED-4DB2-BD59-A6C34878D82A}">
                    <a16:rowId xmlns:a16="http://schemas.microsoft.com/office/drawing/2014/main" val="974599847"/>
                  </a:ext>
                </a:extLst>
              </a:tr>
              <a:tr h="523252">
                <a:tc>
                  <a:txBody>
                    <a:bodyPr/>
                    <a:lstStyle/>
                    <a:p>
                      <a:r>
                        <a:rPr lang="zh-CN" altLang="en-US"/>
                        <a:t>Positive</a:t>
                      </a:r>
                    </a:p>
                  </a:txBody>
                  <a:tcPr/>
                </a:tc>
                <a:tc>
                  <a:txBody>
                    <a:bodyPr/>
                    <a:lstStyle/>
                    <a:p>
                      <a:r>
                        <a:rPr lang="zh-CN" altLang="en-US"/>
                        <a:t>67%</a:t>
                      </a:r>
                    </a:p>
                  </a:txBody>
                  <a:tcPr/>
                </a:tc>
                <a:tc>
                  <a:txBody>
                    <a:bodyPr/>
                    <a:lstStyle/>
                    <a:p>
                      <a:r>
                        <a:rPr lang="zh-CN" altLang="en-US"/>
                        <a:t>4%</a:t>
                      </a:r>
                    </a:p>
                  </a:txBody>
                  <a:tcPr/>
                </a:tc>
                <a:tc>
                  <a:txBody>
                    <a:bodyPr/>
                    <a:lstStyle/>
                    <a:p>
                      <a:r>
                        <a:rPr lang="zh-CN" altLang="en-US"/>
                        <a:t>7%</a:t>
                      </a:r>
                    </a:p>
                  </a:txBody>
                  <a:tcPr/>
                </a:tc>
                <a:tc>
                  <a:txBody>
                    <a:bodyPr/>
                    <a:lstStyle/>
                    <a:p>
                      <a:endParaRPr lang="zh-CN" altLang="en-US"/>
                    </a:p>
                  </a:txBody>
                  <a:tcPr/>
                </a:tc>
                <a:extLst>
                  <a:ext uri="{0D108BD9-81ED-4DB2-BD59-A6C34878D82A}">
                    <a16:rowId xmlns:a16="http://schemas.microsoft.com/office/drawing/2014/main" val="3588281523"/>
                  </a:ext>
                </a:extLst>
              </a:tr>
              <a:tr h="523252">
                <a:tc>
                  <a:txBody>
                    <a:bodyPr/>
                    <a:lstStyle/>
                    <a:p>
                      <a:pPr lvl="0">
                        <a:buNone/>
                      </a:pPr>
                      <a:r>
                        <a:rPr lang="zh-CN" altLang="en-US"/>
                        <a:t>Average</a:t>
                      </a:r>
                    </a:p>
                  </a:txBody>
                  <a:tcPr/>
                </a:tc>
                <a:tc>
                  <a:txBody>
                    <a:bodyPr/>
                    <a:lstStyle/>
                    <a:p>
                      <a:pPr lvl="0">
                        <a:buNone/>
                      </a:pPr>
                      <a:r>
                        <a:rPr lang="zh-CN" altLang="en-US"/>
                        <a:t>80%</a:t>
                      </a:r>
                    </a:p>
                  </a:txBody>
                  <a:tcPr/>
                </a:tc>
                <a:tc>
                  <a:txBody>
                    <a:bodyPr/>
                    <a:lstStyle/>
                    <a:p>
                      <a:pPr lvl="0">
                        <a:buNone/>
                      </a:pPr>
                      <a:r>
                        <a:rPr lang="zh-CN" altLang="en-US"/>
                        <a:t>81%</a:t>
                      </a:r>
                    </a:p>
                  </a:txBody>
                  <a:tcPr/>
                </a:tc>
                <a:tc>
                  <a:txBody>
                    <a:bodyPr/>
                    <a:lstStyle/>
                    <a:p>
                      <a:pPr lvl="0">
                        <a:buNone/>
                      </a:pPr>
                      <a:r>
                        <a:rPr lang="zh-CN" altLang="en-US"/>
                        <a:t>77%</a:t>
                      </a:r>
                    </a:p>
                  </a:txBody>
                  <a:tcPr/>
                </a:tc>
                <a:tc>
                  <a:txBody>
                    <a:bodyPr/>
                    <a:lstStyle/>
                    <a:p>
                      <a:pPr lvl="0">
                        <a:buNone/>
                      </a:pPr>
                      <a:r>
                        <a:rPr lang="zh-CN" altLang="en-US"/>
                        <a:t>81%</a:t>
                      </a:r>
                    </a:p>
                  </a:txBody>
                  <a:tcPr/>
                </a:tc>
                <a:extLst>
                  <a:ext uri="{0D108BD9-81ED-4DB2-BD59-A6C34878D82A}">
                    <a16:rowId xmlns:a16="http://schemas.microsoft.com/office/drawing/2014/main" val="2051459119"/>
                  </a:ext>
                </a:extLst>
              </a:tr>
            </a:tbl>
          </a:graphicData>
        </a:graphic>
      </p:graphicFrame>
    </p:spTree>
    <p:extLst>
      <p:ext uri="{BB962C8B-B14F-4D97-AF65-F5344CB8AC3E}">
        <p14:creationId xmlns:p14="http://schemas.microsoft.com/office/powerpoint/2010/main" val="1963130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B1168-D4EA-22A5-422A-4739C6BE0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EEC669-BA88-D44F-93F8-164386A5E6AE}"/>
              </a:ext>
            </a:extLst>
          </p:cNvPr>
          <p:cNvSpPr>
            <a:spLocks noGrp="1"/>
          </p:cNvSpPr>
          <p:nvPr>
            <p:ph type="title"/>
          </p:nvPr>
        </p:nvSpPr>
        <p:spPr>
          <a:xfrm>
            <a:off x="231648" y="136525"/>
            <a:ext cx="11631168" cy="838835"/>
          </a:xfrm>
        </p:spPr>
        <p:txBody>
          <a:bodyPr>
            <a:normAutofit/>
          </a:bodyPr>
          <a:lstStyle/>
          <a:p>
            <a:r>
              <a:rPr lang="en-GB">
                <a:latin typeface="Arial"/>
                <a:ea typeface="Roboto"/>
                <a:cs typeface="Arial"/>
              </a:rPr>
              <a:t>Logistic Regression Performance</a:t>
            </a:r>
            <a:endParaRPr lang="zh-CN">
              <a:latin typeface="Arial"/>
              <a:cs typeface="Arial"/>
            </a:endParaRPr>
          </a:p>
        </p:txBody>
      </p:sp>
      <p:sp>
        <p:nvSpPr>
          <p:cNvPr id="3" name="Content Placeholder 2">
            <a:extLst>
              <a:ext uri="{FF2B5EF4-FFF2-40B4-BE49-F238E27FC236}">
                <a16:creationId xmlns:a16="http://schemas.microsoft.com/office/drawing/2014/main" id="{3DCE10E6-A8FD-FE42-FEE4-7C38D4F7EFDC}"/>
              </a:ext>
            </a:extLst>
          </p:cNvPr>
          <p:cNvSpPr>
            <a:spLocks noGrp="1"/>
          </p:cNvSpPr>
          <p:nvPr>
            <p:ph idx="1"/>
          </p:nvPr>
        </p:nvSpPr>
        <p:spPr>
          <a:xfrm>
            <a:off x="231648" y="3433887"/>
            <a:ext cx="11623133" cy="3050095"/>
          </a:xfrm>
        </p:spPr>
        <p:txBody>
          <a:bodyPr vert="horz" lIns="91440" tIns="45720" rIns="91440" bIns="45720" rtlCol="0" anchor="t">
            <a:normAutofit/>
          </a:bodyPr>
          <a:lstStyle/>
          <a:p>
            <a:pPr marL="457200" indent="-457200">
              <a:buFont typeface="Wingdings" panose="020B0604020202020204" pitchFamily="34" charset="0"/>
              <a:buChar char="Ø"/>
            </a:pPr>
            <a:r>
              <a:rPr lang="en-AU">
                <a:latin typeface="Arial"/>
                <a:ea typeface="Roboto"/>
                <a:cs typeface="Arial"/>
              </a:rPr>
              <a:t>Learns word weights directly to predict sentiment probability</a:t>
            </a:r>
            <a:endParaRPr lang="en-AU">
              <a:latin typeface="Arial"/>
              <a:cs typeface="Arial"/>
            </a:endParaRPr>
          </a:p>
          <a:p>
            <a:pPr>
              <a:buFont typeface="Wingdings" pitchFamily="2" charset="2"/>
              <a:buChar char="Ø"/>
            </a:pPr>
            <a:r>
              <a:rPr lang="en-AU">
                <a:latin typeface="Arial"/>
                <a:ea typeface="Roboto"/>
                <a:cs typeface="Arial"/>
              </a:rPr>
              <a:t> No independence assumption — captures word interactions</a:t>
            </a:r>
            <a:endParaRPr lang="en-AU">
              <a:latin typeface="Arial"/>
              <a:cs typeface="Arial"/>
            </a:endParaRPr>
          </a:p>
          <a:p>
            <a:pPr>
              <a:buFont typeface="Wingdings" pitchFamily="2" charset="2"/>
              <a:buChar char="Ø"/>
            </a:pPr>
            <a:r>
              <a:rPr lang="en-AU">
                <a:latin typeface="Arial"/>
                <a:ea typeface="Roboto"/>
                <a:cs typeface="Arial"/>
              </a:rPr>
              <a:t> Significantly outperforms both BNB and MNB</a:t>
            </a:r>
            <a:endParaRPr lang="en-AU">
              <a:latin typeface="Arial"/>
              <a:cs typeface="Arial"/>
            </a:endParaRPr>
          </a:p>
          <a:p>
            <a:pPr>
              <a:buFont typeface="Wingdings" pitchFamily="2" charset="2"/>
              <a:buChar char="Ø"/>
            </a:pPr>
            <a:r>
              <a:rPr lang="en-AU">
                <a:latin typeface="Arial"/>
                <a:ea typeface="Roboto"/>
                <a:cs typeface="Arial"/>
              </a:rPr>
              <a:t> Handles class imbalance much better</a:t>
            </a:r>
            <a:endParaRPr lang="en-AU">
              <a:latin typeface="Arial"/>
              <a:cs typeface="Arial"/>
            </a:endParaRPr>
          </a:p>
          <a:p>
            <a:pPr>
              <a:buFont typeface="Wingdings" pitchFamily="2" charset="2"/>
              <a:buChar char="Ø"/>
            </a:pPr>
            <a:r>
              <a:rPr lang="en-AU">
                <a:latin typeface="Arial"/>
                <a:ea typeface="Roboto"/>
                <a:cs typeface="Arial"/>
              </a:rPr>
              <a:t> Especially improves performance for positive and negative sentiments</a:t>
            </a:r>
            <a:endParaRPr lang="en-AU">
              <a:latin typeface="Arial"/>
              <a:cs typeface="Arial"/>
            </a:endParaRPr>
          </a:p>
          <a:p>
            <a:pPr>
              <a:buFont typeface="Wingdings" pitchFamily="2" charset="2"/>
              <a:buChar char="Ø"/>
            </a:pPr>
            <a:endParaRPr lang="en-AU">
              <a:ea typeface="Roboto"/>
            </a:endParaRPr>
          </a:p>
        </p:txBody>
      </p:sp>
      <p:sp>
        <p:nvSpPr>
          <p:cNvPr id="4" name="Slide Number Placeholder 3">
            <a:extLst>
              <a:ext uri="{FF2B5EF4-FFF2-40B4-BE49-F238E27FC236}">
                <a16:creationId xmlns:a16="http://schemas.microsoft.com/office/drawing/2014/main" id="{E0F6DE7F-13EC-BB9B-8A7F-1141A6478C1A}"/>
              </a:ext>
            </a:extLst>
          </p:cNvPr>
          <p:cNvSpPr>
            <a:spLocks noGrp="1"/>
          </p:cNvSpPr>
          <p:nvPr>
            <p:ph type="sldNum" sz="quarter" idx="12"/>
          </p:nvPr>
        </p:nvSpPr>
        <p:spPr/>
        <p:txBody>
          <a:bodyPr/>
          <a:lstStyle/>
          <a:p>
            <a:fld id="{6BAD6A8B-B5C3-4437-A9DE-A8C2149171DD}" type="slidenum">
              <a:rPr lang="en-AU" smtClean="0"/>
              <a:t>15</a:t>
            </a:fld>
            <a:endParaRPr lang="en-AU"/>
          </a:p>
        </p:txBody>
      </p:sp>
      <p:sp>
        <p:nvSpPr>
          <p:cNvPr id="6" name="TextBox 5">
            <a:extLst>
              <a:ext uri="{FF2B5EF4-FFF2-40B4-BE49-F238E27FC236}">
                <a16:creationId xmlns:a16="http://schemas.microsoft.com/office/drawing/2014/main" id="{D36D1B12-0765-B91D-5E87-5095ACC846BC}"/>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Yewei Huang (z5459400)</a:t>
            </a:r>
          </a:p>
        </p:txBody>
      </p:sp>
      <p:graphicFrame>
        <p:nvGraphicFramePr>
          <p:cNvPr id="7" name="表格 6">
            <a:extLst>
              <a:ext uri="{FF2B5EF4-FFF2-40B4-BE49-F238E27FC236}">
                <a16:creationId xmlns:a16="http://schemas.microsoft.com/office/drawing/2014/main" id="{621810BE-F5FE-8DF1-C950-294785D4D04E}"/>
              </a:ext>
            </a:extLst>
          </p:cNvPr>
          <p:cNvGraphicFramePr>
            <a:graphicFrameLocks noGrp="1"/>
          </p:cNvGraphicFramePr>
          <p:nvPr>
            <p:extLst>
              <p:ext uri="{D42A27DB-BD31-4B8C-83A1-F6EECF244321}">
                <p14:modId xmlns:p14="http://schemas.microsoft.com/office/powerpoint/2010/main" val="188101766"/>
              </p:ext>
            </p:extLst>
          </p:nvPr>
        </p:nvGraphicFramePr>
        <p:xfrm>
          <a:off x="1279584" y="862641"/>
          <a:ext cx="9497705" cy="2505080"/>
        </p:xfrm>
        <a:graphic>
          <a:graphicData uri="http://schemas.openxmlformats.org/drawingml/2006/table">
            <a:tbl>
              <a:tblPr firstRow="1" bandRow="1">
                <a:tableStyleId>{5C22544A-7EE6-4342-B048-85BDC9FD1C3A}</a:tableStyleId>
              </a:tblPr>
              <a:tblGrid>
                <a:gridCol w="1899541">
                  <a:extLst>
                    <a:ext uri="{9D8B030D-6E8A-4147-A177-3AD203B41FA5}">
                      <a16:colId xmlns:a16="http://schemas.microsoft.com/office/drawing/2014/main" val="1632210879"/>
                    </a:ext>
                  </a:extLst>
                </a:gridCol>
                <a:gridCol w="1899541">
                  <a:extLst>
                    <a:ext uri="{9D8B030D-6E8A-4147-A177-3AD203B41FA5}">
                      <a16:colId xmlns:a16="http://schemas.microsoft.com/office/drawing/2014/main" val="2758001264"/>
                    </a:ext>
                  </a:extLst>
                </a:gridCol>
                <a:gridCol w="1899541">
                  <a:extLst>
                    <a:ext uri="{9D8B030D-6E8A-4147-A177-3AD203B41FA5}">
                      <a16:colId xmlns:a16="http://schemas.microsoft.com/office/drawing/2014/main" val="3307147138"/>
                    </a:ext>
                  </a:extLst>
                </a:gridCol>
                <a:gridCol w="1899541">
                  <a:extLst>
                    <a:ext uri="{9D8B030D-6E8A-4147-A177-3AD203B41FA5}">
                      <a16:colId xmlns:a16="http://schemas.microsoft.com/office/drawing/2014/main" val="2857274169"/>
                    </a:ext>
                  </a:extLst>
                </a:gridCol>
                <a:gridCol w="1899541">
                  <a:extLst>
                    <a:ext uri="{9D8B030D-6E8A-4147-A177-3AD203B41FA5}">
                      <a16:colId xmlns:a16="http://schemas.microsoft.com/office/drawing/2014/main" val="3904885140"/>
                    </a:ext>
                  </a:extLst>
                </a:gridCol>
              </a:tblGrid>
              <a:tr h="501016">
                <a:tc>
                  <a:txBody>
                    <a:bodyPr/>
                    <a:lstStyle/>
                    <a:p>
                      <a:endParaRPr lang="zh-CN" altLang="en-US"/>
                    </a:p>
                  </a:txBody>
                  <a:tcPr/>
                </a:tc>
                <a:tc>
                  <a:txBody>
                    <a:bodyPr/>
                    <a:lstStyle/>
                    <a:p>
                      <a:r>
                        <a:rPr lang="zh-CN" altLang="en-US"/>
                        <a:t>Precision</a:t>
                      </a:r>
                    </a:p>
                  </a:txBody>
                  <a:tcPr/>
                </a:tc>
                <a:tc>
                  <a:txBody>
                    <a:bodyPr/>
                    <a:lstStyle/>
                    <a:p>
                      <a:r>
                        <a:rPr lang="zh-CN" altLang="en-US"/>
                        <a:t>Recall</a:t>
                      </a:r>
                    </a:p>
                  </a:txBody>
                  <a:tcPr/>
                </a:tc>
                <a:tc>
                  <a:txBody>
                    <a:bodyPr/>
                    <a:lstStyle/>
                    <a:p>
                      <a:r>
                        <a:rPr lang="zh-CN" altLang="en-US"/>
                        <a:t>F1-score</a:t>
                      </a:r>
                    </a:p>
                  </a:txBody>
                  <a:tcPr/>
                </a:tc>
                <a:tc>
                  <a:txBody>
                    <a:bodyPr/>
                    <a:lstStyle/>
                    <a:p>
                      <a:r>
                        <a:rPr lang="zh-CN" altLang="en-US"/>
                        <a:t>Accuracy</a:t>
                      </a:r>
                    </a:p>
                  </a:txBody>
                  <a:tcPr/>
                </a:tc>
                <a:extLst>
                  <a:ext uri="{0D108BD9-81ED-4DB2-BD59-A6C34878D82A}">
                    <a16:rowId xmlns:a16="http://schemas.microsoft.com/office/drawing/2014/main" val="1383378963"/>
                  </a:ext>
                </a:extLst>
              </a:tr>
              <a:tr h="501016">
                <a:tc>
                  <a:txBody>
                    <a:bodyPr/>
                    <a:lstStyle/>
                    <a:p>
                      <a:r>
                        <a:rPr lang="zh-CN" altLang="en-US"/>
                        <a:t>Negative</a:t>
                      </a:r>
                    </a:p>
                  </a:txBody>
                  <a:tcPr/>
                </a:tc>
                <a:tc>
                  <a:txBody>
                    <a:bodyPr/>
                    <a:lstStyle/>
                    <a:p>
                      <a:r>
                        <a:rPr lang="zh-CN" altLang="en-US"/>
                        <a:t>88%</a:t>
                      </a:r>
                    </a:p>
                  </a:txBody>
                  <a:tcPr/>
                </a:tc>
                <a:tc>
                  <a:txBody>
                    <a:bodyPr/>
                    <a:lstStyle/>
                    <a:p>
                      <a:r>
                        <a:rPr lang="zh-CN" altLang="en-US"/>
                        <a:t>82%</a:t>
                      </a:r>
                    </a:p>
                  </a:txBody>
                  <a:tcPr/>
                </a:tc>
                <a:tc>
                  <a:txBody>
                    <a:bodyPr/>
                    <a:lstStyle/>
                    <a:p>
                      <a:r>
                        <a:rPr lang="zh-CN" altLang="en-US"/>
                        <a:t>85%</a:t>
                      </a:r>
                    </a:p>
                  </a:txBody>
                  <a:tcPr/>
                </a:tc>
                <a:tc>
                  <a:txBody>
                    <a:bodyPr/>
                    <a:lstStyle/>
                    <a:p>
                      <a:endParaRPr lang="zh-CN" altLang="en-US"/>
                    </a:p>
                  </a:txBody>
                  <a:tcPr/>
                </a:tc>
                <a:extLst>
                  <a:ext uri="{0D108BD9-81ED-4DB2-BD59-A6C34878D82A}">
                    <a16:rowId xmlns:a16="http://schemas.microsoft.com/office/drawing/2014/main" val="1928565477"/>
                  </a:ext>
                </a:extLst>
              </a:tr>
              <a:tr h="501016">
                <a:tc>
                  <a:txBody>
                    <a:bodyPr/>
                    <a:lstStyle/>
                    <a:p>
                      <a:r>
                        <a:rPr lang="zh-CN" altLang="en-US"/>
                        <a:t>Neutral</a:t>
                      </a:r>
                    </a:p>
                  </a:txBody>
                  <a:tcPr/>
                </a:tc>
                <a:tc>
                  <a:txBody>
                    <a:bodyPr/>
                    <a:lstStyle/>
                    <a:p>
                      <a:pPr lvl="0">
                        <a:buNone/>
                      </a:pPr>
                      <a:r>
                        <a:rPr lang="zh-CN" altLang="en-US"/>
                        <a:t>93%</a:t>
                      </a:r>
                    </a:p>
                  </a:txBody>
                  <a:tcPr/>
                </a:tc>
                <a:tc>
                  <a:txBody>
                    <a:bodyPr/>
                    <a:lstStyle/>
                    <a:p>
                      <a:r>
                        <a:rPr lang="zh-CN" altLang="en-US"/>
                        <a:t>96%</a:t>
                      </a:r>
                    </a:p>
                  </a:txBody>
                  <a:tcPr/>
                </a:tc>
                <a:tc>
                  <a:txBody>
                    <a:bodyPr/>
                    <a:lstStyle/>
                    <a:p>
                      <a:r>
                        <a:rPr lang="zh-CN" altLang="en-US"/>
                        <a:t>94%</a:t>
                      </a:r>
                    </a:p>
                  </a:txBody>
                  <a:tcPr/>
                </a:tc>
                <a:tc>
                  <a:txBody>
                    <a:bodyPr/>
                    <a:lstStyle/>
                    <a:p>
                      <a:endParaRPr lang="zh-CN" altLang="en-US"/>
                    </a:p>
                  </a:txBody>
                  <a:tcPr/>
                </a:tc>
                <a:extLst>
                  <a:ext uri="{0D108BD9-81ED-4DB2-BD59-A6C34878D82A}">
                    <a16:rowId xmlns:a16="http://schemas.microsoft.com/office/drawing/2014/main" val="974599847"/>
                  </a:ext>
                </a:extLst>
              </a:tr>
              <a:tr h="501016">
                <a:tc>
                  <a:txBody>
                    <a:bodyPr/>
                    <a:lstStyle/>
                    <a:p>
                      <a:r>
                        <a:rPr lang="zh-CN" altLang="en-US"/>
                        <a:t>Positive</a:t>
                      </a:r>
                    </a:p>
                  </a:txBody>
                  <a:tcPr/>
                </a:tc>
                <a:tc>
                  <a:txBody>
                    <a:bodyPr/>
                    <a:lstStyle/>
                    <a:p>
                      <a:r>
                        <a:rPr lang="zh-CN" altLang="en-US"/>
                        <a:t>79%</a:t>
                      </a:r>
                    </a:p>
                  </a:txBody>
                  <a:tcPr/>
                </a:tc>
                <a:tc>
                  <a:txBody>
                    <a:bodyPr/>
                    <a:lstStyle/>
                    <a:p>
                      <a:pPr lvl="0">
                        <a:buNone/>
                      </a:pPr>
                      <a:r>
                        <a:rPr lang="zh-CN" altLang="en-US"/>
                        <a:t>64%</a:t>
                      </a:r>
                    </a:p>
                  </a:txBody>
                  <a:tcPr/>
                </a:tc>
                <a:tc>
                  <a:txBody>
                    <a:bodyPr/>
                    <a:lstStyle/>
                    <a:p>
                      <a:pPr lvl="0">
                        <a:buNone/>
                      </a:pPr>
                      <a:r>
                        <a:rPr lang="zh-CN" altLang="en-US"/>
                        <a:t>71%</a:t>
                      </a:r>
                    </a:p>
                  </a:txBody>
                  <a:tcPr/>
                </a:tc>
                <a:tc>
                  <a:txBody>
                    <a:bodyPr/>
                    <a:lstStyle/>
                    <a:p>
                      <a:endParaRPr lang="zh-CN" altLang="en-US"/>
                    </a:p>
                  </a:txBody>
                  <a:tcPr/>
                </a:tc>
                <a:extLst>
                  <a:ext uri="{0D108BD9-81ED-4DB2-BD59-A6C34878D82A}">
                    <a16:rowId xmlns:a16="http://schemas.microsoft.com/office/drawing/2014/main" val="3588281523"/>
                  </a:ext>
                </a:extLst>
              </a:tr>
              <a:tr h="501016">
                <a:tc>
                  <a:txBody>
                    <a:bodyPr/>
                    <a:lstStyle/>
                    <a:p>
                      <a:pPr lvl="0">
                        <a:buNone/>
                      </a:pPr>
                      <a:r>
                        <a:rPr lang="zh-CN" altLang="en-US"/>
                        <a:t>Average</a:t>
                      </a:r>
                    </a:p>
                  </a:txBody>
                  <a:tcPr/>
                </a:tc>
                <a:tc>
                  <a:txBody>
                    <a:bodyPr/>
                    <a:lstStyle/>
                    <a:p>
                      <a:pPr lvl="0">
                        <a:buNone/>
                      </a:pPr>
                      <a:r>
                        <a:rPr lang="zh-CN" altLang="en-US"/>
                        <a:t>91%</a:t>
                      </a:r>
                    </a:p>
                  </a:txBody>
                  <a:tcPr/>
                </a:tc>
                <a:tc>
                  <a:txBody>
                    <a:bodyPr/>
                    <a:lstStyle/>
                    <a:p>
                      <a:pPr lvl="0">
                        <a:buNone/>
                      </a:pPr>
                      <a:r>
                        <a:rPr lang="zh-CN" altLang="en-US"/>
                        <a:t>91%</a:t>
                      </a:r>
                    </a:p>
                  </a:txBody>
                  <a:tcPr/>
                </a:tc>
                <a:tc>
                  <a:txBody>
                    <a:bodyPr/>
                    <a:lstStyle/>
                    <a:p>
                      <a:pPr lvl="0">
                        <a:buNone/>
                      </a:pPr>
                      <a:r>
                        <a:rPr lang="zh-CN" altLang="en-US"/>
                        <a:t>91%</a:t>
                      </a:r>
                    </a:p>
                  </a:txBody>
                  <a:tcPr/>
                </a:tc>
                <a:tc>
                  <a:txBody>
                    <a:bodyPr/>
                    <a:lstStyle/>
                    <a:p>
                      <a:pPr lvl="0">
                        <a:buNone/>
                      </a:pPr>
                      <a:r>
                        <a:rPr lang="zh-CN" altLang="en-US"/>
                        <a:t>91%</a:t>
                      </a:r>
                    </a:p>
                  </a:txBody>
                  <a:tcPr/>
                </a:tc>
                <a:extLst>
                  <a:ext uri="{0D108BD9-81ED-4DB2-BD59-A6C34878D82A}">
                    <a16:rowId xmlns:a16="http://schemas.microsoft.com/office/drawing/2014/main" val="1985793404"/>
                  </a:ext>
                </a:extLst>
              </a:tr>
            </a:tbl>
          </a:graphicData>
        </a:graphic>
      </p:graphicFrame>
    </p:spTree>
    <p:extLst>
      <p:ext uri="{BB962C8B-B14F-4D97-AF65-F5344CB8AC3E}">
        <p14:creationId xmlns:p14="http://schemas.microsoft.com/office/powerpoint/2010/main" val="4053143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5A008-CA2B-03E3-DF19-0AD227324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1919E5-F3E5-94A2-52DA-97EB58BBEC85}"/>
              </a:ext>
            </a:extLst>
          </p:cNvPr>
          <p:cNvSpPr>
            <a:spLocks noGrp="1"/>
          </p:cNvSpPr>
          <p:nvPr>
            <p:ph type="title"/>
          </p:nvPr>
        </p:nvSpPr>
        <p:spPr>
          <a:xfrm>
            <a:off x="231648" y="136525"/>
            <a:ext cx="11631168" cy="838835"/>
          </a:xfrm>
        </p:spPr>
        <p:txBody>
          <a:bodyPr>
            <a:normAutofit/>
          </a:bodyPr>
          <a:lstStyle/>
          <a:p>
            <a:r>
              <a:rPr lang="en-AU" altLang="zh-CN"/>
              <a:t>LSTM Model</a:t>
            </a:r>
            <a:endParaRPr lang="zh-CN"/>
          </a:p>
        </p:txBody>
      </p:sp>
      <p:sp>
        <p:nvSpPr>
          <p:cNvPr id="4" name="Slide Number Placeholder 3">
            <a:extLst>
              <a:ext uri="{FF2B5EF4-FFF2-40B4-BE49-F238E27FC236}">
                <a16:creationId xmlns:a16="http://schemas.microsoft.com/office/drawing/2014/main" id="{B7A00E71-89BF-3978-A7D1-4C13885676F3}"/>
              </a:ext>
            </a:extLst>
          </p:cNvPr>
          <p:cNvSpPr>
            <a:spLocks noGrp="1"/>
          </p:cNvSpPr>
          <p:nvPr>
            <p:ph type="sldNum" sz="quarter" idx="12"/>
          </p:nvPr>
        </p:nvSpPr>
        <p:spPr/>
        <p:txBody>
          <a:bodyPr/>
          <a:lstStyle/>
          <a:p>
            <a:fld id="{6BAD6A8B-B5C3-4437-A9DE-A8C2149171DD}" type="slidenum">
              <a:rPr lang="en-AU" smtClean="0"/>
              <a:t>16</a:t>
            </a:fld>
            <a:endParaRPr lang="en-AU"/>
          </a:p>
        </p:txBody>
      </p:sp>
      <p:sp>
        <p:nvSpPr>
          <p:cNvPr id="6" name="TextBox 5">
            <a:extLst>
              <a:ext uri="{FF2B5EF4-FFF2-40B4-BE49-F238E27FC236}">
                <a16:creationId xmlns:a16="http://schemas.microsoft.com/office/drawing/2014/main" id="{1B9AA24D-0DC5-979B-5967-ED706A2EDF37}"/>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a:t>
            </a:r>
            <a:r>
              <a:rPr lang="en-US" sz="1100" err="1">
                <a:latin typeface="Arial"/>
                <a:cs typeface="Arial"/>
              </a:rPr>
              <a:t>Chenglong</a:t>
            </a:r>
            <a:r>
              <a:rPr lang="en-US" sz="1100">
                <a:latin typeface="Arial"/>
                <a:cs typeface="Arial"/>
              </a:rPr>
              <a:t> Wei (z5375926)</a:t>
            </a:r>
          </a:p>
        </p:txBody>
      </p:sp>
      <p:sp>
        <p:nvSpPr>
          <p:cNvPr id="10" name="TextBox 9">
            <a:extLst>
              <a:ext uri="{FF2B5EF4-FFF2-40B4-BE49-F238E27FC236}">
                <a16:creationId xmlns:a16="http://schemas.microsoft.com/office/drawing/2014/main" id="{A8588DC3-E3F4-7A9B-83B3-2E6B20CD912E}"/>
              </a:ext>
            </a:extLst>
          </p:cNvPr>
          <p:cNvSpPr txBox="1"/>
          <p:nvPr/>
        </p:nvSpPr>
        <p:spPr>
          <a:xfrm>
            <a:off x="369304" y="855825"/>
            <a:ext cx="10813955" cy="4988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nSpc>
                <a:spcPct val="150000"/>
              </a:lnSpc>
              <a:buFont typeface="Wingdings"/>
              <a:buChar char="Ø"/>
            </a:pPr>
            <a:r>
              <a:rPr lang="en-US" sz="2800">
                <a:solidFill>
                  <a:srgbClr val="000000"/>
                </a:solidFill>
                <a:latin typeface="Arial"/>
                <a:cs typeface="Arial"/>
              </a:rPr>
              <a:t> Enhanced version of the RNN</a:t>
            </a:r>
            <a:endParaRPr lang="en-US">
              <a:ea typeface="Calibri" panose="020F0502020204030204"/>
              <a:cs typeface="Calibri" panose="020F0502020204030204"/>
            </a:endParaRPr>
          </a:p>
          <a:p>
            <a:pPr marL="228600" indent="-228600">
              <a:lnSpc>
                <a:spcPct val="150000"/>
              </a:lnSpc>
              <a:buFont typeface="Wingdings"/>
              <a:buChar char="Ø"/>
            </a:pPr>
            <a:r>
              <a:rPr lang="en-US" sz="2800">
                <a:latin typeface="Arial"/>
                <a:cs typeface="Arial"/>
              </a:rPr>
              <a:t> Long-term</a:t>
            </a:r>
            <a:r>
              <a:rPr lang="en-US" sz="2800">
                <a:solidFill>
                  <a:srgbClr val="000000"/>
                </a:solidFill>
                <a:latin typeface="Arial"/>
                <a:cs typeface="Arial"/>
              </a:rPr>
              <a:t> dependencies in sequential data</a:t>
            </a:r>
          </a:p>
          <a:p>
            <a:pPr marL="228600" indent="-228600">
              <a:lnSpc>
                <a:spcPct val="150000"/>
              </a:lnSpc>
              <a:buFont typeface="Wingdings"/>
              <a:buChar char="Ø"/>
            </a:pPr>
            <a:r>
              <a:rPr lang="en-US" sz="2800">
                <a:latin typeface="Arial"/>
                <a:cs typeface="Arial"/>
              </a:rPr>
              <a:t> A memory cell and three gates</a:t>
            </a:r>
          </a:p>
          <a:p>
            <a:pPr>
              <a:lnSpc>
                <a:spcPct val="150000"/>
              </a:lnSpc>
            </a:pPr>
            <a:endParaRPr lang="en-US" sz="2800">
              <a:solidFill>
                <a:srgbClr val="000000"/>
              </a:solidFill>
              <a:latin typeface="Arial"/>
              <a:ea typeface="Calibri"/>
              <a:cs typeface="Arial"/>
            </a:endParaRPr>
          </a:p>
          <a:p>
            <a:pPr>
              <a:lnSpc>
                <a:spcPct val="150000"/>
              </a:lnSpc>
            </a:pPr>
            <a:r>
              <a:rPr lang="en-US" sz="2800">
                <a:latin typeface="Arial"/>
                <a:ea typeface="Calibri"/>
                <a:cs typeface="Arial"/>
              </a:rPr>
              <a:t>Advantages</a:t>
            </a:r>
            <a:endParaRPr lang="en-US">
              <a:solidFill>
                <a:srgbClr val="000000"/>
              </a:solidFill>
              <a:latin typeface="Calibri" panose="020F0502020204030204"/>
              <a:ea typeface="Calibri" panose="020F0502020204030204"/>
              <a:cs typeface="Calibri" panose="020F0502020204030204"/>
            </a:endParaRPr>
          </a:p>
          <a:p>
            <a:pPr marL="457200" indent="-457200">
              <a:lnSpc>
                <a:spcPct val="150000"/>
              </a:lnSpc>
              <a:buFont typeface="Wingdings"/>
              <a:buChar char="Ø"/>
            </a:pPr>
            <a:r>
              <a:rPr lang="en-US" sz="2800">
                <a:solidFill>
                  <a:srgbClr val="000000"/>
                </a:solidFill>
                <a:latin typeface="Arial"/>
                <a:ea typeface="Open Sans"/>
                <a:cs typeface="Arial"/>
              </a:rPr>
              <a:t>Remember information over extended periods</a:t>
            </a:r>
            <a:endParaRPr lang="en-US" sz="2800">
              <a:latin typeface="Arial"/>
              <a:ea typeface="Open Sans"/>
              <a:cs typeface="Arial"/>
            </a:endParaRPr>
          </a:p>
          <a:p>
            <a:pPr marL="457200" indent="-457200">
              <a:lnSpc>
                <a:spcPct val="150000"/>
              </a:lnSpc>
              <a:buFont typeface="Wingdings"/>
              <a:buChar char="Ø"/>
            </a:pPr>
            <a:r>
              <a:rPr lang="en-US" sz="2800">
                <a:latin typeface="Arial"/>
                <a:ea typeface="Open Sans"/>
                <a:cs typeface="Arial"/>
              </a:rPr>
              <a:t>Leverages gates to do so</a:t>
            </a:r>
          </a:p>
          <a:p>
            <a:pPr>
              <a:lnSpc>
                <a:spcPts val="2850"/>
              </a:lnSpc>
            </a:pPr>
            <a:endParaRPr lang="en-US" sz="2800">
              <a:latin typeface="Arial"/>
              <a:cs typeface="Arial"/>
            </a:endParaRPr>
          </a:p>
        </p:txBody>
      </p:sp>
    </p:spTree>
    <p:extLst>
      <p:ext uri="{BB962C8B-B14F-4D97-AF65-F5344CB8AC3E}">
        <p14:creationId xmlns:p14="http://schemas.microsoft.com/office/powerpoint/2010/main" val="3210567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AABCC-08E2-CB30-BD6C-28A2034BA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337B90-A009-DAF5-5FC1-702E51C59CBB}"/>
              </a:ext>
            </a:extLst>
          </p:cNvPr>
          <p:cNvSpPr>
            <a:spLocks noGrp="1"/>
          </p:cNvSpPr>
          <p:nvPr>
            <p:ph type="title"/>
          </p:nvPr>
        </p:nvSpPr>
        <p:spPr>
          <a:xfrm>
            <a:off x="231648" y="136525"/>
            <a:ext cx="11631168" cy="838835"/>
          </a:xfrm>
        </p:spPr>
        <p:txBody>
          <a:bodyPr>
            <a:normAutofit/>
          </a:bodyPr>
          <a:lstStyle/>
          <a:p>
            <a:r>
              <a:rPr lang="en-AU" altLang="zh-CN">
                <a:latin typeface="Arial"/>
                <a:ea typeface="Roboto"/>
                <a:cs typeface="Arial"/>
              </a:rPr>
              <a:t>LSTM – Structure and Hyperparameters</a:t>
            </a:r>
            <a:endParaRPr lang="zh-CN" err="1"/>
          </a:p>
        </p:txBody>
      </p:sp>
      <p:sp>
        <p:nvSpPr>
          <p:cNvPr id="3" name="Content Placeholder 2">
            <a:extLst>
              <a:ext uri="{FF2B5EF4-FFF2-40B4-BE49-F238E27FC236}">
                <a16:creationId xmlns:a16="http://schemas.microsoft.com/office/drawing/2014/main" id="{02255F8A-1317-BEAB-6F76-E5076E9E9B55}"/>
              </a:ext>
            </a:extLst>
          </p:cNvPr>
          <p:cNvSpPr>
            <a:spLocks noGrp="1"/>
          </p:cNvSpPr>
          <p:nvPr>
            <p:ph idx="1"/>
          </p:nvPr>
        </p:nvSpPr>
        <p:spPr>
          <a:xfrm>
            <a:off x="231649" y="1262220"/>
            <a:ext cx="10784182" cy="1997348"/>
          </a:xfrm>
        </p:spPr>
        <p:txBody>
          <a:bodyPr vert="horz" lIns="91440" tIns="45720" rIns="91440" bIns="45720" rtlCol="0" anchor="t">
            <a:normAutofit/>
          </a:bodyPr>
          <a:lstStyle/>
          <a:p>
            <a:pPr>
              <a:buFont typeface="Wingdings" pitchFamily="2" charset="2"/>
              <a:buChar char="Ø"/>
            </a:pPr>
            <a:r>
              <a:rPr lang="en-AU" b="1">
                <a:latin typeface="Arial"/>
                <a:ea typeface="Roboto"/>
                <a:cs typeface="Arial"/>
              </a:rPr>
              <a:t> Model Structure:</a:t>
            </a:r>
            <a:endParaRPr lang="en-US"/>
          </a:p>
          <a:p>
            <a:pPr>
              <a:buFont typeface="Wingdings" pitchFamily="2" charset="2"/>
              <a:buChar char="Ø"/>
            </a:pPr>
            <a:endParaRPr lang="en-AU" b="1">
              <a:ea typeface="Roboto"/>
            </a:endParaRPr>
          </a:p>
        </p:txBody>
      </p:sp>
      <p:sp>
        <p:nvSpPr>
          <p:cNvPr id="4" name="Slide Number Placeholder 3">
            <a:extLst>
              <a:ext uri="{FF2B5EF4-FFF2-40B4-BE49-F238E27FC236}">
                <a16:creationId xmlns:a16="http://schemas.microsoft.com/office/drawing/2014/main" id="{6EDDF31F-C091-7454-81A4-75F634689500}"/>
              </a:ext>
            </a:extLst>
          </p:cNvPr>
          <p:cNvSpPr>
            <a:spLocks noGrp="1"/>
          </p:cNvSpPr>
          <p:nvPr>
            <p:ph type="sldNum" sz="quarter" idx="12"/>
          </p:nvPr>
        </p:nvSpPr>
        <p:spPr/>
        <p:txBody>
          <a:bodyPr/>
          <a:lstStyle/>
          <a:p>
            <a:fld id="{6BAD6A8B-B5C3-4437-A9DE-A8C2149171DD}" type="slidenum">
              <a:rPr lang="en-AU" smtClean="0"/>
              <a:t>17</a:t>
            </a:fld>
            <a:endParaRPr lang="en-AU"/>
          </a:p>
        </p:txBody>
      </p:sp>
      <p:sp>
        <p:nvSpPr>
          <p:cNvPr id="6" name="TextBox 5">
            <a:extLst>
              <a:ext uri="{FF2B5EF4-FFF2-40B4-BE49-F238E27FC236}">
                <a16:creationId xmlns:a16="http://schemas.microsoft.com/office/drawing/2014/main" id="{AC2B93B0-E2DE-76D6-E5E9-79C7F63F51AF}"/>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a:t>
            </a:r>
            <a:r>
              <a:rPr lang="en-US" sz="1100" err="1">
                <a:latin typeface="Arial"/>
                <a:cs typeface="Arial"/>
              </a:rPr>
              <a:t>Chenglong</a:t>
            </a:r>
            <a:r>
              <a:rPr lang="en-US" sz="1100">
                <a:latin typeface="Arial"/>
                <a:cs typeface="Arial"/>
              </a:rPr>
              <a:t> Wei (z5375926)</a:t>
            </a:r>
          </a:p>
        </p:txBody>
      </p:sp>
      <p:sp>
        <p:nvSpPr>
          <p:cNvPr id="7" name="Rectangle 1">
            <a:extLst>
              <a:ext uri="{FF2B5EF4-FFF2-40B4-BE49-F238E27FC236}">
                <a16:creationId xmlns:a16="http://schemas.microsoft.com/office/drawing/2014/main" id="{76773CF5-2485-048D-59E9-19FB82801EDB}"/>
              </a:ext>
            </a:extLst>
          </p:cNvPr>
          <p:cNvSpPr>
            <a:spLocks noChangeArrowheads="1"/>
          </p:cNvSpPr>
          <p:nvPr/>
        </p:nvSpPr>
        <p:spPr bwMode="auto">
          <a:xfrm>
            <a:off x="719866" y="226915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DCB32648-72E4-5B89-AEFE-1345C7A5DA38}"/>
              </a:ext>
            </a:extLst>
          </p:cNvPr>
          <p:cNvGraphicFramePr>
            <a:graphicFrameLocks noGrp="1"/>
          </p:cNvGraphicFramePr>
          <p:nvPr>
            <p:extLst>
              <p:ext uri="{D42A27DB-BD31-4B8C-83A1-F6EECF244321}">
                <p14:modId xmlns:p14="http://schemas.microsoft.com/office/powerpoint/2010/main" val="2916710541"/>
              </p:ext>
            </p:extLst>
          </p:nvPr>
        </p:nvGraphicFramePr>
        <p:xfrm>
          <a:off x="482601" y="1725808"/>
          <a:ext cx="9618831" cy="1329364"/>
        </p:xfrm>
        <a:graphic>
          <a:graphicData uri="http://schemas.openxmlformats.org/drawingml/2006/table">
            <a:tbl>
              <a:tblPr firstRow="1" bandRow="1">
                <a:tableStyleId>{5C22544A-7EE6-4342-B048-85BDC9FD1C3A}</a:tableStyleId>
              </a:tblPr>
              <a:tblGrid>
                <a:gridCol w="3206277">
                  <a:extLst>
                    <a:ext uri="{9D8B030D-6E8A-4147-A177-3AD203B41FA5}">
                      <a16:colId xmlns:a16="http://schemas.microsoft.com/office/drawing/2014/main" val="1907467224"/>
                    </a:ext>
                  </a:extLst>
                </a:gridCol>
                <a:gridCol w="3206277">
                  <a:extLst>
                    <a:ext uri="{9D8B030D-6E8A-4147-A177-3AD203B41FA5}">
                      <a16:colId xmlns:a16="http://schemas.microsoft.com/office/drawing/2014/main" val="3043800409"/>
                    </a:ext>
                  </a:extLst>
                </a:gridCol>
                <a:gridCol w="3206277">
                  <a:extLst>
                    <a:ext uri="{9D8B030D-6E8A-4147-A177-3AD203B41FA5}">
                      <a16:colId xmlns:a16="http://schemas.microsoft.com/office/drawing/2014/main" val="3090310173"/>
                    </a:ext>
                  </a:extLst>
                </a:gridCol>
              </a:tblGrid>
              <a:tr h="664682">
                <a:tc>
                  <a:txBody>
                    <a:bodyPr/>
                    <a:lstStyle/>
                    <a:p>
                      <a:pPr fontAlgn="ctr"/>
                      <a:r>
                        <a:rPr lang="en-AU" b="1">
                          <a:effectLst/>
                        </a:rPr>
                        <a:t>Embedding Dimension</a:t>
                      </a:r>
                    </a:p>
                  </a:txBody>
                  <a:tcPr anchor="ctr"/>
                </a:tc>
                <a:tc>
                  <a:txBody>
                    <a:bodyPr/>
                    <a:lstStyle/>
                    <a:p>
                      <a:pPr fontAlgn="ctr"/>
                      <a:r>
                        <a:rPr lang="en-AU" b="1">
                          <a:effectLst/>
                        </a:rPr>
                        <a:t>Hidden Units</a:t>
                      </a:r>
                    </a:p>
                  </a:txBody>
                  <a:tcPr anchor="ctr"/>
                </a:tc>
                <a:tc>
                  <a:txBody>
                    <a:bodyPr/>
                    <a:lstStyle/>
                    <a:p>
                      <a:pPr fontAlgn="ctr"/>
                      <a:r>
                        <a:rPr lang="en-AU" b="1">
                          <a:effectLst/>
                        </a:rPr>
                        <a:t>Output</a:t>
                      </a:r>
                    </a:p>
                  </a:txBody>
                  <a:tcPr anchor="ctr"/>
                </a:tc>
                <a:extLst>
                  <a:ext uri="{0D108BD9-81ED-4DB2-BD59-A6C34878D82A}">
                    <a16:rowId xmlns:a16="http://schemas.microsoft.com/office/drawing/2014/main" val="1205299467"/>
                  </a:ext>
                </a:extLst>
              </a:tr>
              <a:tr h="664682">
                <a:tc>
                  <a:txBody>
                    <a:bodyPr/>
                    <a:lstStyle/>
                    <a:p>
                      <a:pPr fontAlgn="ctr"/>
                      <a:r>
                        <a:rPr lang="en-AU" sz="2400">
                          <a:effectLst/>
                        </a:rPr>
                        <a:t>40</a:t>
                      </a:r>
                    </a:p>
                  </a:txBody>
                  <a:tcPr anchor="ctr"/>
                </a:tc>
                <a:tc>
                  <a:txBody>
                    <a:bodyPr/>
                    <a:lstStyle/>
                    <a:p>
                      <a:pPr fontAlgn="ctr"/>
                      <a:r>
                        <a:rPr lang="en-AU" sz="2400">
                          <a:effectLst/>
                        </a:rPr>
                        <a:t>64</a:t>
                      </a:r>
                    </a:p>
                  </a:txBody>
                  <a:tcPr anchor="ctr"/>
                </a:tc>
                <a:tc>
                  <a:txBody>
                    <a:bodyPr/>
                    <a:lstStyle/>
                    <a:p>
                      <a:pPr fontAlgn="ctr"/>
                      <a:r>
                        <a:rPr lang="en-AU" sz="2400">
                          <a:effectLst/>
                        </a:rPr>
                        <a:t>3</a:t>
                      </a:r>
                    </a:p>
                  </a:txBody>
                  <a:tcPr anchor="ctr"/>
                </a:tc>
                <a:extLst>
                  <a:ext uri="{0D108BD9-81ED-4DB2-BD59-A6C34878D82A}">
                    <a16:rowId xmlns:a16="http://schemas.microsoft.com/office/drawing/2014/main" val="1601531720"/>
                  </a:ext>
                </a:extLst>
              </a:tr>
            </a:tbl>
          </a:graphicData>
        </a:graphic>
      </p:graphicFrame>
      <p:sp>
        <p:nvSpPr>
          <p:cNvPr id="11" name="Content Placeholder 2">
            <a:extLst>
              <a:ext uri="{FF2B5EF4-FFF2-40B4-BE49-F238E27FC236}">
                <a16:creationId xmlns:a16="http://schemas.microsoft.com/office/drawing/2014/main" id="{8735FBC7-02B3-F97A-CD94-0451D68E807B}"/>
              </a:ext>
            </a:extLst>
          </p:cNvPr>
          <p:cNvSpPr txBox="1">
            <a:spLocks/>
          </p:cNvSpPr>
          <p:nvPr/>
        </p:nvSpPr>
        <p:spPr>
          <a:xfrm>
            <a:off x="231649" y="3183274"/>
            <a:ext cx="10784182" cy="199734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Ø"/>
            </a:pPr>
            <a:r>
              <a:rPr lang="en-AU" b="1">
                <a:latin typeface="Arial"/>
                <a:ea typeface="Roboto"/>
                <a:cs typeface="Arial"/>
              </a:rPr>
              <a:t> Hyperparameters:</a:t>
            </a:r>
            <a:endParaRPr lang="en-US"/>
          </a:p>
          <a:p>
            <a:pPr>
              <a:buFont typeface="Wingdings" pitchFamily="2" charset="2"/>
              <a:buChar char="Ø"/>
            </a:pPr>
            <a:endParaRPr lang="en-AU" b="1">
              <a:ea typeface="Roboto"/>
            </a:endParaRPr>
          </a:p>
        </p:txBody>
      </p:sp>
      <p:graphicFrame>
        <p:nvGraphicFramePr>
          <p:cNvPr id="12" name="Table 11">
            <a:extLst>
              <a:ext uri="{FF2B5EF4-FFF2-40B4-BE49-F238E27FC236}">
                <a16:creationId xmlns:a16="http://schemas.microsoft.com/office/drawing/2014/main" id="{E14316BB-E268-5E01-0BBF-671ECB665320}"/>
              </a:ext>
            </a:extLst>
          </p:cNvPr>
          <p:cNvGraphicFramePr>
            <a:graphicFrameLocks noGrp="1"/>
          </p:cNvGraphicFramePr>
          <p:nvPr>
            <p:extLst>
              <p:ext uri="{D42A27DB-BD31-4B8C-83A1-F6EECF244321}">
                <p14:modId xmlns:p14="http://schemas.microsoft.com/office/powerpoint/2010/main" val="3637820138"/>
              </p:ext>
            </p:extLst>
          </p:nvPr>
        </p:nvGraphicFramePr>
        <p:xfrm>
          <a:off x="482598" y="3819368"/>
          <a:ext cx="9643970" cy="1361254"/>
        </p:xfrm>
        <a:graphic>
          <a:graphicData uri="http://schemas.openxmlformats.org/drawingml/2006/table">
            <a:tbl>
              <a:tblPr firstRow="1" bandRow="1">
                <a:tableStyleId>{5C22544A-7EE6-4342-B048-85BDC9FD1C3A}</a:tableStyleId>
              </a:tblPr>
              <a:tblGrid>
                <a:gridCol w="1928794">
                  <a:extLst>
                    <a:ext uri="{9D8B030D-6E8A-4147-A177-3AD203B41FA5}">
                      <a16:colId xmlns:a16="http://schemas.microsoft.com/office/drawing/2014/main" val="820427950"/>
                    </a:ext>
                  </a:extLst>
                </a:gridCol>
                <a:gridCol w="1928794">
                  <a:extLst>
                    <a:ext uri="{9D8B030D-6E8A-4147-A177-3AD203B41FA5}">
                      <a16:colId xmlns:a16="http://schemas.microsoft.com/office/drawing/2014/main" val="2963540718"/>
                    </a:ext>
                  </a:extLst>
                </a:gridCol>
                <a:gridCol w="1928794">
                  <a:extLst>
                    <a:ext uri="{9D8B030D-6E8A-4147-A177-3AD203B41FA5}">
                      <a16:colId xmlns:a16="http://schemas.microsoft.com/office/drawing/2014/main" val="2057633747"/>
                    </a:ext>
                  </a:extLst>
                </a:gridCol>
                <a:gridCol w="1928794">
                  <a:extLst>
                    <a:ext uri="{9D8B030D-6E8A-4147-A177-3AD203B41FA5}">
                      <a16:colId xmlns:a16="http://schemas.microsoft.com/office/drawing/2014/main" val="1464442399"/>
                    </a:ext>
                  </a:extLst>
                </a:gridCol>
                <a:gridCol w="1928794">
                  <a:extLst>
                    <a:ext uri="{9D8B030D-6E8A-4147-A177-3AD203B41FA5}">
                      <a16:colId xmlns:a16="http://schemas.microsoft.com/office/drawing/2014/main" val="332552398"/>
                    </a:ext>
                  </a:extLst>
                </a:gridCol>
              </a:tblGrid>
              <a:tr h="680627">
                <a:tc>
                  <a:txBody>
                    <a:bodyPr/>
                    <a:lstStyle/>
                    <a:p>
                      <a:pPr fontAlgn="ctr"/>
                      <a:r>
                        <a:rPr lang="en-AU" b="1" dirty="0">
                          <a:effectLst/>
                        </a:rPr>
                        <a:t>Optimizer</a:t>
                      </a:r>
                    </a:p>
                  </a:txBody>
                  <a:tcPr anchor="ctr"/>
                </a:tc>
                <a:tc>
                  <a:txBody>
                    <a:bodyPr/>
                    <a:lstStyle/>
                    <a:p>
                      <a:pPr fontAlgn="ctr"/>
                      <a:r>
                        <a:rPr lang="en-AU" b="1" dirty="0">
                          <a:effectLst/>
                        </a:rPr>
                        <a:t>Batch Size</a:t>
                      </a:r>
                    </a:p>
                  </a:txBody>
                  <a:tcPr anchor="ctr"/>
                </a:tc>
                <a:tc>
                  <a:txBody>
                    <a:bodyPr/>
                    <a:lstStyle/>
                    <a:p>
                      <a:pPr fontAlgn="ctr"/>
                      <a:r>
                        <a:rPr lang="en-AU" b="1" dirty="0">
                          <a:effectLst/>
                        </a:rPr>
                        <a:t>Learning Rate</a:t>
                      </a:r>
                    </a:p>
                  </a:txBody>
                  <a:tcPr anchor="ctr"/>
                </a:tc>
                <a:tc>
                  <a:txBody>
                    <a:bodyPr/>
                    <a:lstStyle/>
                    <a:p>
                      <a:pPr fontAlgn="ctr"/>
                      <a:r>
                        <a:rPr lang="en-AU" b="1" dirty="0">
                          <a:effectLst/>
                        </a:rPr>
                        <a:t>Weight Decay</a:t>
                      </a:r>
                    </a:p>
                  </a:txBody>
                  <a:tcPr anchor="ctr"/>
                </a:tc>
                <a:tc>
                  <a:txBody>
                    <a:bodyPr/>
                    <a:lstStyle/>
                    <a:p>
                      <a:pPr fontAlgn="ctr"/>
                      <a:r>
                        <a:rPr lang="en-AU" b="1" dirty="0">
                          <a:effectLst/>
                        </a:rPr>
                        <a:t>Epochs</a:t>
                      </a:r>
                    </a:p>
                  </a:txBody>
                  <a:tcPr anchor="ctr"/>
                </a:tc>
                <a:extLst>
                  <a:ext uri="{0D108BD9-81ED-4DB2-BD59-A6C34878D82A}">
                    <a16:rowId xmlns:a16="http://schemas.microsoft.com/office/drawing/2014/main" val="1074384191"/>
                  </a:ext>
                </a:extLst>
              </a:tr>
              <a:tr h="680627">
                <a:tc>
                  <a:txBody>
                    <a:bodyPr/>
                    <a:lstStyle/>
                    <a:p>
                      <a:pPr fontAlgn="ctr"/>
                      <a:r>
                        <a:rPr lang="en-AU" sz="2400" dirty="0">
                          <a:effectLst/>
                        </a:rPr>
                        <a:t>Adam</a:t>
                      </a:r>
                    </a:p>
                  </a:txBody>
                  <a:tcPr anchor="ctr"/>
                </a:tc>
                <a:tc>
                  <a:txBody>
                    <a:bodyPr/>
                    <a:lstStyle/>
                    <a:p>
                      <a:pPr fontAlgn="ctr"/>
                      <a:r>
                        <a:rPr lang="en-AU" sz="2400" dirty="0">
                          <a:effectLst/>
                        </a:rPr>
                        <a:t>16</a:t>
                      </a:r>
                    </a:p>
                  </a:txBody>
                  <a:tcPr anchor="ctr"/>
                </a:tc>
                <a:tc>
                  <a:txBody>
                    <a:bodyPr/>
                    <a:lstStyle/>
                    <a:p>
                      <a:pPr fontAlgn="ctr"/>
                      <a:r>
                        <a:rPr lang="en-AU" sz="2400" dirty="0">
                          <a:effectLst/>
                        </a:rPr>
                        <a:t>0.001</a:t>
                      </a:r>
                    </a:p>
                  </a:txBody>
                  <a:tcPr anchor="ctr"/>
                </a:tc>
                <a:tc>
                  <a:txBody>
                    <a:bodyPr/>
                    <a:lstStyle/>
                    <a:p>
                      <a:pPr fontAlgn="ctr"/>
                      <a:r>
                        <a:rPr lang="en-AU" sz="2400" dirty="0">
                          <a:effectLst/>
                        </a:rPr>
                        <a:t>0.00005</a:t>
                      </a:r>
                    </a:p>
                  </a:txBody>
                  <a:tcPr anchor="ctr"/>
                </a:tc>
                <a:tc>
                  <a:txBody>
                    <a:bodyPr/>
                    <a:lstStyle/>
                    <a:p>
                      <a:pPr fontAlgn="ctr"/>
                      <a:r>
                        <a:rPr lang="en-AU" sz="2400" dirty="0">
                          <a:effectLst/>
                        </a:rPr>
                        <a:t>20</a:t>
                      </a:r>
                    </a:p>
                  </a:txBody>
                  <a:tcPr anchor="ctr"/>
                </a:tc>
                <a:extLst>
                  <a:ext uri="{0D108BD9-81ED-4DB2-BD59-A6C34878D82A}">
                    <a16:rowId xmlns:a16="http://schemas.microsoft.com/office/drawing/2014/main" val="3880923623"/>
                  </a:ext>
                </a:extLst>
              </a:tr>
            </a:tbl>
          </a:graphicData>
        </a:graphic>
      </p:graphicFrame>
    </p:spTree>
    <p:extLst>
      <p:ext uri="{BB962C8B-B14F-4D97-AF65-F5344CB8AC3E}">
        <p14:creationId xmlns:p14="http://schemas.microsoft.com/office/powerpoint/2010/main" val="175100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73BE1-5C27-2856-6B7F-248E2D80A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1B649A-45CF-C6EB-10DE-5AB908C142C3}"/>
              </a:ext>
            </a:extLst>
          </p:cNvPr>
          <p:cNvSpPr>
            <a:spLocks noGrp="1"/>
          </p:cNvSpPr>
          <p:nvPr>
            <p:ph type="title"/>
          </p:nvPr>
        </p:nvSpPr>
        <p:spPr>
          <a:xfrm>
            <a:off x="231648" y="136525"/>
            <a:ext cx="11631168" cy="838835"/>
          </a:xfrm>
        </p:spPr>
        <p:txBody>
          <a:bodyPr>
            <a:normAutofit/>
          </a:bodyPr>
          <a:lstStyle/>
          <a:p>
            <a:r>
              <a:rPr lang="en-AU" altLang="zh-CN">
                <a:latin typeface="Arial"/>
                <a:ea typeface="Roboto"/>
                <a:cs typeface="Arial"/>
              </a:rPr>
              <a:t>LSTM – Hyperparameters comparation</a:t>
            </a:r>
            <a:endParaRPr lang="zh-CN"/>
          </a:p>
        </p:txBody>
      </p:sp>
      <p:sp>
        <p:nvSpPr>
          <p:cNvPr id="3" name="Content Placeholder 2">
            <a:extLst>
              <a:ext uri="{FF2B5EF4-FFF2-40B4-BE49-F238E27FC236}">
                <a16:creationId xmlns:a16="http://schemas.microsoft.com/office/drawing/2014/main" id="{4E048DFE-B107-61AC-7EBF-4AEC78B45563}"/>
              </a:ext>
            </a:extLst>
          </p:cNvPr>
          <p:cNvSpPr>
            <a:spLocks noGrp="1"/>
          </p:cNvSpPr>
          <p:nvPr>
            <p:ph idx="1"/>
          </p:nvPr>
        </p:nvSpPr>
        <p:spPr>
          <a:xfrm>
            <a:off x="231649" y="1262220"/>
            <a:ext cx="10784182" cy="595645"/>
          </a:xfrm>
        </p:spPr>
        <p:txBody>
          <a:bodyPr vert="horz" lIns="91440" tIns="45720" rIns="91440" bIns="45720" rtlCol="0" anchor="t">
            <a:normAutofit/>
          </a:bodyPr>
          <a:lstStyle/>
          <a:p>
            <a:pPr>
              <a:buFont typeface="Wingdings" panose="020B0604020202020204" pitchFamily="34" charset="0"/>
              <a:buChar char="Ø"/>
            </a:pPr>
            <a:r>
              <a:rPr lang="en-AU" b="1">
                <a:latin typeface="Arial"/>
                <a:ea typeface="Roboto"/>
                <a:cs typeface="Arial"/>
              </a:rPr>
              <a:t> How different hyperparameters affect the performance</a:t>
            </a:r>
            <a:endParaRPr lang="en-US"/>
          </a:p>
          <a:p>
            <a:pPr>
              <a:buFont typeface="Wingdings" pitchFamily="2" charset="2"/>
              <a:buChar char="Ø"/>
            </a:pPr>
            <a:endParaRPr lang="en-AU" b="1">
              <a:ea typeface="Roboto"/>
            </a:endParaRPr>
          </a:p>
        </p:txBody>
      </p:sp>
      <p:sp>
        <p:nvSpPr>
          <p:cNvPr id="4" name="Slide Number Placeholder 3">
            <a:extLst>
              <a:ext uri="{FF2B5EF4-FFF2-40B4-BE49-F238E27FC236}">
                <a16:creationId xmlns:a16="http://schemas.microsoft.com/office/drawing/2014/main" id="{5E43991F-D5EA-BF31-10D5-D43356BA508F}"/>
              </a:ext>
            </a:extLst>
          </p:cNvPr>
          <p:cNvSpPr>
            <a:spLocks noGrp="1"/>
          </p:cNvSpPr>
          <p:nvPr>
            <p:ph type="sldNum" sz="quarter" idx="12"/>
          </p:nvPr>
        </p:nvSpPr>
        <p:spPr/>
        <p:txBody>
          <a:bodyPr/>
          <a:lstStyle/>
          <a:p>
            <a:fld id="{6BAD6A8B-B5C3-4437-A9DE-A8C2149171DD}" type="slidenum">
              <a:rPr lang="en-AU" smtClean="0"/>
              <a:t>18</a:t>
            </a:fld>
            <a:endParaRPr lang="en-AU"/>
          </a:p>
        </p:txBody>
      </p:sp>
      <p:sp>
        <p:nvSpPr>
          <p:cNvPr id="6" name="TextBox 5">
            <a:extLst>
              <a:ext uri="{FF2B5EF4-FFF2-40B4-BE49-F238E27FC236}">
                <a16:creationId xmlns:a16="http://schemas.microsoft.com/office/drawing/2014/main" id="{5F6E6369-B69D-A81C-47CA-94018624E4AC}"/>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a:t>
            </a:r>
            <a:r>
              <a:rPr lang="en-US" sz="1100" err="1">
                <a:latin typeface="Arial"/>
                <a:cs typeface="Arial"/>
              </a:rPr>
              <a:t>Chenglong</a:t>
            </a:r>
            <a:r>
              <a:rPr lang="en-US" sz="1100">
                <a:latin typeface="Arial"/>
                <a:cs typeface="Arial"/>
              </a:rPr>
              <a:t> Wei (z5375926)</a:t>
            </a:r>
          </a:p>
        </p:txBody>
      </p:sp>
      <p:sp>
        <p:nvSpPr>
          <p:cNvPr id="7" name="Rectangle 1">
            <a:extLst>
              <a:ext uri="{FF2B5EF4-FFF2-40B4-BE49-F238E27FC236}">
                <a16:creationId xmlns:a16="http://schemas.microsoft.com/office/drawing/2014/main" id="{297601DE-B36F-459A-9E7C-AA6343BAA193}"/>
              </a:ext>
            </a:extLst>
          </p:cNvPr>
          <p:cNvSpPr>
            <a:spLocks noChangeArrowheads="1"/>
          </p:cNvSpPr>
          <p:nvPr/>
        </p:nvSpPr>
        <p:spPr bwMode="auto">
          <a:xfrm>
            <a:off x="719866" y="226915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1F3680E0-B45E-CDC1-3A76-0CE47928EC64}"/>
              </a:ext>
            </a:extLst>
          </p:cNvPr>
          <p:cNvGraphicFramePr>
            <a:graphicFrameLocks noGrp="1"/>
          </p:cNvGraphicFramePr>
          <p:nvPr>
            <p:extLst>
              <p:ext uri="{D42A27DB-BD31-4B8C-83A1-F6EECF244321}">
                <p14:modId xmlns:p14="http://schemas.microsoft.com/office/powerpoint/2010/main" val="2125582693"/>
              </p:ext>
            </p:extLst>
          </p:nvPr>
        </p:nvGraphicFramePr>
        <p:xfrm>
          <a:off x="432740" y="2003777"/>
          <a:ext cx="10395651" cy="2468878"/>
        </p:xfrm>
        <a:graphic>
          <a:graphicData uri="http://schemas.openxmlformats.org/drawingml/2006/table">
            <a:tbl>
              <a:tblPr firstRow="1" bandRow="1">
                <a:tableStyleId>{5C22544A-7EE6-4342-B048-85BDC9FD1C3A}</a:tableStyleId>
              </a:tblPr>
              <a:tblGrid>
                <a:gridCol w="1738790">
                  <a:extLst>
                    <a:ext uri="{9D8B030D-6E8A-4147-A177-3AD203B41FA5}">
                      <a16:colId xmlns:a16="http://schemas.microsoft.com/office/drawing/2014/main" val="3846471263"/>
                    </a:ext>
                  </a:extLst>
                </a:gridCol>
                <a:gridCol w="2029157">
                  <a:extLst>
                    <a:ext uri="{9D8B030D-6E8A-4147-A177-3AD203B41FA5}">
                      <a16:colId xmlns:a16="http://schemas.microsoft.com/office/drawing/2014/main" val="2439658541"/>
                    </a:ext>
                  </a:extLst>
                </a:gridCol>
                <a:gridCol w="1616053">
                  <a:extLst>
                    <a:ext uri="{9D8B030D-6E8A-4147-A177-3AD203B41FA5}">
                      <a16:colId xmlns:a16="http://schemas.microsoft.com/office/drawing/2014/main" val="2051487760"/>
                    </a:ext>
                  </a:extLst>
                </a:gridCol>
                <a:gridCol w="1789932">
                  <a:extLst>
                    <a:ext uri="{9D8B030D-6E8A-4147-A177-3AD203B41FA5}">
                      <a16:colId xmlns:a16="http://schemas.microsoft.com/office/drawing/2014/main" val="521350831"/>
                    </a:ext>
                  </a:extLst>
                </a:gridCol>
                <a:gridCol w="1490347">
                  <a:extLst>
                    <a:ext uri="{9D8B030D-6E8A-4147-A177-3AD203B41FA5}">
                      <a16:colId xmlns:a16="http://schemas.microsoft.com/office/drawing/2014/main" val="1017851333"/>
                    </a:ext>
                  </a:extLst>
                </a:gridCol>
                <a:gridCol w="1731372">
                  <a:extLst>
                    <a:ext uri="{9D8B030D-6E8A-4147-A177-3AD203B41FA5}">
                      <a16:colId xmlns:a16="http://schemas.microsoft.com/office/drawing/2014/main" val="1147942159"/>
                    </a:ext>
                  </a:extLst>
                </a:gridCol>
              </a:tblGrid>
              <a:tr h="445426">
                <a:tc>
                  <a:txBody>
                    <a:bodyPr/>
                    <a:lstStyle/>
                    <a:p>
                      <a:pPr lvl="0">
                        <a:buNone/>
                      </a:pPr>
                      <a:r>
                        <a:rPr lang="en-AU" sz="1800" b="1" i="0" u="none" strike="noStrike" noProof="0" dirty="0">
                          <a:solidFill>
                            <a:srgbClr val="FFFFFF"/>
                          </a:solidFill>
                          <a:effectLst/>
                          <a:latin typeface="Calibri"/>
                        </a:rPr>
                        <a:t>Batch Size</a:t>
                      </a:r>
                      <a:endParaRPr lang="en-US" dirty="0"/>
                    </a:p>
                  </a:txBody>
                  <a:tcPr anchor="ctr"/>
                </a:tc>
                <a:tc>
                  <a:txBody>
                    <a:bodyPr/>
                    <a:lstStyle/>
                    <a:p>
                      <a:pPr lvl="0">
                        <a:buNone/>
                      </a:pPr>
                      <a:r>
                        <a:rPr lang="en-AU" b="1" dirty="0">
                          <a:effectLst/>
                        </a:rPr>
                        <a:t>Weight Decay</a:t>
                      </a:r>
                      <a:endParaRPr lang="en-US" dirty="0"/>
                    </a:p>
                  </a:txBody>
                  <a:tcPr anchor="ctr"/>
                </a:tc>
                <a:tc>
                  <a:txBody>
                    <a:bodyPr/>
                    <a:lstStyle/>
                    <a:p>
                      <a:pPr lvl="0">
                        <a:buNone/>
                      </a:pPr>
                      <a:r>
                        <a:rPr lang="en-AU" b="1" dirty="0">
                          <a:effectLst/>
                        </a:rPr>
                        <a:t>Precision</a:t>
                      </a:r>
                      <a:endParaRPr lang="en-AU" b="1" dirty="0" err="1">
                        <a:effectLst/>
                      </a:endParaRPr>
                    </a:p>
                  </a:txBody>
                  <a:tcPr anchor="ctr"/>
                </a:tc>
                <a:tc>
                  <a:txBody>
                    <a:bodyPr/>
                    <a:lstStyle/>
                    <a:p>
                      <a:pPr lvl="0">
                        <a:buNone/>
                      </a:pPr>
                      <a:r>
                        <a:rPr lang="en-AU" b="1" dirty="0">
                          <a:effectLst/>
                        </a:rPr>
                        <a:t>Recall</a:t>
                      </a:r>
                    </a:p>
                  </a:txBody>
                  <a:tcPr anchor="ctr"/>
                </a:tc>
                <a:tc>
                  <a:txBody>
                    <a:bodyPr/>
                    <a:lstStyle/>
                    <a:p>
                      <a:pPr lvl="0">
                        <a:buNone/>
                      </a:pPr>
                      <a:r>
                        <a:rPr lang="en-AU" b="1" dirty="0">
                          <a:effectLst/>
                        </a:rPr>
                        <a:t>F1</a:t>
                      </a:r>
                      <a:endParaRPr lang="en-US" dirty="0"/>
                    </a:p>
                  </a:txBody>
                  <a:tcPr anchor="ctr"/>
                </a:tc>
                <a:tc>
                  <a:txBody>
                    <a:bodyPr/>
                    <a:lstStyle/>
                    <a:p>
                      <a:pPr lvl="0">
                        <a:buNone/>
                      </a:pPr>
                      <a:r>
                        <a:rPr lang="en-AU" b="1" dirty="0">
                          <a:effectLst/>
                        </a:rPr>
                        <a:t>Accuracy</a:t>
                      </a:r>
                      <a:endParaRPr lang="en-US" dirty="0"/>
                    </a:p>
                  </a:txBody>
                  <a:tcPr anchor="ctr"/>
                </a:tc>
                <a:extLst>
                  <a:ext uri="{0D108BD9-81ED-4DB2-BD59-A6C34878D82A}">
                    <a16:rowId xmlns:a16="http://schemas.microsoft.com/office/drawing/2014/main" val="3808171333"/>
                  </a:ext>
                </a:extLst>
              </a:tr>
              <a:tr h="1011726">
                <a:tc>
                  <a:txBody>
                    <a:bodyPr/>
                    <a:lstStyle/>
                    <a:p>
                      <a:pPr lvl="0">
                        <a:buNone/>
                      </a:pPr>
                      <a:r>
                        <a:rPr lang="en-AU" sz="2400" dirty="0">
                          <a:effectLst/>
                        </a:rPr>
                        <a:t>64</a:t>
                      </a:r>
                      <a:endParaRPr lang="en-US" sz="2400" dirty="0"/>
                    </a:p>
                  </a:txBody>
                  <a:tcPr anchor="ctr"/>
                </a:tc>
                <a:tc>
                  <a:txBody>
                    <a:bodyPr/>
                    <a:lstStyle/>
                    <a:p>
                      <a:pPr lvl="0">
                        <a:buNone/>
                      </a:pPr>
                      <a:r>
                        <a:rPr lang="en-AU" sz="2400" dirty="0">
                          <a:effectLst/>
                        </a:rPr>
                        <a:t>0</a:t>
                      </a:r>
                      <a:endParaRPr lang="en-US" sz="2400" dirty="0"/>
                    </a:p>
                  </a:txBody>
                  <a:tcPr anchor="ctr"/>
                </a:tc>
                <a:tc>
                  <a:txBody>
                    <a:bodyPr/>
                    <a:lstStyle/>
                    <a:p>
                      <a:pPr lvl="0">
                        <a:buNone/>
                      </a:pPr>
                      <a:r>
                        <a:rPr lang="en-AU" sz="2400" dirty="0">
                          <a:effectLst/>
                        </a:rPr>
                        <a:t>88%</a:t>
                      </a:r>
                      <a:endParaRPr lang="en-US" sz="2400" dirty="0"/>
                    </a:p>
                  </a:txBody>
                  <a:tcPr anchor="ctr"/>
                </a:tc>
                <a:tc>
                  <a:txBody>
                    <a:bodyPr/>
                    <a:lstStyle/>
                    <a:p>
                      <a:pPr lvl="0">
                        <a:buNone/>
                      </a:pPr>
                      <a:r>
                        <a:rPr lang="en-AU" sz="2400" dirty="0">
                          <a:effectLst/>
                        </a:rPr>
                        <a:t>88%</a:t>
                      </a:r>
                    </a:p>
                  </a:txBody>
                  <a:tcPr anchor="ctr"/>
                </a:tc>
                <a:tc>
                  <a:txBody>
                    <a:bodyPr/>
                    <a:lstStyle/>
                    <a:p>
                      <a:pPr lvl="0">
                        <a:buNone/>
                      </a:pPr>
                      <a:r>
                        <a:rPr lang="en-AU" sz="2400" dirty="0">
                          <a:effectLst/>
                        </a:rPr>
                        <a:t>88%</a:t>
                      </a:r>
                    </a:p>
                  </a:txBody>
                  <a:tcPr anchor="ctr"/>
                </a:tc>
                <a:tc>
                  <a:txBody>
                    <a:bodyPr/>
                    <a:lstStyle/>
                    <a:p>
                      <a:pPr lvl="0">
                        <a:buNone/>
                      </a:pPr>
                      <a:r>
                        <a:rPr lang="en-AU" sz="2400" dirty="0">
                          <a:effectLst/>
                        </a:rPr>
                        <a:t>88%</a:t>
                      </a:r>
                      <a:endParaRPr lang="en-US" sz="2400" dirty="0"/>
                    </a:p>
                  </a:txBody>
                  <a:tcPr anchor="ctr"/>
                </a:tc>
                <a:extLst>
                  <a:ext uri="{0D108BD9-81ED-4DB2-BD59-A6C34878D82A}">
                    <a16:rowId xmlns:a16="http://schemas.microsoft.com/office/drawing/2014/main" val="1173701"/>
                  </a:ext>
                </a:extLst>
              </a:tr>
              <a:tr h="1011726">
                <a:tc>
                  <a:txBody>
                    <a:bodyPr/>
                    <a:lstStyle/>
                    <a:p>
                      <a:pPr lvl="0">
                        <a:buNone/>
                      </a:pPr>
                      <a:r>
                        <a:rPr lang="en-AU" sz="2400" dirty="0">
                          <a:effectLst/>
                        </a:rPr>
                        <a:t>16</a:t>
                      </a:r>
                      <a:endParaRPr lang="en-US" sz="2400" dirty="0"/>
                    </a:p>
                  </a:txBody>
                  <a:tcPr anchor="ctr"/>
                </a:tc>
                <a:tc>
                  <a:txBody>
                    <a:bodyPr/>
                    <a:lstStyle/>
                    <a:p>
                      <a:pPr lvl="0">
                        <a:buNone/>
                      </a:pPr>
                      <a:r>
                        <a:rPr lang="en-AU" sz="2400" dirty="0">
                          <a:effectLst/>
                        </a:rPr>
                        <a:t>0.00005</a:t>
                      </a:r>
                      <a:endParaRPr lang="en-US" sz="2400" dirty="0"/>
                    </a:p>
                  </a:txBody>
                  <a:tcPr anchor="ctr"/>
                </a:tc>
                <a:tc>
                  <a:txBody>
                    <a:bodyPr/>
                    <a:lstStyle/>
                    <a:p>
                      <a:pPr lvl="0">
                        <a:buNone/>
                      </a:pPr>
                      <a:r>
                        <a:rPr lang="en-AU" sz="2400" dirty="0">
                          <a:effectLst/>
                        </a:rPr>
                        <a:t>94%</a:t>
                      </a:r>
                    </a:p>
                  </a:txBody>
                  <a:tcPr anchor="ctr"/>
                </a:tc>
                <a:tc>
                  <a:txBody>
                    <a:bodyPr/>
                    <a:lstStyle/>
                    <a:p>
                      <a:pPr lvl="0">
                        <a:buNone/>
                      </a:pPr>
                      <a:r>
                        <a:rPr lang="en-AU" sz="2400" dirty="0">
                          <a:effectLst/>
                        </a:rPr>
                        <a:t>94%</a:t>
                      </a:r>
                    </a:p>
                  </a:txBody>
                  <a:tcPr anchor="ctr"/>
                </a:tc>
                <a:tc>
                  <a:txBody>
                    <a:bodyPr/>
                    <a:lstStyle/>
                    <a:p>
                      <a:pPr lvl="0">
                        <a:buNone/>
                      </a:pPr>
                      <a:r>
                        <a:rPr lang="en-AU" sz="2400" dirty="0">
                          <a:effectLst/>
                        </a:rPr>
                        <a:t>94%</a:t>
                      </a:r>
                    </a:p>
                  </a:txBody>
                  <a:tcPr anchor="ctr"/>
                </a:tc>
                <a:tc>
                  <a:txBody>
                    <a:bodyPr/>
                    <a:lstStyle/>
                    <a:p>
                      <a:pPr lvl="0">
                        <a:buNone/>
                      </a:pPr>
                      <a:r>
                        <a:rPr lang="en-AU" sz="2400" dirty="0">
                          <a:effectLst/>
                        </a:rPr>
                        <a:t>94%</a:t>
                      </a:r>
                      <a:endParaRPr lang="en-US" sz="2400" dirty="0"/>
                    </a:p>
                  </a:txBody>
                  <a:tcPr anchor="ctr"/>
                </a:tc>
                <a:extLst>
                  <a:ext uri="{0D108BD9-81ED-4DB2-BD59-A6C34878D82A}">
                    <a16:rowId xmlns:a16="http://schemas.microsoft.com/office/drawing/2014/main" val="62683820"/>
                  </a:ext>
                </a:extLst>
              </a:tr>
            </a:tbl>
          </a:graphicData>
        </a:graphic>
      </p:graphicFrame>
    </p:spTree>
    <p:extLst>
      <p:ext uri="{BB962C8B-B14F-4D97-AF65-F5344CB8AC3E}">
        <p14:creationId xmlns:p14="http://schemas.microsoft.com/office/powerpoint/2010/main" val="424244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613C2-F252-550F-3E7F-622343007F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F33BEB-43F7-4C92-010D-4AD6DB3271F0}"/>
              </a:ext>
            </a:extLst>
          </p:cNvPr>
          <p:cNvSpPr>
            <a:spLocks noGrp="1"/>
          </p:cNvSpPr>
          <p:nvPr>
            <p:ph type="title"/>
          </p:nvPr>
        </p:nvSpPr>
        <p:spPr>
          <a:xfrm>
            <a:off x="231648" y="136525"/>
            <a:ext cx="11631168" cy="838835"/>
          </a:xfrm>
        </p:spPr>
        <p:txBody>
          <a:bodyPr>
            <a:normAutofit/>
          </a:bodyPr>
          <a:lstStyle/>
          <a:p>
            <a:r>
              <a:rPr lang="en-AU" altLang="zh-CN">
                <a:latin typeface="Arial"/>
                <a:ea typeface="Roboto"/>
                <a:cs typeface="Arial"/>
              </a:rPr>
              <a:t>LSTM – tokenizer selection</a:t>
            </a:r>
            <a:endParaRPr lang="zh-CN">
              <a:latin typeface="Arial"/>
              <a:cs typeface="Arial"/>
            </a:endParaRPr>
          </a:p>
        </p:txBody>
      </p:sp>
      <p:sp>
        <p:nvSpPr>
          <p:cNvPr id="3" name="Content Placeholder 2">
            <a:extLst>
              <a:ext uri="{FF2B5EF4-FFF2-40B4-BE49-F238E27FC236}">
                <a16:creationId xmlns:a16="http://schemas.microsoft.com/office/drawing/2014/main" id="{0C9BD26D-49F4-5AB2-5BB7-5640080B883A}"/>
              </a:ext>
            </a:extLst>
          </p:cNvPr>
          <p:cNvSpPr>
            <a:spLocks noGrp="1"/>
          </p:cNvSpPr>
          <p:nvPr>
            <p:ph idx="1"/>
          </p:nvPr>
        </p:nvSpPr>
        <p:spPr>
          <a:xfrm>
            <a:off x="231649" y="1262220"/>
            <a:ext cx="10784182" cy="1674613"/>
          </a:xfrm>
        </p:spPr>
        <p:txBody>
          <a:bodyPr vert="horz" lIns="91440" tIns="45720" rIns="91440" bIns="45720" rtlCol="0" anchor="t">
            <a:normAutofit/>
          </a:bodyPr>
          <a:lstStyle/>
          <a:p>
            <a:pPr marL="0" indent="0">
              <a:buNone/>
            </a:pPr>
            <a:r>
              <a:rPr lang="en-AU" b="1">
                <a:latin typeface="Arial"/>
                <a:ea typeface="Roboto"/>
                <a:cs typeface="Arial"/>
              </a:rPr>
              <a:t>How tokenizer affects the performance</a:t>
            </a:r>
            <a:endParaRPr lang="en-AU" b="1"/>
          </a:p>
          <a:p>
            <a:pPr>
              <a:buFont typeface="Wingdings" panose="020B0604020202020204" pitchFamily="34" charset="0"/>
              <a:buChar char="Ø"/>
            </a:pPr>
            <a:r>
              <a:rPr lang="en-AU">
                <a:latin typeface="Arial"/>
                <a:ea typeface="Roboto"/>
                <a:cs typeface="Arial"/>
              </a:rPr>
              <a:t> Tokenizer1 - split using white spaces and punctuation</a:t>
            </a:r>
          </a:p>
          <a:p>
            <a:pPr>
              <a:buFont typeface="Wingdings" panose="020B0604020202020204" pitchFamily="34" charset="0"/>
              <a:buChar char="Ø"/>
            </a:pPr>
            <a:r>
              <a:rPr lang="en-AU">
                <a:latin typeface="Arial"/>
                <a:ea typeface="Roboto"/>
                <a:cs typeface="Arial"/>
              </a:rPr>
              <a:t> Tokenizer2 - split using white space, including punctuation</a:t>
            </a:r>
          </a:p>
          <a:p>
            <a:pPr>
              <a:buFont typeface="Wingdings" pitchFamily="2" charset="2"/>
              <a:buChar char="Ø"/>
            </a:pPr>
            <a:endParaRPr lang="en-AU" b="1">
              <a:ea typeface="Roboto"/>
            </a:endParaRPr>
          </a:p>
        </p:txBody>
      </p:sp>
      <p:sp>
        <p:nvSpPr>
          <p:cNvPr id="4" name="Slide Number Placeholder 3">
            <a:extLst>
              <a:ext uri="{FF2B5EF4-FFF2-40B4-BE49-F238E27FC236}">
                <a16:creationId xmlns:a16="http://schemas.microsoft.com/office/drawing/2014/main" id="{920A54CF-C17F-6D02-55C7-D225B46D3717}"/>
              </a:ext>
            </a:extLst>
          </p:cNvPr>
          <p:cNvSpPr>
            <a:spLocks noGrp="1"/>
          </p:cNvSpPr>
          <p:nvPr>
            <p:ph type="sldNum" sz="quarter" idx="12"/>
          </p:nvPr>
        </p:nvSpPr>
        <p:spPr/>
        <p:txBody>
          <a:bodyPr/>
          <a:lstStyle/>
          <a:p>
            <a:fld id="{6BAD6A8B-B5C3-4437-A9DE-A8C2149171DD}" type="slidenum">
              <a:rPr lang="en-AU" smtClean="0"/>
              <a:t>19</a:t>
            </a:fld>
            <a:endParaRPr lang="en-AU"/>
          </a:p>
        </p:txBody>
      </p:sp>
      <p:sp>
        <p:nvSpPr>
          <p:cNvPr id="6" name="TextBox 5">
            <a:extLst>
              <a:ext uri="{FF2B5EF4-FFF2-40B4-BE49-F238E27FC236}">
                <a16:creationId xmlns:a16="http://schemas.microsoft.com/office/drawing/2014/main" id="{1C158DAB-4A6D-AF92-06DE-DE61FDC9B75E}"/>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a:t>
            </a:r>
            <a:r>
              <a:rPr lang="en-US" sz="1100" err="1">
                <a:latin typeface="Arial"/>
                <a:cs typeface="Arial"/>
              </a:rPr>
              <a:t>Chenglong</a:t>
            </a:r>
            <a:r>
              <a:rPr lang="en-US" sz="1100">
                <a:latin typeface="Arial"/>
                <a:cs typeface="Arial"/>
              </a:rPr>
              <a:t> Wei (z5375926)</a:t>
            </a:r>
          </a:p>
        </p:txBody>
      </p:sp>
      <p:sp>
        <p:nvSpPr>
          <p:cNvPr id="7" name="Rectangle 1">
            <a:extLst>
              <a:ext uri="{FF2B5EF4-FFF2-40B4-BE49-F238E27FC236}">
                <a16:creationId xmlns:a16="http://schemas.microsoft.com/office/drawing/2014/main" id="{FDCFD8D7-534A-6C5E-D486-07F395541B0C}"/>
              </a:ext>
            </a:extLst>
          </p:cNvPr>
          <p:cNvSpPr>
            <a:spLocks noChangeArrowheads="1"/>
          </p:cNvSpPr>
          <p:nvPr/>
        </p:nvSpPr>
        <p:spPr bwMode="auto">
          <a:xfrm>
            <a:off x="719866" y="226915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B130543B-E71D-2D75-E62E-5BC3CBD05F09}"/>
              </a:ext>
            </a:extLst>
          </p:cNvPr>
          <p:cNvGraphicFramePr>
            <a:graphicFrameLocks noGrp="1"/>
          </p:cNvGraphicFramePr>
          <p:nvPr>
            <p:extLst>
              <p:ext uri="{D42A27DB-BD31-4B8C-83A1-F6EECF244321}">
                <p14:modId xmlns:p14="http://schemas.microsoft.com/office/powerpoint/2010/main" val="26291442"/>
              </p:ext>
            </p:extLst>
          </p:nvPr>
        </p:nvGraphicFramePr>
        <p:xfrm>
          <a:off x="484481" y="2982148"/>
          <a:ext cx="10747988" cy="2863859"/>
        </p:xfrm>
        <a:graphic>
          <a:graphicData uri="http://schemas.openxmlformats.org/drawingml/2006/table">
            <a:tbl>
              <a:tblPr firstRow="1" bandRow="1">
                <a:tableStyleId>{5C22544A-7EE6-4342-B048-85BDC9FD1C3A}</a:tableStyleId>
              </a:tblPr>
              <a:tblGrid>
                <a:gridCol w="1778072">
                  <a:extLst>
                    <a:ext uri="{9D8B030D-6E8A-4147-A177-3AD203B41FA5}">
                      <a16:colId xmlns:a16="http://schemas.microsoft.com/office/drawing/2014/main" val="259200163"/>
                    </a:ext>
                  </a:extLst>
                </a:gridCol>
                <a:gridCol w="1406655">
                  <a:extLst>
                    <a:ext uri="{9D8B030D-6E8A-4147-A177-3AD203B41FA5}">
                      <a16:colId xmlns:a16="http://schemas.microsoft.com/office/drawing/2014/main" val="3907576594"/>
                    </a:ext>
                  </a:extLst>
                </a:gridCol>
                <a:gridCol w="1475278">
                  <a:extLst>
                    <a:ext uri="{9D8B030D-6E8A-4147-A177-3AD203B41FA5}">
                      <a16:colId xmlns:a16="http://schemas.microsoft.com/office/drawing/2014/main" val="1350230017"/>
                    </a:ext>
                  </a:extLst>
                </a:gridCol>
                <a:gridCol w="1442080">
                  <a:extLst>
                    <a:ext uri="{9D8B030D-6E8A-4147-A177-3AD203B41FA5}">
                      <a16:colId xmlns:a16="http://schemas.microsoft.com/office/drawing/2014/main" val="3398918889"/>
                    </a:ext>
                  </a:extLst>
                </a:gridCol>
                <a:gridCol w="1247109">
                  <a:extLst>
                    <a:ext uri="{9D8B030D-6E8A-4147-A177-3AD203B41FA5}">
                      <a16:colId xmlns:a16="http://schemas.microsoft.com/office/drawing/2014/main" val="1713597684"/>
                    </a:ext>
                  </a:extLst>
                </a:gridCol>
                <a:gridCol w="1247105">
                  <a:extLst>
                    <a:ext uri="{9D8B030D-6E8A-4147-A177-3AD203B41FA5}">
                      <a16:colId xmlns:a16="http://schemas.microsoft.com/office/drawing/2014/main" val="210749939"/>
                    </a:ext>
                  </a:extLst>
                </a:gridCol>
                <a:gridCol w="961449">
                  <a:extLst>
                    <a:ext uri="{9D8B030D-6E8A-4147-A177-3AD203B41FA5}">
                      <a16:colId xmlns:a16="http://schemas.microsoft.com/office/drawing/2014/main" val="4067278777"/>
                    </a:ext>
                  </a:extLst>
                </a:gridCol>
                <a:gridCol w="1190240">
                  <a:extLst>
                    <a:ext uri="{9D8B030D-6E8A-4147-A177-3AD203B41FA5}">
                      <a16:colId xmlns:a16="http://schemas.microsoft.com/office/drawing/2014/main" val="1882689801"/>
                    </a:ext>
                  </a:extLst>
                </a:gridCol>
              </a:tblGrid>
              <a:tr h="662459">
                <a:tc>
                  <a:txBody>
                    <a:bodyPr/>
                    <a:lstStyle/>
                    <a:p>
                      <a:pPr fontAlgn="ctr"/>
                      <a:r>
                        <a:rPr lang="en-AU" b="1">
                          <a:effectLst/>
                        </a:rPr>
                        <a:t>Tokenizer</a:t>
                      </a:r>
                    </a:p>
                  </a:txBody>
                  <a:tcPr anchor="ctr"/>
                </a:tc>
                <a:tc>
                  <a:txBody>
                    <a:bodyPr/>
                    <a:lstStyle/>
                    <a:p>
                      <a:pPr fontAlgn="ctr"/>
                      <a:r>
                        <a:rPr lang="en-AU" b="1">
                          <a:effectLst/>
                        </a:rPr>
                        <a:t>Weight Decay</a:t>
                      </a:r>
                    </a:p>
                  </a:txBody>
                  <a:tcPr anchor="ctr"/>
                </a:tc>
                <a:tc>
                  <a:txBody>
                    <a:bodyPr/>
                    <a:lstStyle/>
                    <a:p>
                      <a:pPr fontAlgn="ctr"/>
                      <a:r>
                        <a:rPr lang="en-AU" b="1">
                          <a:effectLst/>
                        </a:rPr>
                        <a:t>Embedding Dim</a:t>
                      </a:r>
                    </a:p>
                  </a:txBody>
                  <a:tcPr anchor="ctr"/>
                </a:tc>
                <a:tc>
                  <a:txBody>
                    <a:bodyPr/>
                    <a:lstStyle/>
                    <a:p>
                      <a:pPr fontAlgn="ctr"/>
                      <a:r>
                        <a:rPr lang="en-AU" b="1">
                          <a:effectLst/>
                        </a:rPr>
                        <a:t>Hidden Units</a:t>
                      </a:r>
                      <a:endParaRPr lang="en-AU" b="1" err="1">
                        <a:effectLst/>
                      </a:endParaRPr>
                    </a:p>
                  </a:txBody>
                  <a:tcPr anchor="ctr"/>
                </a:tc>
                <a:tc>
                  <a:txBody>
                    <a:bodyPr/>
                    <a:lstStyle/>
                    <a:p>
                      <a:pPr lvl="0">
                        <a:buNone/>
                      </a:pPr>
                      <a:r>
                        <a:rPr lang="en-AU" b="1">
                          <a:effectLst/>
                        </a:rPr>
                        <a:t>Precision</a:t>
                      </a:r>
                    </a:p>
                  </a:txBody>
                  <a:tcPr anchor="ctr"/>
                </a:tc>
                <a:tc>
                  <a:txBody>
                    <a:bodyPr/>
                    <a:lstStyle/>
                    <a:p>
                      <a:pPr lvl="0">
                        <a:buNone/>
                      </a:pPr>
                      <a:r>
                        <a:rPr lang="en-AU" b="1">
                          <a:effectLst/>
                        </a:rPr>
                        <a:t>Recall</a:t>
                      </a:r>
                      <a:endParaRPr lang="en-US"/>
                    </a:p>
                  </a:txBody>
                  <a:tcPr anchor="ctr"/>
                </a:tc>
                <a:tc>
                  <a:txBody>
                    <a:bodyPr/>
                    <a:lstStyle/>
                    <a:p>
                      <a:pPr lvl="0">
                        <a:buNone/>
                      </a:pPr>
                      <a:r>
                        <a:rPr lang="en-AU" b="1">
                          <a:effectLst/>
                        </a:rPr>
                        <a:t>F1</a:t>
                      </a:r>
                      <a:endParaRPr lang="en-US"/>
                    </a:p>
                  </a:txBody>
                  <a:tcPr anchor="ctr"/>
                </a:tc>
                <a:tc>
                  <a:txBody>
                    <a:bodyPr/>
                    <a:lstStyle/>
                    <a:p>
                      <a:pPr fontAlgn="ctr"/>
                      <a:r>
                        <a:rPr lang="en-AU" b="1">
                          <a:effectLst/>
                        </a:rPr>
                        <a:t>Accuracy</a:t>
                      </a:r>
                    </a:p>
                  </a:txBody>
                  <a:tcPr anchor="ctr"/>
                </a:tc>
                <a:extLst>
                  <a:ext uri="{0D108BD9-81ED-4DB2-BD59-A6C34878D82A}">
                    <a16:rowId xmlns:a16="http://schemas.microsoft.com/office/drawing/2014/main" val="1418323408"/>
                  </a:ext>
                </a:extLst>
              </a:tr>
              <a:tr h="733800">
                <a:tc>
                  <a:txBody>
                    <a:bodyPr/>
                    <a:lstStyle/>
                    <a:p>
                      <a:pPr fontAlgn="ctr"/>
                      <a:r>
                        <a:rPr lang="en-AU" sz="2400">
                          <a:effectLst/>
                        </a:rPr>
                        <a:t>Tokenizer1</a:t>
                      </a:r>
                    </a:p>
                  </a:txBody>
                  <a:tcPr anchor="ctr"/>
                </a:tc>
                <a:tc>
                  <a:txBody>
                    <a:bodyPr/>
                    <a:lstStyle/>
                    <a:p>
                      <a:pPr fontAlgn="ctr"/>
                      <a:r>
                        <a:rPr lang="en-AU" sz="2400">
                          <a:effectLst/>
                        </a:rPr>
                        <a:t>0.00005</a:t>
                      </a:r>
                    </a:p>
                  </a:txBody>
                  <a:tcPr anchor="ctr"/>
                </a:tc>
                <a:tc>
                  <a:txBody>
                    <a:bodyPr/>
                    <a:lstStyle/>
                    <a:p>
                      <a:pPr fontAlgn="ctr"/>
                      <a:r>
                        <a:rPr lang="en-AU" sz="2400">
                          <a:effectLst/>
                        </a:rPr>
                        <a:t>40</a:t>
                      </a:r>
                    </a:p>
                  </a:txBody>
                  <a:tcPr anchor="ctr"/>
                </a:tc>
                <a:tc>
                  <a:txBody>
                    <a:bodyPr/>
                    <a:lstStyle/>
                    <a:p>
                      <a:pPr fontAlgn="ctr"/>
                      <a:r>
                        <a:rPr lang="en-AU" sz="2400">
                          <a:effectLst/>
                        </a:rPr>
                        <a:t>64</a:t>
                      </a:r>
                    </a:p>
                  </a:txBody>
                  <a:tcPr anchor="ctr"/>
                </a:tc>
                <a:tc>
                  <a:txBody>
                    <a:bodyPr/>
                    <a:lstStyle/>
                    <a:p>
                      <a:pPr lvl="0">
                        <a:buNone/>
                      </a:pPr>
                      <a:r>
                        <a:rPr lang="en-AU" sz="2400">
                          <a:effectLst/>
                        </a:rPr>
                        <a:t>56%</a:t>
                      </a:r>
                    </a:p>
                  </a:txBody>
                  <a:tcPr anchor="ctr"/>
                </a:tc>
                <a:tc>
                  <a:txBody>
                    <a:bodyPr/>
                    <a:lstStyle/>
                    <a:p>
                      <a:pPr lvl="0">
                        <a:buNone/>
                      </a:pPr>
                      <a:r>
                        <a:rPr lang="en-AU" sz="2400">
                          <a:effectLst/>
                        </a:rPr>
                        <a:t>75%</a:t>
                      </a:r>
                    </a:p>
                  </a:txBody>
                  <a:tcPr anchor="ctr"/>
                </a:tc>
                <a:tc>
                  <a:txBody>
                    <a:bodyPr/>
                    <a:lstStyle/>
                    <a:p>
                      <a:pPr lvl="0">
                        <a:buNone/>
                      </a:pPr>
                      <a:r>
                        <a:rPr lang="en-AU" sz="2400">
                          <a:effectLst/>
                        </a:rPr>
                        <a:t>64%</a:t>
                      </a:r>
                    </a:p>
                  </a:txBody>
                  <a:tcPr anchor="ctr"/>
                </a:tc>
                <a:tc>
                  <a:txBody>
                    <a:bodyPr/>
                    <a:lstStyle/>
                    <a:p>
                      <a:pPr fontAlgn="ctr"/>
                      <a:r>
                        <a:rPr lang="en-AU" sz="2400">
                          <a:effectLst/>
                        </a:rPr>
                        <a:t>75%</a:t>
                      </a:r>
                    </a:p>
                  </a:txBody>
                  <a:tcPr anchor="ctr"/>
                </a:tc>
                <a:extLst>
                  <a:ext uri="{0D108BD9-81ED-4DB2-BD59-A6C34878D82A}">
                    <a16:rowId xmlns:a16="http://schemas.microsoft.com/office/drawing/2014/main" val="724175188"/>
                  </a:ext>
                </a:extLst>
              </a:tr>
              <a:tr h="733800">
                <a:tc>
                  <a:txBody>
                    <a:bodyPr/>
                    <a:lstStyle/>
                    <a:p>
                      <a:pPr fontAlgn="ctr"/>
                      <a:r>
                        <a:rPr lang="en-AU" sz="2400">
                          <a:effectLst/>
                        </a:rPr>
                        <a:t>Tokenizer1</a:t>
                      </a:r>
                      <a:endParaRPr lang="en-AU" sz="2400" err="1">
                        <a:effectLst/>
                      </a:endParaRPr>
                    </a:p>
                  </a:txBody>
                  <a:tcPr anchor="ctr"/>
                </a:tc>
                <a:tc>
                  <a:txBody>
                    <a:bodyPr/>
                    <a:lstStyle/>
                    <a:p>
                      <a:pPr fontAlgn="ctr"/>
                      <a:r>
                        <a:rPr lang="en-AU" sz="2400">
                          <a:effectLst/>
                        </a:rPr>
                        <a:t>0</a:t>
                      </a:r>
                    </a:p>
                  </a:txBody>
                  <a:tcPr anchor="ctr"/>
                </a:tc>
                <a:tc>
                  <a:txBody>
                    <a:bodyPr/>
                    <a:lstStyle/>
                    <a:p>
                      <a:pPr fontAlgn="ctr"/>
                      <a:r>
                        <a:rPr lang="en-AU" sz="2400">
                          <a:effectLst/>
                        </a:rPr>
                        <a:t>128</a:t>
                      </a:r>
                    </a:p>
                  </a:txBody>
                  <a:tcPr anchor="ctr"/>
                </a:tc>
                <a:tc>
                  <a:txBody>
                    <a:bodyPr/>
                    <a:lstStyle/>
                    <a:p>
                      <a:pPr fontAlgn="ctr"/>
                      <a:r>
                        <a:rPr lang="en-AU" sz="2400">
                          <a:effectLst/>
                        </a:rPr>
                        <a:t>128</a:t>
                      </a:r>
                    </a:p>
                  </a:txBody>
                  <a:tcPr anchor="ctr"/>
                </a:tc>
                <a:tc>
                  <a:txBody>
                    <a:bodyPr/>
                    <a:lstStyle/>
                    <a:p>
                      <a:pPr lvl="0">
                        <a:buNone/>
                      </a:pPr>
                      <a:r>
                        <a:rPr lang="en-AU" sz="2400">
                          <a:effectLst/>
                        </a:rPr>
                        <a:t>92%</a:t>
                      </a:r>
                    </a:p>
                  </a:txBody>
                  <a:tcPr anchor="ctr"/>
                </a:tc>
                <a:tc>
                  <a:txBody>
                    <a:bodyPr/>
                    <a:lstStyle/>
                    <a:p>
                      <a:pPr lvl="0">
                        <a:buNone/>
                      </a:pPr>
                      <a:r>
                        <a:rPr lang="en-AU" sz="2400">
                          <a:effectLst/>
                        </a:rPr>
                        <a:t>92%</a:t>
                      </a:r>
                    </a:p>
                  </a:txBody>
                  <a:tcPr anchor="ctr"/>
                </a:tc>
                <a:tc>
                  <a:txBody>
                    <a:bodyPr/>
                    <a:lstStyle/>
                    <a:p>
                      <a:pPr lvl="0">
                        <a:buNone/>
                      </a:pPr>
                      <a:r>
                        <a:rPr lang="en-AU" sz="2400">
                          <a:effectLst/>
                        </a:rPr>
                        <a:t>92%</a:t>
                      </a:r>
                    </a:p>
                  </a:txBody>
                  <a:tcPr anchor="ctr"/>
                </a:tc>
                <a:tc>
                  <a:txBody>
                    <a:bodyPr/>
                    <a:lstStyle/>
                    <a:p>
                      <a:pPr fontAlgn="ctr"/>
                      <a:r>
                        <a:rPr lang="en-AU" sz="2400">
                          <a:effectLst/>
                        </a:rPr>
                        <a:t>92%</a:t>
                      </a:r>
                    </a:p>
                  </a:txBody>
                  <a:tcPr anchor="ctr"/>
                </a:tc>
                <a:extLst>
                  <a:ext uri="{0D108BD9-81ED-4DB2-BD59-A6C34878D82A}">
                    <a16:rowId xmlns:a16="http://schemas.microsoft.com/office/drawing/2014/main" val="285633860"/>
                  </a:ext>
                </a:extLst>
              </a:tr>
              <a:tr h="733800">
                <a:tc>
                  <a:txBody>
                    <a:bodyPr/>
                    <a:lstStyle/>
                    <a:p>
                      <a:pPr fontAlgn="ctr"/>
                      <a:r>
                        <a:rPr lang="en-AU" sz="2400">
                          <a:effectLst/>
                        </a:rPr>
                        <a:t>Tokenizer2</a:t>
                      </a:r>
                    </a:p>
                  </a:txBody>
                  <a:tcPr anchor="ctr"/>
                </a:tc>
                <a:tc>
                  <a:txBody>
                    <a:bodyPr/>
                    <a:lstStyle/>
                    <a:p>
                      <a:pPr fontAlgn="ctr"/>
                      <a:r>
                        <a:rPr lang="en-AU" sz="2400">
                          <a:effectLst/>
                        </a:rPr>
                        <a:t>0.00005</a:t>
                      </a:r>
                    </a:p>
                  </a:txBody>
                  <a:tcPr anchor="ctr"/>
                </a:tc>
                <a:tc>
                  <a:txBody>
                    <a:bodyPr/>
                    <a:lstStyle/>
                    <a:p>
                      <a:pPr fontAlgn="ctr"/>
                      <a:r>
                        <a:rPr lang="en-AU" sz="2400">
                          <a:effectLst/>
                        </a:rPr>
                        <a:t>40</a:t>
                      </a:r>
                    </a:p>
                  </a:txBody>
                  <a:tcPr anchor="ctr"/>
                </a:tc>
                <a:tc>
                  <a:txBody>
                    <a:bodyPr/>
                    <a:lstStyle/>
                    <a:p>
                      <a:pPr fontAlgn="ctr"/>
                      <a:r>
                        <a:rPr lang="en-AU" sz="2400">
                          <a:effectLst/>
                        </a:rPr>
                        <a:t>64</a:t>
                      </a:r>
                    </a:p>
                  </a:txBody>
                  <a:tcPr anchor="ctr"/>
                </a:tc>
                <a:tc>
                  <a:txBody>
                    <a:bodyPr/>
                    <a:lstStyle/>
                    <a:p>
                      <a:pPr lvl="0">
                        <a:buNone/>
                      </a:pPr>
                      <a:r>
                        <a:rPr lang="en-AU" sz="2400">
                          <a:effectLst/>
                        </a:rPr>
                        <a:t>94%</a:t>
                      </a:r>
                    </a:p>
                  </a:txBody>
                  <a:tcPr anchor="ctr"/>
                </a:tc>
                <a:tc>
                  <a:txBody>
                    <a:bodyPr/>
                    <a:lstStyle/>
                    <a:p>
                      <a:pPr lvl="0">
                        <a:buNone/>
                      </a:pPr>
                      <a:r>
                        <a:rPr lang="en-AU" sz="2400">
                          <a:effectLst/>
                        </a:rPr>
                        <a:t>94%</a:t>
                      </a:r>
                    </a:p>
                  </a:txBody>
                  <a:tcPr anchor="ctr"/>
                </a:tc>
                <a:tc>
                  <a:txBody>
                    <a:bodyPr/>
                    <a:lstStyle/>
                    <a:p>
                      <a:pPr lvl="0">
                        <a:buNone/>
                      </a:pPr>
                      <a:r>
                        <a:rPr lang="en-AU" sz="2400">
                          <a:effectLst/>
                        </a:rPr>
                        <a:t>94%</a:t>
                      </a:r>
                    </a:p>
                  </a:txBody>
                  <a:tcPr anchor="ctr"/>
                </a:tc>
                <a:tc>
                  <a:txBody>
                    <a:bodyPr/>
                    <a:lstStyle/>
                    <a:p>
                      <a:pPr fontAlgn="ctr"/>
                      <a:r>
                        <a:rPr lang="en-AU" sz="2400">
                          <a:effectLst/>
                        </a:rPr>
                        <a:t>94%</a:t>
                      </a:r>
                    </a:p>
                  </a:txBody>
                  <a:tcPr anchor="ctr"/>
                </a:tc>
                <a:extLst>
                  <a:ext uri="{0D108BD9-81ED-4DB2-BD59-A6C34878D82A}">
                    <a16:rowId xmlns:a16="http://schemas.microsoft.com/office/drawing/2014/main" val="4178162710"/>
                  </a:ext>
                </a:extLst>
              </a:tr>
            </a:tbl>
          </a:graphicData>
        </a:graphic>
      </p:graphicFrame>
    </p:spTree>
    <p:extLst>
      <p:ext uri="{BB962C8B-B14F-4D97-AF65-F5344CB8AC3E}">
        <p14:creationId xmlns:p14="http://schemas.microsoft.com/office/powerpoint/2010/main" val="1573082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DBD0D-648C-CE7D-24E2-8D5EC0933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5F586-F6F5-A40C-065C-F9EEC1615D78}"/>
              </a:ext>
            </a:extLst>
          </p:cNvPr>
          <p:cNvSpPr>
            <a:spLocks noGrp="1"/>
          </p:cNvSpPr>
          <p:nvPr>
            <p:ph type="title"/>
          </p:nvPr>
        </p:nvSpPr>
        <p:spPr>
          <a:xfrm>
            <a:off x="231648" y="136525"/>
            <a:ext cx="11631168" cy="838835"/>
          </a:xfrm>
        </p:spPr>
        <p:txBody>
          <a:bodyPr>
            <a:normAutofit/>
          </a:bodyPr>
          <a:lstStyle/>
          <a:p>
            <a:r>
              <a:rPr lang="en-AU" altLang="zh-CN">
                <a:latin typeface="Arial"/>
                <a:ea typeface="Roboto"/>
                <a:cs typeface="Arial"/>
              </a:rPr>
              <a:t>GRU Model</a:t>
            </a:r>
            <a:endParaRPr lang="en-US" altLang="zh-CN"/>
          </a:p>
        </p:txBody>
      </p:sp>
      <p:sp>
        <p:nvSpPr>
          <p:cNvPr id="4" name="Slide Number Placeholder 3">
            <a:extLst>
              <a:ext uri="{FF2B5EF4-FFF2-40B4-BE49-F238E27FC236}">
                <a16:creationId xmlns:a16="http://schemas.microsoft.com/office/drawing/2014/main" id="{9698AAEF-5416-7D98-E6A9-C3F24DE26E30}"/>
              </a:ext>
            </a:extLst>
          </p:cNvPr>
          <p:cNvSpPr>
            <a:spLocks noGrp="1"/>
          </p:cNvSpPr>
          <p:nvPr>
            <p:ph type="sldNum" sz="quarter" idx="12"/>
          </p:nvPr>
        </p:nvSpPr>
        <p:spPr/>
        <p:txBody>
          <a:bodyPr/>
          <a:lstStyle/>
          <a:p>
            <a:fld id="{6BAD6A8B-B5C3-4437-A9DE-A8C2149171DD}" type="slidenum">
              <a:rPr lang="en-AU" smtClean="0"/>
              <a:t>20</a:t>
            </a:fld>
            <a:endParaRPr lang="en-AU"/>
          </a:p>
        </p:txBody>
      </p:sp>
      <p:sp>
        <p:nvSpPr>
          <p:cNvPr id="6" name="TextBox 5">
            <a:extLst>
              <a:ext uri="{FF2B5EF4-FFF2-40B4-BE49-F238E27FC236}">
                <a16:creationId xmlns:a16="http://schemas.microsoft.com/office/drawing/2014/main" id="{B68E847B-5B87-6814-F1FB-271AA46A67E1}"/>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a:t>
            </a:r>
            <a:r>
              <a:rPr lang="en-US" sz="1100" err="1">
                <a:latin typeface="Arial"/>
                <a:cs typeface="Arial"/>
              </a:rPr>
              <a:t>Gorjan</a:t>
            </a:r>
            <a:r>
              <a:rPr lang="en-US" sz="1100">
                <a:latin typeface="Arial"/>
                <a:cs typeface="Arial"/>
              </a:rPr>
              <a:t> Muratov (z5677486)</a:t>
            </a:r>
            <a:endParaRPr lang="en-US"/>
          </a:p>
        </p:txBody>
      </p:sp>
      <p:sp>
        <p:nvSpPr>
          <p:cNvPr id="7" name="Rectangle 1">
            <a:extLst>
              <a:ext uri="{FF2B5EF4-FFF2-40B4-BE49-F238E27FC236}">
                <a16:creationId xmlns:a16="http://schemas.microsoft.com/office/drawing/2014/main" id="{AAAB8F5F-EA25-43ED-0412-B45206064C77}"/>
              </a:ext>
            </a:extLst>
          </p:cNvPr>
          <p:cNvSpPr>
            <a:spLocks noChangeArrowheads="1"/>
          </p:cNvSpPr>
          <p:nvPr/>
        </p:nvSpPr>
        <p:spPr bwMode="auto">
          <a:xfrm>
            <a:off x="719866" y="226915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Content Placeholder 7">
            <a:extLst>
              <a:ext uri="{FF2B5EF4-FFF2-40B4-BE49-F238E27FC236}">
                <a16:creationId xmlns:a16="http://schemas.microsoft.com/office/drawing/2014/main" id="{EFE62D91-CB2D-A664-AE90-C0FD49F3D9C7}"/>
              </a:ext>
            </a:extLst>
          </p:cNvPr>
          <p:cNvSpPr>
            <a:spLocks noGrp="1"/>
          </p:cNvSpPr>
          <p:nvPr>
            <p:ph idx="1"/>
          </p:nvPr>
        </p:nvSpPr>
        <p:spPr>
          <a:xfrm>
            <a:off x="559676" y="1189749"/>
            <a:ext cx="10809890" cy="4277343"/>
          </a:xfrm>
        </p:spPr>
        <p:txBody>
          <a:bodyPr vert="horz" lIns="91440" tIns="45720" rIns="91440" bIns="45720" rtlCol="0" anchor="t">
            <a:normAutofit lnSpcReduction="10000"/>
          </a:bodyPr>
          <a:lstStyle/>
          <a:p>
            <a:pPr>
              <a:buFont typeface="Wingdings" panose="020B0604020202020204" pitchFamily="34" charset="0"/>
              <a:buChar char="Ø"/>
            </a:pPr>
            <a:r>
              <a:rPr lang="en-GB">
                <a:latin typeface="Arial"/>
                <a:ea typeface="Roboto"/>
                <a:cs typeface="Arial"/>
              </a:rPr>
              <a:t> Type of RNN</a:t>
            </a:r>
          </a:p>
          <a:p>
            <a:pPr>
              <a:buFont typeface="Wingdings" panose="020B0604020202020204" pitchFamily="34" charset="0"/>
              <a:buChar char="Ø"/>
            </a:pPr>
            <a:r>
              <a:rPr lang="en-GB">
                <a:latin typeface="Arial"/>
                <a:ea typeface="Roboto"/>
                <a:cs typeface="Arial"/>
              </a:rPr>
              <a:t> Similar to LSTM</a:t>
            </a:r>
            <a:endParaRPr lang="en-GB"/>
          </a:p>
          <a:p>
            <a:pPr>
              <a:buFont typeface="Wingdings" panose="020B0604020202020204" pitchFamily="34" charset="0"/>
              <a:buChar char="Ø"/>
            </a:pPr>
            <a:r>
              <a:rPr lang="en-GB">
                <a:latin typeface="Arial"/>
                <a:ea typeface="Roboto"/>
                <a:cs typeface="Arial"/>
              </a:rPr>
              <a:t> Utilises gates to learn</a:t>
            </a:r>
          </a:p>
          <a:p>
            <a:pPr>
              <a:buFont typeface="Wingdings" panose="020B0604020202020204" pitchFamily="34" charset="0"/>
              <a:buChar char="Ø"/>
            </a:pPr>
            <a:r>
              <a:rPr lang="en-GB">
                <a:latin typeface="Arial"/>
                <a:ea typeface="Roboto"/>
                <a:cs typeface="Arial"/>
              </a:rPr>
              <a:t> Simpler alternative to LSTM</a:t>
            </a:r>
            <a:endParaRPr lang="en-GB"/>
          </a:p>
          <a:p>
            <a:pPr>
              <a:buFont typeface="Wingdings" panose="020B0604020202020204" pitchFamily="34" charset="0"/>
              <a:buChar char="Ø"/>
            </a:pPr>
            <a:r>
              <a:rPr lang="en-GB">
                <a:latin typeface="Arial"/>
                <a:ea typeface="Roboto"/>
                <a:cs typeface="Arial"/>
              </a:rPr>
              <a:t> Created to fix vanishing gradient problem</a:t>
            </a:r>
          </a:p>
          <a:p>
            <a:pPr>
              <a:buFont typeface="Wingdings" panose="020B0604020202020204" pitchFamily="34" charset="0"/>
              <a:buChar char="Ø"/>
            </a:pPr>
            <a:endParaRPr lang="en-GB"/>
          </a:p>
          <a:p>
            <a:pPr marL="0" indent="0">
              <a:buNone/>
            </a:pPr>
            <a:r>
              <a:rPr lang="en-GB">
                <a:latin typeface="Arial"/>
                <a:ea typeface="Roboto"/>
                <a:cs typeface="Arial"/>
              </a:rPr>
              <a:t>Pros</a:t>
            </a:r>
          </a:p>
          <a:p>
            <a:pPr>
              <a:buFont typeface="Wingdings" panose="020B0604020202020204" pitchFamily="34" charset="0"/>
              <a:buChar char="Ø"/>
            </a:pPr>
            <a:r>
              <a:rPr lang="en-GB">
                <a:latin typeface="Arial"/>
                <a:ea typeface="Roboto"/>
                <a:cs typeface="Arial"/>
              </a:rPr>
              <a:t> Efficient training and faster inference</a:t>
            </a:r>
            <a:endParaRPr lang="en-GB"/>
          </a:p>
          <a:p>
            <a:pPr>
              <a:buFont typeface="Wingdings" panose="020B0604020202020204" pitchFamily="34" charset="0"/>
              <a:buChar char="Ø"/>
            </a:pPr>
            <a:r>
              <a:rPr lang="en-GB">
                <a:latin typeface="Arial"/>
                <a:ea typeface="Roboto"/>
                <a:cs typeface="Arial"/>
              </a:rPr>
              <a:t> Fewer parameters than LSTM with similar performance</a:t>
            </a:r>
            <a:endParaRPr lang="en-GB"/>
          </a:p>
          <a:p>
            <a:pPr>
              <a:buFont typeface="Wingdings" panose="020B0604020202020204" pitchFamily="34" charset="0"/>
              <a:buChar char="Ø"/>
            </a:pPr>
            <a:endParaRPr lang="en-GB"/>
          </a:p>
        </p:txBody>
      </p:sp>
    </p:spTree>
    <p:extLst>
      <p:ext uri="{BB962C8B-B14F-4D97-AF65-F5344CB8AC3E}">
        <p14:creationId xmlns:p14="http://schemas.microsoft.com/office/powerpoint/2010/main" val="2605482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E7948-6BF5-70C6-F592-335E6BCAC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F27E92-446D-62E2-08C6-D482E72986E8}"/>
              </a:ext>
            </a:extLst>
          </p:cNvPr>
          <p:cNvSpPr>
            <a:spLocks noGrp="1"/>
          </p:cNvSpPr>
          <p:nvPr>
            <p:ph type="title"/>
          </p:nvPr>
        </p:nvSpPr>
        <p:spPr>
          <a:xfrm>
            <a:off x="231648" y="136525"/>
            <a:ext cx="11631168" cy="838835"/>
          </a:xfrm>
        </p:spPr>
        <p:txBody>
          <a:bodyPr>
            <a:normAutofit/>
          </a:bodyPr>
          <a:lstStyle/>
          <a:p>
            <a:r>
              <a:rPr lang="en-AU" altLang="zh-CN">
                <a:latin typeface="Arial"/>
                <a:ea typeface="Roboto"/>
                <a:cs typeface="Arial"/>
              </a:rPr>
              <a:t>GRU Model Results</a:t>
            </a:r>
            <a:endParaRPr lang="en-US" altLang="zh-CN"/>
          </a:p>
        </p:txBody>
      </p:sp>
      <p:graphicFrame>
        <p:nvGraphicFramePr>
          <p:cNvPr id="5" name="Content Placeholder 4">
            <a:extLst>
              <a:ext uri="{FF2B5EF4-FFF2-40B4-BE49-F238E27FC236}">
                <a16:creationId xmlns:a16="http://schemas.microsoft.com/office/drawing/2014/main" id="{9003CD49-8343-E485-C2EF-807B91836DAF}"/>
              </a:ext>
            </a:extLst>
          </p:cNvPr>
          <p:cNvGraphicFramePr>
            <a:graphicFrameLocks noGrp="1"/>
          </p:cNvGraphicFramePr>
          <p:nvPr>
            <p:ph idx="1"/>
            <p:extLst>
              <p:ext uri="{D42A27DB-BD31-4B8C-83A1-F6EECF244321}">
                <p14:modId xmlns:p14="http://schemas.microsoft.com/office/powerpoint/2010/main" val="868349830"/>
              </p:ext>
            </p:extLst>
          </p:nvPr>
        </p:nvGraphicFramePr>
        <p:xfrm>
          <a:off x="625365" y="1434662"/>
          <a:ext cx="10947780" cy="2275690"/>
        </p:xfrm>
        <a:graphic>
          <a:graphicData uri="http://schemas.openxmlformats.org/drawingml/2006/table">
            <a:tbl>
              <a:tblPr firstRow="1" bandRow="1">
                <a:tableStyleId>{5C22544A-7EE6-4342-B048-85BDC9FD1C3A}</a:tableStyleId>
              </a:tblPr>
              <a:tblGrid>
                <a:gridCol w="2189556">
                  <a:extLst>
                    <a:ext uri="{9D8B030D-6E8A-4147-A177-3AD203B41FA5}">
                      <a16:colId xmlns:a16="http://schemas.microsoft.com/office/drawing/2014/main" val="2909495223"/>
                    </a:ext>
                  </a:extLst>
                </a:gridCol>
                <a:gridCol w="2189556">
                  <a:extLst>
                    <a:ext uri="{9D8B030D-6E8A-4147-A177-3AD203B41FA5}">
                      <a16:colId xmlns:a16="http://schemas.microsoft.com/office/drawing/2014/main" val="853550214"/>
                    </a:ext>
                  </a:extLst>
                </a:gridCol>
                <a:gridCol w="2189556">
                  <a:extLst>
                    <a:ext uri="{9D8B030D-6E8A-4147-A177-3AD203B41FA5}">
                      <a16:colId xmlns:a16="http://schemas.microsoft.com/office/drawing/2014/main" val="2930109634"/>
                    </a:ext>
                  </a:extLst>
                </a:gridCol>
                <a:gridCol w="2189556">
                  <a:extLst>
                    <a:ext uri="{9D8B030D-6E8A-4147-A177-3AD203B41FA5}">
                      <a16:colId xmlns:a16="http://schemas.microsoft.com/office/drawing/2014/main" val="1731727157"/>
                    </a:ext>
                  </a:extLst>
                </a:gridCol>
                <a:gridCol w="2189556">
                  <a:extLst>
                    <a:ext uri="{9D8B030D-6E8A-4147-A177-3AD203B41FA5}">
                      <a16:colId xmlns:a16="http://schemas.microsoft.com/office/drawing/2014/main" val="1931615175"/>
                    </a:ext>
                  </a:extLst>
                </a:gridCol>
              </a:tblGrid>
              <a:tr h="455138">
                <a:tc>
                  <a:txBody>
                    <a:bodyPr/>
                    <a:lstStyle/>
                    <a:p>
                      <a:endParaRPr lang="en-GB"/>
                    </a:p>
                  </a:txBody>
                  <a:tcPr/>
                </a:tc>
                <a:tc>
                  <a:txBody>
                    <a:bodyPr/>
                    <a:lstStyle/>
                    <a:p>
                      <a:r>
                        <a:rPr lang="en-GB"/>
                        <a:t>Precision</a:t>
                      </a:r>
                    </a:p>
                  </a:txBody>
                  <a:tcPr/>
                </a:tc>
                <a:tc>
                  <a:txBody>
                    <a:bodyPr/>
                    <a:lstStyle/>
                    <a:p>
                      <a:r>
                        <a:rPr lang="en-GB"/>
                        <a:t>Recall</a:t>
                      </a:r>
                    </a:p>
                  </a:txBody>
                  <a:tcPr/>
                </a:tc>
                <a:tc>
                  <a:txBody>
                    <a:bodyPr/>
                    <a:lstStyle/>
                    <a:p>
                      <a:r>
                        <a:rPr lang="en-GB"/>
                        <a:t>F1</a:t>
                      </a:r>
                    </a:p>
                  </a:txBody>
                  <a:tcPr/>
                </a:tc>
                <a:tc>
                  <a:txBody>
                    <a:bodyPr/>
                    <a:lstStyle/>
                    <a:p>
                      <a:r>
                        <a:rPr lang="en-GB"/>
                        <a:t>Accuracy</a:t>
                      </a:r>
                    </a:p>
                  </a:txBody>
                  <a:tcPr/>
                </a:tc>
                <a:extLst>
                  <a:ext uri="{0D108BD9-81ED-4DB2-BD59-A6C34878D82A}">
                    <a16:rowId xmlns:a16="http://schemas.microsoft.com/office/drawing/2014/main" val="1952714622"/>
                  </a:ext>
                </a:extLst>
              </a:tr>
              <a:tr h="455138">
                <a:tc>
                  <a:txBody>
                    <a:bodyPr/>
                    <a:lstStyle/>
                    <a:p>
                      <a:r>
                        <a:rPr lang="en-GB"/>
                        <a:t>Negative</a:t>
                      </a:r>
                    </a:p>
                  </a:txBody>
                  <a:tcPr/>
                </a:tc>
                <a:tc>
                  <a:txBody>
                    <a:bodyPr/>
                    <a:lstStyle/>
                    <a:p>
                      <a:r>
                        <a:rPr lang="en-GB"/>
                        <a:t>87%</a:t>
                      </a:r>
                    </a:p>
                  </a:txBody>
                  <a:tcPr/>
                </a:tc>
                <a:tc>
                  <a:txBody>
                    <a:bodyPr/>
                    <a:lstStyle/>
                    <a:p>
                      <a:r>
                        <a:rPr lang="en-GB"/>
                        <a:t>83%</a:t>
                      </a:r>
                    </a:p>
                  </a:txBody>
                  <a:tcPr/>
                </a:tc>
                <a:tc>
                  <a:txBody>
                    <a:bodyPr/>
                    <a:lstStyle/>
                    <a:p>
                      <a:r>
                        <a:rPr lang="en-GB"/>
                        <a:t>85%</a:t>
                      </a:r>
                    </a:p>
                  </a:txBody>
                  <a:tcPr/>
                </a:tc>
                <a:tc>
                  <a:txBody>
                    <a:bodyPr/>
                    <a:lstStyle/>
                    <a:p>
                      <a:endParaRPr lang="en-GB"/>
                    </a:p>
                  </a:txBody>
                  <a:tcPr/>
                </a:tc>
                <a:extLst>
                  <a:ext uri="{0D108BD9-81ED-4DB2-BD59-A6C34878D82A}">
                    <a16:rowId xmlns:a16="http://schemas.microsoft.com/office/drawing/2014/main" val="3896438"/>
                  </a:ext>
                </a:extLst>
              </a:tr>
              <a:tr h="455138">
                <a:tc>
                  <a:txBody>
                    <a:bodyPr/>
                    <a:lstStyle/>
                    <a:p>
                      <a:r>
                        <a:rPr lang="en-GB"/>
                        <a:t>Neutral</a:t>
                      </a:r>
                    </a:p>
                  </a:txBody>
                  <a:tcPr/>
                </a:tc>
                <a:tc>
                  <a:txBody>
                    <a:bodyPr/>
                    <a:lstStyle/>
                    <a:p>
                      <a:r>
                        <a:rPr lang="en-GB"/>
                        <a:t>94%</a:t>
                      </a:r>
                    </a:p>
                  </a:txBody>
                  <a:tcPr/>
                </a:tc>
                <a:tc>
                  <a:txBody>
                    <a:bodyPr/>
                    <a:lstStyle/>
                    <a:p>
                      <a:r>
                        <a:rPr lang="en-GB"/>
                        <a:t>96%</a:t>
                      </a:r>
                    </a:p>
                  </a:txBody>
                  <a:tcPr/>
                </a:tc>
                <a:tc>
                  <a:txBody>
                    <a:bodyPr/>
                    <a:lstStyle/>
                    <a:p>
                      <a:r>
                        <a:rPr lang="en-GB"/>
                        <a:t>95%</a:t>
                      </a:r>
                    </a:p>
                  </a:txBody>
                  <a:tcPr/>
                </a:tc>
                <a:tc>
                  <a:txBody>
                    <a:bodyPr/>
                    <a:lstStyle/>
                    <a:p>
                      <a:endParaRPr lang="en-GB"/>
                    </a:p>
                  </a:txBody>
                  <a:tcPr/>
                </a:tc>
                <a:extLst>
                  <a:ext uri="{0D108BD9-81ED-4DB2-BD59-A6C34878D82A}">
                    <a16:rowId xmlns:a16="http://schemas.microsoft.com/office/drawing/2014/main" val="523979322"/>
                  </a:ext>
                </a:extLst>
              </a:tr>
              <a:tr h="455138">
                <a:tc>
                  <a:txBody>
                    <a:bodyPr/>
                    <a:lstStyle/>
                    <a:p>
                      <a:r>
                        <a:rPr lang="en-GB"/>
                        <a:t>Positive</a:t>
                      </a:r>
                    </a:p>
                  </a:txBody>
                  <a:tcPr/>
                </a:tc>
                <a:tc>
                  <a:txBody>
                    <a:bodyPr/>
                    <a:lstStyle/>
                    <a:p>
                      <a:r>
                        <a:rPr lang="en-GB"/>
                        <a:t>83%</a:t>
                      </a:r>
                    </a:p>
                  </a:txBody>
                  <a:tcPr/>
                </a:tc>
                <a:tc>
                  <a:txBody>
                    <a:bodyPr/>
                    <a:lstStyle/>
                    <a:p>
                      <a:r>
                        <a:rPr lang="en-GB"/>
                        <a:t>72%</a:t>
                      </a:r>
                    </a:p>
                  </a:txBody>
                  <a:tcPr/>
                </a:tc>
                <a:tc>
                  <a:txBody>
                    <a:bodyPr/>
                    <a:lstStyle/>
                    <a:p>
                      <a:r>
                        <a:rPr lang="en-GB"/>
                        <a:t>77%</a:t>
                      </a:r>
                    </a:p>
                  </a:txBody>
                  <a:tcPr/>
                </a:tc>
                <a:tc>
                  <a:txBody>
                    <a:bodyPr/>
                    <a:lstStyle/>
                    <a:p>
                      <a:endParaRPr lang="en-GB"/>
                    </a:p>
                  </a:txBody>
                  <a:tcPr/>
                </a:tc>
                <a:extLst>
                  <a:ext uri="{0D108BD9-81ED-4DB2-BD59-A6C34878D82A}">
                    <a16:rowId xmlns:a16="http://schemas.microsoft.com/office/drawing/2014/main" val="3504590966"/>
                  </a:ext>
                </a:extLst>
              </a:tr>
              <a:tr h="455138">
                <a:tc>
                  <a:txBody>
                    <a:bodyPr/>
                    <a:lstStyle/>
                    <a:p>
                      <a:r>
                        <a:rPr lang="en-GB"/>
                        <a:t>Average</a:t>
                      </a:r>
                    </a:p>
                  </a:txBody>
                  <a:tcPr/>
                </a:tc>
                <a:tc>
                  <a:txBody>
                    <a:bodyPr/>
                    <a:lstStyle/>
                    <a:p>
                      <a:r>
                        <a:rPr lang="en-GB"/>
                        <a:t>92%</a:t>
                      </a:r>
                    </a:p>
                  </a:txBody>
                  <a:tcPr/>
                </a:tc>
                <a:tc>
                  <a:txBody>
                    <a:bodyPr/>
                    <a:lstStyle/>
                    <a:p>
                      <a:r>
                        <a:rPr lang="en-GB"/>
                        <a:t>92%</a:t>
                      </a:r>
                    </a:p>
                  </a:txBody>
                  <a:tcPr/>
                </a:tc>
                <a:tc>
                  <a:txBody>
                    <a:bodyPr/>
                    <a:lstStyle/>
                    <a:p>
                      <a:r>
                        <a:rPr lang="en-GB"/>
                        <a:t>92%</a:t>
                      </a:r>
                    </a:p>
                  </a:txBody>
                  <a:tcPr/>
                </a:tc>
                <a:tc>
                  <a:txBody>
                    <a:bodyPr/>
                    <a:lstStyle/>
                    <a:p>
                      <a:r>
                        <a:rPr lang="en-GB"/>
                        <a:t>92%</a:t>
                      </a:r>
                    </a:p>
                  </a:txBody>
                  <a:tcPr/>
                </a:tc>
                <a:extLst>
                  <a:ext uri="{0D108BD9-81ED-4DB2-BD59-A6C34878D82A}">
                    <a16:rowId xmlns:a16="http://schemas.microsoft.com/office/drawing/2014/main" val="2124244325"/>
                  </a:ext>
                </a:extLst>
              </a:tr>
            </a:tbl>
          </a:graphicData>
        </a:graphic>
      </p:graphicFrame>
      <p:sp>
        <p:nvSpPr>
          <p:cNvPr id="4" name="Slide Number Placeholder 3">
            <a:extLst>
              <a:ext uri="{FF2B5EF4-FFF2-40B4-BE49-F238E27FC236}">
                <a16:creationId xmlns:a16="http://schemas.microsoft.com/office/drawing/2014/main" id="{3F2BDEE8-47A6-B5D4-4C48-A12C63BFEDC9}"/>
              </a:ext>
            </a:extLst>
          </p:cNvPr>
          <p:cNvSpPr>
            <a:spLocks noGrp="1"/>
          </p:cNvSpPr>
          <p:nvPr>
            <p:ph type="sldNum" sz="quarter" idx="12"/>
          </p:nvPr>
        </p:nvSpPr>
        <p:spPr/>
        <p:txBody>
          <a:bodyPr/>
          <a:lstStyle/>
          <a:p>
            <a:fld id="{6BAD6A8B-B5C3-4437-A9DE-A8C2149171DD}" type="slidenum">
              <a:rPr lang="en-AU" smtClean="0"/>
              <a:t>21</a:t>
            </a:fld>
            <a:endParaRPr lang="en-AU"/>
          </a:p>
        </p:txBody>
      </p:sp>
      <p:sp>
        <p:nvSpPr>
          <p:cNvPr id="6" name="TextBox 5">
            <a:extLst>
              <a:ext uri="{FF2B5EF4-FFF2-40B4-BE49-F238E27FC236}">
                <a16:creationId xmlns:a16="http://schemas.microsoft.com/office/drawing/2014/main" id="{28BAE967-1014-82AA-0E51-5377041EC629}"/>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a:t>
            </a:r>
            <a:r>
              <a:rPr lang="en-US" sz="1100" err="1">
                <a:latin typeface="Arial"/>
                <a:cs typeface="Arial"/>
              </a:rPr>
              <a:t>Gorjan</a:t>
            </a:r>
            <a:r>
              <a:rPr lang="en-US" sz="1100">
                <a:latin typeface="Arial"/>
                <a:cs typeface="Arial"/>
              </a:rPr>
              <a:t> Muratov (z5677486)</a:t>
            </a:r>
            <a:endParaRPr lang="en-US"/>
          </a:p>
        </p:txBody>
      </p:sp>
      <p:sp>
        <p:nvSpPr>
          <p:cNvPr id="7" name="Rectangle 1">
            <a:extLst>
              <a:ext uri="{FF2B5EF4-FFF2-40B4-BE49-F238E27FC236}">
                <a16:creationId xmlns:a16="http://schemas.microsoft.com/office/drawing/2014/main" id="{E4CD09D1-B9C2-A912-D399-CB44904281B9}"/>
              </a:ext>
            </a:extLst>
          </p:cNvPr>
          <p:cNvSpPr>
            <a:spLocks noChangeArrowheads="1"/>
          </p:cNvSpPr>
          <p:nvPr/>
        </p:nvSpPr>
        <p:spPr bwMode="auto">
          <a:xfrm>
            <a:off x="719866" y="226915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Content Placeholder 7">
            <a:extLst>
              <a:ext uri="{FF2B5EF4-FFF2-40B4-BE49-F238E27FC236}">
                <a16:creationId xmlns:a16="http://schemas.microsoft.com/office/drawing/2014/main" id="{931F40E7-1CA6-E765-AADA-5D960D65CDB1}"/>
              </a:ext>
            </a:extLst>
          </p:cNvPr>
          <p:cNvSpPr txBox="1">
            <a:spLocks/>
          </p:cNvSpPr>
          <p:nvPr/>
        </p:nvSpPr>
        <p:spPr>
          <a:xfrm>
            <a:off x="228600" y="4153665"/>
            <a:ext cx="11624441" cy="170230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20B0604020202020204" pitchFamily="34" charset="0"/>
              <a:buChar char="Ø"/>
            </a:pPr>
            <a:r>
              <a:rPr lang="en-GB">
                <a:latin typeface="Arial"/>
                <a:ea typeface="Roboto"/>
                <a:cs typeface="Arial"/>
              </a:rPr>
              <a:t> Model has learned sentiment task well</a:t>
            </a:r>
            <a:endParaRPr lang="en-GB"/>
          </a:p>
          <a:p>
            <a:pPr>
              <a:buFont typeface="Wingdings" panose="020B0604020202020204" pitchFamily="34" charset="0"/>
              <a:buChar char="Ø"/>
            </a:pPr>
            <a:r>
              <a:rPr lang="en-GB">
                <a:latin typeface="Arial"/>
                <a:ea typeface="Roboto"/>
                <a:cs typeface="Arial"/>
              </a:rPr>
              <a:t> Learned sarcasm, temporal dependencies, and context</a:t>
            </a:r>
            <a:endParaRPr lang="en-GB"/>
          </a:p>
          <a:p>
            <a:pPr>
              <a:buFont typeface="Wingdings" panose="020B0604020202020204" pitchFamily="34" charset="0"/>
              <a:buChar char="Ø"/>
            </a:pPr>
            <a:endParaRPr lang="en-GB"/>
          </a:p>
        </p:txBody>
      </p:sp>
    </p:spTree>
    <p:extLst>
      <p:ext uri="{BB962C8B-B14F-4D97-AF65-F5344CB8AC3E}">
        <p14:creationId xmlns:p14="http://schemas.microsoft.com/office/powerpoint/2010/main" val="3957917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00ADB-1960-1FBA-2FBC-B47382140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1AF70-D245-E9C6-B5CD-635F7CAE7AC0}"/>
              </a:ext>
            </a:extLst>
          </p:cNvPr>
          <p:cNvSpPr>
            <a:spLocks noGrp="1"/>
          </p:cNvSpPr>
          <p:nvPr>
            <p:ph type="title"/>
          </p:nvPr>
        </p:nvSpPr>
        <p:spPr>
          <a:xfrm>
            <a:off x="231648" y="136525"/>
            <a:ext cx="11631168" cy="838835"/>
          </a:xfrm>
        </p:spPr>
        <p:txBody>
          <a:bodyPr>
            <a:normAutofit/>
          </a:bodyPr>
          <a:lstStyle/>
          <a:p>
            <a:r>
              <a:rPr lang="en-AU" altLang="zh-CN">
                <a:latin typeface="Arial"/>
                <a:ea typeface="Roboto"/>
                <a:cs typeface="Arial"/>
              </a:rPr>
              <a:t>GRU Model Hyperparameters</a:t>
            </a:r>
            <a:endParaRPr lang="en-US" altLang="zh-CN"/>
          </a:p>
        </p:txBody>
      </p:sp>
      <p:graphicFrame>
        <p:nvGraphicFramePr>
          <p:cNvPr id="5" name="Content Placeholder 4">
            <a:extLst>
              <a:ext uri="{FF2B5EF4-FFF2-40B4-BE49-F238E27FC236}">
                <a16:creationId xmlns:a16="http://schemas.microsoft.com/office/drawing/2014/main" id="{A1967688-1B0A-266C-45CB-C1E176712CB0}"/>
              </a:ext>
            </a:extLst>
          </p:cNvPr>
          <p:cNvGraphicFramePr>
            <a:graphicFrameLocks noGrp="1"/>
          </p:cNvGraphicFramePr>
          <p:nvPr>
            <p:ph idx="1"/>
            <p:extLst>
              <p:ext uri="{D42A27DB-BD31-4B8C-83A1-F6EECF244321}">
                <p14:modId xmlns:p14="http://schemas.microsoft.com/office/powerpoint/2010/main" val="1555029354"/>
              </p:ext>
            </p:extLst>
          </p:nvPr>
        </p:nvGraphicFramePr>
        <p:xfrm>
          <a:off x="719958" y="1686910"/>
          <a:ext cx="10654794" cy="1131200"/>
        </p:xfrm>
        <a:graphic>
          <a:graphicData uri="http://schemas.openxmlformats.org/drawingml/2006/table">
            <a:tbl>
              <a:tblPr firstRow="1" bandRow="1">
                <a:tableStyleId>{5C22544A-7EE6-4342-B048-85BDC9FD1C3A}</a:tableStyleId>
              </a:tblPr>
              <a:tblGrid>
                <a:gridCol w="3178380">
                  <a:extLst>
                    <a:ext uri="{9D8B030D-6E8A-4147-A177-3AD203B41FA5}">
                      <a16:colId xmlns:a16="http://schemas.microsoft.com/office/drawing/2014/main" val="853550214"/>
                    </a:ext>
                  </a:extLst>
                </a:gridCol>
                <a:gridCol w="2492138">
                  <a:extLst>
                    <a:ext uri="{9D8B030D-6E8A-4147-A177-3AD203B41FA5}">
                      <a16:colId xmlns:a16="http://schemas.microsoft.com/office/drawing/2014/main" val="2930109634"/>
                    </a:ext>
                  </a:extLst>
                </a:gridCol>
                <a:gridCol w="2492138">
                  <a:extLst>
                    <a:ext uri="{9D8B030D-6E8A-4147-A177-3AD203B41FA5}">
                      <a16:colId xmlns:a16="http://schemas.microsoft.com/office/drawing/2014/main" val="1731727157"/>
                    </a:ext>
                  </a:extLst>
                </a:gridCol>
                <a:gridCol w="2492138">
                  <a:extLst>
                    <a:ext uri="{9D8B030D-6E8A-4147-A177-3AD203B41FA5}">
                      <a16:colId xmlns:a16="http://schemas.microsoft.com/office/drawing/2014/main" val="1931615175"/>
                    </a:ext>
                  </a:extLst>
                </a:gridCol>
              </a:tblGrid>
              <a:tr h="565600">
                <a:tc>
                  <a:txBody>
                    <a:bodyPr/>
                    <a:lstStyle/>
                    <a:p>
                      <a:r>
                        <a:rPr lang="en-GB"/>
                        <a:t>Embedding Dimension</a:t>
                      </a:r>
                    </a:p>
                  </a:txBody>
                  <a:tcPr/>
                </a:tc>
                <a:tc>
                  <a:txBody>
                    <a:bodyPr/>
                    <a:lstStyle/>
                    <a:p>
                      <a:r>
                        <a:rPr lang="en-GB"/>
                        <a:t>Hidden Dimension</a:t>
                      </a:r>
                    </a:p>
                  </a:txBody>
                  <a:tcPr/>
                </a:tc>
                <a:tc>
                  <a:txBody>
                    <a:bodyPr/>
                    <a:lstStyle/>
                    <a:p>
                      <a:r>
                        <a:rPr lang="en-GB"/>
                        <a:t>Learning Rate</a:t>
                      </a:r>
                    </a:p>
                  </a:txBody>
                  <a:tcPr/>
                </a:tc>
                <a:tc>
                  <a:txBody>
                    <a:bodyPr/>
                    <a:lstStyle/>
                    <a:p>
                      <a:pPr lvl="0">
                        <a:buNone/>
                      </a:pPr>
                      <a:r>
                        <a:rPr lang="en-GB"/>
                        <a:t>Number of Layers</a:t>
                      </a:r>
                    </a:p>
                  </a:txBody>
                  <a:tcPr/>
                </a:tc>
                <a:extLst>
                  <a:ext uri="{0D108BD9-81ED-4DB2-BD59-A6C34878D82A}">
                    <a16:rowId xmlns:a16="http://schemas.microsoft.com/office/drawing/2014/main" val="1952714622"/>
                  </a:ext>
                </a:extLst>
              </a:tr>
              <a:tr h="565600">
                <a:tc>
                  <a:txBody>
                    <a:bodyPr/>
                    <a:lstStyle/>
                    <a:p>
                      <a:r>
                        <a:rPr lang="en-GB"/>
                        <a:t>100</a:t>
                      </a:r>
                    </a:p>
                  </a:txBody>
                  <a:tcPr/>
                </a:tc>
                <a:tc>
                  <a:txBody>
                    <a:bodyPr/>
                    <a:lstStyle/>
                    <a:p>
                      <a:pPr lvl="0">
                        <a:buNone/>
                      </a:pPr>
                      <a:r>
                        <a:rPr lang="en-GB"/>
                        <a:t>128</a:t>
                      </a:r>
                    </a:p>
                  </a:txBody>
                  <a:tcPr/>
                </a:tc>
                <a:tc>
                  <a:txBody>
                    <a:bodyPr/>
                    <a:lstStyle/>
                    <a:p>
                      <a:pPr lvl="0">
                        <a:buNone/>
                      </a:pPr>
                      <a:r>
                        <a:rPr lang="en-GB"/>
                        <a:t>0.001</a:t>
                      </a:r>
                      <a:endParaRPr lang="en-US"/>
                    </a:p>
                  </a:txBody>
                  <a:tcPr/>
                </a:tc>
                <a:tc>
                  <a:txBody>
                    <a:bodyPr/>
                    <a:lstStyle/>
                    <a:p>
                      <a:r>
                        <a:rPr lang="en-GB"/>
                        <a:t>3</a:t>
                      </a:r>
                    </a:p>
                  </a:txBody>
                  <a:tcPr/>
                </a:tc>
                <a:extLst>
                  <a:ext uri="{0D108BD9-81ED-4DB2-BD59-A6C34878D82A}">
                    <a16:rowId xmlns:a16="http://schemas.microsoft.com/office/drawing/2014/main" val="3896438"/>
                  </a:ext>
                </a:extLst>
              </a:tr>
            </a:tbl>
          </a:graphicData>
        </a:graphic>
      </p:graphicFrame>
      <p:sp>
        <p:nvSpPr>
          <p:cNvPr id="4" name="Slide Number Placeholder 3">
            <a:extLst>
              <a:ext uri="{FF2B5EF4-FFF2-40B4-BE49-F238E27FC236}">
                <a16:creationId xmlns:a16="http://schemas.microsoft.com/office/drawing/2014/main" id="{F8A51095-09BD-24BC-628C-CF19D4D3381B}"/>
              </a:ext>
            </a:extLst>
          </p:cNvPr>
          <p:cNvSpPr>
            <a:spLocks noGrp="1"/>
          </p:cNvSpPr>
          <p:nvPr>
            <p:ph type="sldNum" sz="quarter" idx="12"/>
          </p:nvPr>
        </p:nvSpPr>
        <p:spPr/>
        <p:txBody>
          <a:bodyPr/>
          <a:lstStyle/>
          <a:p>
            <a:fld id="{6BAD6A8B-B5C3-4437-A9DE-A8C2149171DD}" type="slidenum">
              <a:rPr lang="en-AU" smtClean="0"/>
              <a:t>22</a:t>
            </a:fld>
            <a:endParaRPr lang="en-AU"/>
          </a:p>
        </p:txBody>
      </p:sp>
      <p:sp>
        <p:nvSpPr>
          <p:cNvPr id="6" name="TextBox 5">
            <a:extLst>
              <a:ext uri="{FF2B5EF4-FFF2-40B4-BE49-F238E27FC236}">
                <a16:creationId xmlns:a16="http://schemas.microsoft.com/office/drawing/2014/main" id="{038183DC-5DC6-C53D-A6F6-C2D4FFD26E77}"/>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a:t>
            </a:r>
            <a:r>
              <a:rPr lang="en-US" sz="1100" err="1">
                <a:latin typeface="Arial"/>
                <a:cs typeface="Arial"/>
              </a:rPr>
              <a:t>Gorjan</a:t>
            </a:r>
            <a:r>
              <a:rPr lang="en-US" sz="1100">
                <a:latin typeface="Arial"/>
                <a:cs typeface="Arial"/>
              </a:rPr>
              <a:t> Muratov (z5677486)</a:t>
            </a:r>
            <a:endParaRPr lang="en-US"/>
          </a:p>
        </p:txBody>
      </p:sp>
      <p:sp>
        <p:nvSpPr>
          <p:cNvPr id="7" name="Rectangle 1">
            <a:extLst>
              <a:ext uri="{FF2B5EF4-FFF2-40B4-BE49-F238E27FC236}">
                <a16:creationId xmlns:a16="http://schemas.microsoft.com/office/drawing/2014/main" id="{729EF413-0172-C3C0-E969-17B573B2D734}"/>
              </a:ext>
            </a:extLst>
          </p:cNvPr>
          <p:cNvSpPr>
            <a:spLocks noChangeArrowheads="1"/>
          </p:cNvSpPr>
          <p:nvPr/>
        </p:nvSpPr>
        <p:spPr bwMode="auto">
          <a:xfrm>
            <a:off x="719866" y="226915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1" name="Content Placeholder 4">
            <a:extLst>
              <a:ext uri="{FF2B5EF4-FFF2-40B4-BE49-F238E27FC236}">
                <a16:creationId xmlns:a16="http://schemas.microsoft.com/office/drawing/2014/main" id="{AE21F93C-8B15-1A92-AD14-1C1C89535991}"/>
              </a:ext>
            </a:extLst>
          </p:cNvPr>
          <p:cNvGraphicFramePr>
            <a:graphicFrameLocks/>
          </p:cNvGraphicFramePr>
          <p:nvPr>
            <p:extLst>
              <p:ext uri="{D42A27DB-BD31-4B8C-83A1-F6EECF244321}">
                <p14:modId xmlns:p14="http://schemas.microsoft.com/office/powerpoint/2010/main" val="3535519104"/>
              </p:ext>
            </p:extLst>
          </p:nvPr>
        </p:nvGraphicFramePr>
        <p:xfrm>
          <a:off x="762000" y="3699641"/>
          <a:ext cx="10632050" cy="1855912"/>
        </p:xfrm>
        <a:graphic>
          <a:graphicData uri="http://schemas.openxmlformats.org/drawingml/2006/table">
            <a:tbl>
              <a:tblPr firstRow="1" bandRow="1">
                <a:tableStyleId>{5C22544A-7EE6-4342-B048-85BDC9FD1C3A}</a:tableStyleId>
              </a:tblPr>
              <a:tblGrid>
                <a:gridCol w="3171596">
                  <a:extLst>
                    <a:ext uri="{9D8B030D-6E8A-4147-A177-3AD203B41FA5}">
                      <a16:colId xmlns:a16="http://schemas.microsoft.com/office/drawing/2014/main" val="853550214"/>
                    </a:ext>
                  </a:extLst>
                </a:gridCol>
                <a:gridCol w="2486818">
                  <a:extLst>
                    <a:ext uri="{9D8B030D-6E8A-4147-A177-3AD203B41FA5}">
                      <a16:colId xmlns:a16="http://schemas.microsoft.com/office/drawing/2014/main" val="2930109634"/>
                    </a:ext>
                  </a:extLst>
                </a:gridCol>
                <a:gridCol w="2486818">
                  <a:extLst>
                    <a:ext uri="{9D8B030D-6E8A-4147-A177-3AD203B41FA5}">
                      <a16:colId xmlns:a16="http://schemas.microsoft.com/office/drawing/2014/main" val="1731727157"/>
                    </a:ext>
                  </a:extLst>
                </a:gridCol>
                <a:gridCol w="2486818">
                  <a:extLst>
                    <a:ext uri="{9D8B030D-6E8A-4147-A177-3AD203B41FA5}">
                      <a16:colId xmlns:a16="http://schemas.microsoft.com/office/drawing/2014/main" val="1931615175"/>
                    </a:ext>
                  </a:extLst>
                </a:gridCol>
              </a:tblGrid>
              <a:tr h="463978">
                <a:tc>
                  <a:txBody>
                    <a:bodyPr/>
                    <a:lstStyle/>
                    <a:p>
                      <a:r>
                        <a:rPr lang="en-GB"/>
                        <a:t>Embedding Dimension</a:t>
                      </a:r>
                    </a:p>
                  </a:txBody>
                  <a:tcPr/>
                </a:tc>
                <a:tc>
                  <a:txBody>
                    <a:bodyPr/>
                    <a:lstStyle/>
                    <a:p>
                      <a:r>
                        <a:rPr lang="en-GB"/>
                        <a:t>Hidden Dimension</a:t>
                      </a:r>
                    </a:p>
                  </a:txBody>
                  <a:tcPr/>
                </a:tc>
                <a:tc>
                  <a:txBody>
                    <a:bodyPr/>
                    <a:lstStyle/>
                    <a:p>
                      <a:r>
                        <a:rPr lang="en-GB"/>
                        <a:t>Learning Rate</a:t>
                      </a:r>
                    </a:p>
                  </a:txBody>
                  <a:tcPr/>
                </a:tc>
                <a:tc>
                  <a:txBody>
                    <a:bodyPr/>
                    <a:lstStyle/>
                    <a:p>
                      <a:pPr lvl="0">
                        <a:buNone/>
                      </a:pPr>
                      <a:r>
                        <a:rPr lang="en-GB"/>
                        <a:t>Number of Layers</a:t>
                      </a:r>
                    </a:p>
                  </a:txBody>
                  <a:tcPr/>
                </a:tc>
                <a:extLst>
                  <a:ext uri="{0D108BD9-81ED-4DB2-BD59-A6C34878D82A}">
                    <a16:rowId xmlns:a16="http://schemas.microsoft.com/office/drawing/2014/main" val="1952714622"/>
                  </a:ext>
                </a:extLst>
              </a:tr>
              <a:tr h="463978">
                <a:tc>
                  <a:txBody>
                    <a:bodyPr/>
                    <a:lstStyle/>
                    <a:p>
                      <a:r>
                        <a:rPr lang="en-GB"/>
                        <a:t>50</a:t>
                      </a:r>
                    </a:p>
                  </a:txBody>
                  <a:tcPr/>
                </a:tc>
                <a:tc>
                  <a:txBody>
                    <a:bodyPr/>
                    <a:lstStyle/>
                    <a:p>
                      <a:pPr lvl="0">
                        <a:buNone/>
                      </a:pPr>
                      <a:r>
                        <a:rPr lang="en-GB"/>
                        <a:t>64</a:t>
                      </a:r>
                    </a:p>
                  </a:txBody>
                  <a:tcPr/>
                </a:tc>
                <a:tc>
                  <a:txBody>
                    <a:bodyPr/>
                    <a:lstStyle/>
                    <a:p>
                      <a:pPr lvl="0">
                        <a:buNone/>
                      </a:pPr>
                      <a:r>
                        <a:rPr lang="en-GB"/>
                        <a:t>0.001</a:t>
                      </a:r>
                      <a:endParaRPr lang="en-US"/>
                    </a:p>
                  </a:txBody>
                  <a:tcPr/>
                </a:tc>
                <a:tc>
                  <a:txBody>
                    <a:bodyPr/>
                    <a:lstStyle/>
                    <a:p>
                      <a:r>
                        <a:rPr lang="en-GB"/>
                        <a:t>1</a:t>
                      </a:r>
                    </a:p>
                  </a:txBody>
                  <a:tcPr/>
                </a:tc>
                <a:extLst>
                  <a:ext uri="{0D108BD9-81ED-4DB2-BD59-A6C34878D82A}">
                    <a16:rowId xmlns:a16="http://schemas.microsoft.com/office/drawing/2014/main" val="3896438"/>
                  </a:ext>
                </a:extLst>
              </a:tr>
              <a:tr h="463978">
                <a:tc>
                  <a:txBody>
                    <a:bodyPr/>
                    <a:lstStyle/>
                    <a:p>
                      <a:pPr lvl="0">
                        <a:buNone/>
                      </a:pPr>
                      <a:r>
                        <a:rPr lang="en-GB"/>
                        <a:t>100</a:t>
                      </a:r>
                    </a:p>
                  </a:txBody>
                  <a:tcPr/>
                </a:tc>
                <a:tc>
                  <a:txBody>
                    <a:bodyPr/>
                    <a:lstStyle/>
                    <a:p>
                      <a:pPr lvl="0">
                        <a:buNone/>
                      </a:pPr>
                      <a:r>
                        <a:rPr lang="en-GB" sz="1800" b="0" i="0" u="none" strike="noStrike" noProof="0">
                          <a:solidFill>
                            <a:srgbClr val="000000"/>
                          </a:solidFill>
                          <a:latin typeface="Calibri"/>
                        </a:rPr>
                        <a:t>128</a:t>
                      </a:r>
                      <a:endParaRPr lang="en-US"/>
                    </a:p>
                  </a:txBody>
                  <a:tcPr/>
                </a:tc>
                <a:tc>
                  <a:txBody>
                    <a:bodyPr/>
                    <a:lstStyle/>
                    <a:p>
                      <a:pPr lvl="0">
                        <a:buNone/>
                      </a:pPr>
                      <a:r>
                        <a:rPr lang="en-GB"/>
                        <a:t>0.01</a:t>
                      </a:r>
                    </a:p>
                  </a:txBody>
                  <a:tcPr/>
                </a:tc>
                <a:tc>
                  <a:txBody>
                    <a:bodyPr/>
                    <a:lstStyle/>
                    <a:p>
                      <a:pPr lvl="0">
                        <a:buNone/>
                      </a:pPr>
                      <a:r>
                        <a:rPr lang="en-GB"/>
                        <a:t>2</a:t>
                      </a:r>
                    </a:p>
                  </a:txBody>
                  <a:tcPr/>
                </a:tc>
                <a:extLst>
                  <a:ext uri="{0D108BD9-81ED-4DB2-BD59-A6C34878D82A}">
                    <a16:rowId xmlns:a16="http://schemas.microsoft.com/office/drawing/2014/main" val="3980628580"/>
                  </a:ext>
                </a:extLst>
              </a:tr>
              <a:tr h="463978">
                <a:tc>
                  <a:txBody>
                    <a:bodyPr/>
                    <a:lstStyle/>
                    <a:p>
                      <a:pPr lvl="0">
                        <a:buNone/>
                      </a:pPr>
                      <a:endParaRPr lang="en-GB"/>
                    </a:p>
                  </a:txBody>
                  <a:tcPr/>
                </a:tc>
                <a:tc>
                  <a:txBody>
                    <a:bodyPr/>
                    <a:lstStyle/>
                    <a:p>
                      <a:pPr lvl="0">
                        <a:buNone/>
                      </a:pPr>
                      <a:endParaRPr lang="en-GB" sz="1800" b="0" i="0" u="none" strike="noStrike" noProof="0">
                        <a:solidFill>
                          <a:srgbClr val="000000"/>
                        </a:solidFill>
                        <a:latin typeface="Calibri"/>
                      </a:endParaRPr>
                    </a:p>
                  </a:txBody>
                  <a:tcPr/>
                </a:tc>
                <a:tc>
                  <a:txBody>
                    <a:bodyPr/>
                    <a:lstStyle/>
                    <a:p>
                      <a:pPr lvl="0">
                        <a:buNone/>
                      </a:pPr>
                      <a:endParaRPr lang="en-GB"/>
                    </a:p>
                  </a:txBody>
                  <a:tcPr/>
                </a:tc>
                <a:tc>
                  <a:txBody>
                    <a:bodyPr/>
                    <a:lstStyle/>
                    <a:p>
                      <a:pPr lvl="0">
                        <a:buNone/>
                      </a:pPr>
                      <a:r>
                        <a:rPr lang="en-GB"/>
                        <a:t>3</a:t>
                      </a:r>
                    </a:p>
                  </a:txBody>
                  <a:tcPr/>
                </a:tc>
                <a:extLst>
                  <a:ext uri="{0D108BD9-81ED-4DB2-BD59-A6C34878D82A}">
                    <a16:rowId xmlns:a16="http://schemas.microsoft.com/office/drawing/2014/main" val="812333142"/>
                  </a:ext>
                </a:extLst>
              </a:tr>
            </a:tbl>
          </a:graphicData>
        </a:graphic>
      </p:graphicFrame>
      <p:sp>
        <p:nvSpPr>
          <p:cNvPr id="12" name="TextBox 11">
            <a:extLst>
              <a:ext uri="{FF2B5EF4-FFF2-40B4-BE49-F238E27FC236}">
                <a16:creationId xmlns:a16="http://schemas.microsoft.com/office/drawing/2014/main" id="{6215E17A-BCFC-4E80-E239-FBD3C3CB0317}"/>
              </a:ext>
            </a:extLst>
          </p:cNvPr>
          <p:cNvSpPr txBox="1"/>
          <p:nvPr/>
        </p:nvSpPr>
        <p:spPr>
          <a:xfrm>
            <a:off x="729764" y="1166177"/>
            <a:ext cx="7488618" cy="5284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a:latin typeface="Arial"/>
                <a:ea typeface="Calibri"/>
                <a:cs typeface="Calibri"/>
              </a:rPr>
              <a:t>Final Hyperparameters after </a:t>
            </a:r>
            <a:r>
              <a:rPr lang="en-GB" sz="2800" err="1">
                <a:latin typeface="Arial"/>
                <a:ea typeface="Calibri"/>
                <a:cs typeface="Calibri"/>
              </a:rPr>
              <a:t>Gridsearch</a:t>
            </a:r>
            <a:endParaRPr lang="en-GB" sz="2800">
              <a:latin typeface="Arial"/>
              <a:cs typeface="Arial"/>
            </a:endParaRPr>
          </a:p>
        </p:txBody>
      </p:sp>
      <p:sp>
        <p:nvSpPr>
          <p:cNvPr id="13" name="TextBox 12">
            <a:extLst>
              <a:ext uri="{FF2B5EF4-FFF2-40B4-BE49-F238E27FC236}">
                <a16:creationId xmlns:a16="http://schemas.microsoft.com/office/drawing/2014/main" id="{D5840DB2-18A7-2FF1-5880-9AF7DBC7866B}"/>
              </a:ext>
            </a:extLst>
          </p:cNvPr>
          <p:cNvSpPr txBox="1"/>
          <p:nvPr/>
        </p:nvSpPr>
        <p:spPr>
          <a:xfrm>
            <a:off x="761294" y="3168398"/>
            <a:ext cx="695259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a:latin typeface="Arial"/>
                <a:ea typeface="Calibri"/>
                <a:cs typeface="Calibri"/>
              </a:rPr>
              <a:t>Hyperparameters used in </a:t>
            </a:r>
            <a:r>
              <a:rPr lang="en-GB" sz="2800" err="1">
                <a:latin typeface="Arial"/>
                <a:ea typeface="Calibri"/>
                <a:cs typeface="Calibri"/>
              </a:rPr>
              <a:t>Gridsearch</a:t>
            </a:r>
            <a:endParaRPr lang="en-GB" sz="2800">
              <a:latin typeface="Arial"/>
              <a:cs typeface="Arial"/>
            </a:endParaRPr>
          </a:p>
        </p:txBody>
      </p:sp>
    </p:spTree>
    <p:extLst>
      <p:ext uri="{BB962C8B-B14F-4D97-AF65-F5344CB8AC3E}">
        <p14:creationId xmlns:p14="http://schemas.microsoft.com/office/powerpoint/2010/main" val="1440893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1B95D-5280-E28D-66E4-105BC5120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6086B-D64F-2F2E-FF91-8878044AA884}"/>
              </a:ext>
            </a:extLst>
          </p:cNvPr>
          <p:cNvSpPr>
            <a:spLocks noGrp="1"/>
          </p:cNvSpPr>
          <p:nvPr>
            <p:ph type="title"/>
          </p:nvPr>
        </p:nvSpPr>
        <p:spPr>
          <a:xfrm>
            <a:off x="231648" y="136525"/>
            <a:ext cx="11631168" cy="838835"/>
          </a:xfrm>
        </p:spPr>
        <p:txBody>
          <a:bodyPr>
            <a:normAutofit/>
          </a:bodyPr>
          <a:lstStyle/>
          <a:p>
            <a:r>
              <a:rPr lang="en-AU" altLang="zh-CN">
                <a:latin typeface="Arial"/>
                <a:ea typeface="Roboto"/>
                <a:cs typeface="Arial"/>
              </a:rPr>
              <a:t>Final Model Comparison</a:t>
            </a:r>
            <a:endParaRPr lang="en-US"/>
          </a:p>
        </p:txBody>
      </p:sp>
      <p:sp>
        <p:nvSpPr>
          <p:cNvPr id="4" name="Slide Number Placeholder 3">
            <a:extLst>
              <a:ext uri="{FF2B5EF4-FFF2-40B4-BE49-F238E27FC236}">
                <a16:creationId xmlns:a16="http://schemas.microsoft.com/office/drawing/2014/main" id="{2E1AB032-6D29-AE20-BFF8-7F5350C66936}"/>
              </a:ext>
            </a:extLst>
          </p:cNvPr>
          <p:cNvSpPr>
            <a:spLocks noGrp="1"/>
          </p:cNvSpPr>
          <p:nvPr>
            <p:ph type="sldNum" sz="quarter" idx="12"/>
          </p:nvPr>
        </p:nvSpPr>
        <p:spPr/>
        <p:txBody>
          <a:bodyPr/>
          <a:lstStyle/>
          <a:p>
            <a:fld id="{6BAD6A8B-B5C3-4437-A9DE-A8C2149171DD}" type="slidenum">
              <a:rPr lang="en-AU" smtClean="0"/>
              <a:t>23</a:t>
            </a:fld>
            <a:endParaRPr lang="en-AU"/>
          </a:p>
        </p:txBody>
      </p:sp>
      <p:sp>
        <p:nvSpPr>
          <p:cNvPr id="6" name="TextBox 5">
            <a:extLst>
              <a:ext uri="{FF2B5EF4-FFF2-40B4-BE49-F238E27FC236}">
                <a16:creationId xmlns:a16="http://schemas.microsoft.com/office/drawing/2014/main" id="{82D9CA63-98C3-D122-53F6-6BE0FC84347B}"/>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a:t>
            </a:r>
            <a:r>
              <a:rPr lang="en-US" sz="1100" err="1">
                <a:latin typeface="Arial"/>
                <a:cs typeface="Arial"/>
              </a:rPr>
              <a:t>Gorjan</a:t>
            </a:r>
            <a:r>
              <a:rPr lang="en-US" sz="1100">
                <a:latin typeface="Arial"/>
                <a:cs typeface="Arial"/>
              </a:rPr>
              <a:t> Muratov (z5677486)</a:t>
            </a:r>
            <a:endParaRPr lang="en-US"/>
          </a:p>
        </p:txBody>
      </p:sp>
      <p:sp>
        <p:nvSpPr>
          <p:cNvPr id="7" name="Rectangle 1">
            <a:extLst>
              <a:ext uri="{FF2B5EF4-FFF2-40B4-BE49-F238E27FC236}">
                <a16:creationId xmlns:a16="http://schemas.microsoft.com/office/drawing/2014/main" id="{A83E1457-0A55-6262-3704-9D9072005C09}"/>
              </a:ext>
            </a:extLst>
          </p:cNvPr>
          <p:cNvSpPr>
            <a:spLocks noChangeArrowheads="1"/>
          </p:cNvSpPr>
          <p:nvPr/>
        </p:nvSpPr>
        <p:spPr bwMode="auto">
          <a:xfrm>
            <a:off x="719866" y="226915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Content Placeholder 7">
            <a:extLst>
              <a:ext uri="{FF2B5EF4-FFF2-40B4-BE49-F238E27FC236}">
                <a16:creationId xmlns:a16="http://schemas.microsoft.com/office/drawing/2014/main" id="{671967E3-83FE-CCF8-EFF7-53FD48B953F5}"/>
              </a:ext>
            </a:extLst>
          </p:cNvPr>
          <p:cNvSpPr>
            <a:spLocks noGrp="1"/>
          </p:cNvSpPr>
          <p:nvPr>
            <p:ph idx="1"/>
          </p:nvPr>
        </p:nvSpPr>
        <p:spPr>
          <a:xfrm>
            <a:off x="233855" y="4442700"/>
            <a:ext cx="11482551" cy="1423786"/>
          </a:xfrm>
        </p:spPr>
        <p:txBody>
          <a:bodyPr vert="horz" lIns="91440" tIns="45720" rIns="91440" bIns="45720" rtlCol="0" anchor="t">
            <a:normAutofit/>
          </a:bodyPr>
          <a:lstStyle/>
          <a:p>
            <a:pPr>
              <a:buFont typeface="Wingdings" panose="020B0604020202020204" pitchFamily="34" charset="0"/>
              <a:buChar char="Ø"/>
            </a:pPr>
            <a:r>
              <a:rPr lang="en-GB">
                <a:latin typeface="Arial"/>
                <a:ea typeface="Roboto"/>
                <a:cs typeface="Arial"/>
              </a:rPr>
              <a:t> Deep Learning Models perform the best due to their ability to understand text better</a:t>
            </a:r>
            <a:endParaRPr lang="en-GB"/>
          </a:p>
        </p:txBody>
      </p:sp>
      <p:graphicFrame>
        <p:nvGraphicFramePr>
          <p:cNvPr id="10" name="Content Placeholder 4">
            <a:extLst>
              <a:ext uri="{FF2B5EF4-FFF2-40B4-BE49-F238E27FC236}">
                <a16:creationId xmlns:a16="http://schemas.microsoft.com/office/drawing/2014/main" id="{A6B09070-9F50-17DD-C2C4-BA57D2321E21}"/>
              </a:ext>
            </a:extLst>
          </p:cNvPr>
          <p:cNvGraphicFramePr>
            <a:graphicFrameLocks/>
          </p:cNvGraphicFramePr>
          <p:nvPr>
            <p:extLst>
              <p:ext uri="{D42A27DB-BD31-4B8C-83A1-F6EECF244321}">
                <p14:modId xmlns:p14="http://schemas.microsoft.com/office/powerpoint/2010/main" val="21879047"/>
              </p:ext>
            </p:extLst>
          </p:nvPr>
        </p:nvGraphicFramePr>
        <p:xfrm>
          <a:off x="588579" y="1124606"/>
          <a:ext cx="11016024" cy="2966716"/>
        </p:xfrm>
        <a:graphic>
          <a:graphicData uri="http://schemas.openxmlformats.org/drawingml/2006/table">
            <a:tbl>
              <a:tblPr firstRow="1" bandRow="1">
                <a:tableStyleId>{5C22544A-7EE6-4342-B048-85BDC9FD1C3A}</a:tableStyleId>
              </a:tblPr>
              <a:tblGrid>
                <a:gridCol w="2581701">
                  <a:extLst>
                    <a:ext uri="{9D8B030D-6E8A-4147-A177-3AD203B41FA5}">
                      <a16:colId xmlns:a16="http://schemas.microsoft.com/office/drawing/2014/main" val="2909495223"/>
                    </a:ext>
                  </a:extLst>
                </a:gridCol>
                <a:gridCol w="1824708">
                  <a:extLst>
                    <a:ext uri="{9D8B030D-6E8A-4147-A177-3AD203B41FA5}">
                      <a16:colId xmlns:a16="http://schemas.microsoft.com/office/drawing/2014/main" val="853550214"/>
                    </a:ext>
                  </a:extLst>
                </a:gridCol>
                <a:gridCol w="2203205">
                  <a:extLst>
                    <a:ext uri="{9D8B030D-6E8A-4147-A177-3AD203B41FA5}">
                      <a16:colId xmlns:a16="http://schemas.microsoft.com/office/drawing/2014/main" val="2930109634"/>
                    </a:ext>
                  </a:extLst>
                </a:gridCol>
                <a:gridCol w="2203205">
                  <a:extLst>
                    <a:ext uri="{9D8B030D-6E8A-4147-A177-3AD203B41FA5}">
                      <a16:colId xmlns:a16="http://schemas.microsoft.com/office/drawing/2014/main" val="1731727157"/>
                    </a:ext>
                  </a:extLst>
                </a:gridCol>
                <a:gridCol w="2203205">
                  <a:extLst>
                    <a:ext uri="{9D8B030D-6E8A-4147-A177-3AD203B41FA5}">
                      <a16:colId xmlns:a16="http://schemas.microsoft.com/office/drawing/2014/main" val="1931615175"/>
                    </a:ext>
                  </a:extLst>
                </a:gridCol>
              </a:tblGrid>
              <a:tr h="370840">
                <a:tc>
                  <a:txBody>
                    <a:bodyPr/>
                    <a:lstStyle/>
                    <a:p>
                      <a:endParaRPr lang="en-GB"/>
                    </a:p>
                  </a:txBody>
                  <a:tcPr/>
                </a:tc>
                <a:tc>
                  <a:txBody>
                    <a:bodyPr/>
                    <a:lstStyle/>
                    <a:p>
                      <a:r>
                        <a:rPr lang="en-GB" dirty="0"/>
                        <a:t>Precision</a:t>
                      </a:r>
                    </a:p>
                  </a:txBody>
                  <a:tcPr/>
                </a:tc>
                <a:tc>
                  <a:txBody>
                    <a:bodyPr/>
                    <a:lstStyle/>
                    <a:p>
                      <a:r>
                        <a:rPr lang="en-GB" dirty="0"/>
                        <a:t>Recall</a:t>
                      </a:r>
                    </a:p>
                  </a:txBody>
                  <a:tcPr/>
                </a:tc>
                <a:tc>
                  <a:txBody>
                    <a:bodyPr/>
                    <a:lstStyle/>
                    <a:p>
                      <a:r>
                        <a:rPr lang="en-GB" dirty="0"/>
                        <a:t>F1</a:t>
                      </a:r>
                    </a:p>
                  </a:txBody>
                  <a:tcPr/>
                </a:tc>
                <a:tc>
                  <a:txBody>
                    <a:bodyPr/>
                    <a:lstStyle/>
                    <a:p>
                      <a:r>
                        <a:rPr lang="en-GB" dirty="0"/>
                        <a:t>Accuracy</a:t>
                      </a:r>
                    </a:p>
                  </a:txBody>
                  <a:tcPr/>
                </a:tc>
                <a:extLst>
                  <a:ext uri="{0D108BD9-81ED-4DB2-BD59-A6C34878D82A}">
                    <a16:rowId xmlns:a16="http://schemas.microsoft.com/office/drawing/2014/main" val="1952714622"/>
                  </a:ext>
                </a:extLst>
              </a:tr>
              <a:tr h="370840">
                <a:tc>
                  <a:txBody>
                    <a:bodyPr/>
                    <a:lstStyle/>
                    <a:p>
                      <a:r>
                        <a:rPr lang="en-GB" err="1"/>
                        <a:t>TextBlob</a:t>
                      </a:r>
                      <a:endParaRPr lang="en-GB" dirty="0" err="1"/>
                    </a:p>
                  </a:txBody>
                  <a:tcPr/>
                </a:tc>
                <a:tc>
                  <a:txBody>
                    <a:bodyPr/>
                    <a:lstStyle/>
                    <a:p>
                      <a:r>
                        <a:rPr lang="en-GB" dirty="0"/>
                        <a:t>71%</a:t>
                      </a:r>
                    </a:p>
                  </a:txBody>
                  <a:tcPr/>
                </a:tc>
                <a:tc>
                  <a:txBody>
                    <a:bodyPr/>
                    <a:lstStyle/>
                    <a:p>
                      <a:r>
                        <a:rPr lang="en-GB" dirty="0"/>
                        <a:t>48%</a:t>
                      </a:r>
                    </a:p>
                  </a:txBody>
                  <a:tcPr/>
                </a:tc>
                <a:tc>
                  <a:txBody>
                    <a:bodyPr/>
                    <a:lstStyle/>
                    <a:p>
                      <a:r>
                        <a:rPr lang="en-GB" dirty="0"/>
                        <a:t>52%</a:t>
                      </a:r>
                    </a:p>
                  </a:txBody>
                  <a:tcPr/>
                </a:tc>
                <a:tc>
                  <a:txBody>
                    <a:bodyPr/>
                    <a:lstStyle/>
                    <a:p>
                      <a:r>
                        <a:rPr lang="en-GB" dirty="0"/>
                        <a:t>48%</a:t>
                      </a:r>
                    </a:p>
                  </a:txBody>
                  <a:tcPr/>
                </a:tc>
                <a:extLst>
                  <a:ext uri="{0D108BD9-81ED-4DB2-BD59-A6C34878D82A}">
                    <a16:rowId xmlns:a16="http://schemas.microsoft.com/office/drawing/2014/main" val="3896438"/>
                  </a:ext>
                </a:extLst>
              </a:tr>
              <a:tr h="370840">
                <a:tc>
                  <a:txBody>
                    <a:bodyPr/>
                    <a:lstStyle/>
                    <a:p>
                      <a:r>
                        <a:rPr lang="en-GB" dirty="0"/>
                        <a:t>Vader</a:t>
                      </a:r>
                    </a:p>
                  </a:txBody>
                  <a:tcPr/>
                </a:tc>
                <a:tc>
                  <a:txBody>
                    <a:bodyPr/>
                    <a:lstStyle/>
                    <a:p>
                      <a:r>
                        <a:rPr lang="en-GB" dirty="0"/>
                        <a:t>71%</a:t>
                      </a:r>
                    </a:p>
                  </a:txBody>
                  <a:tcPr/>
                </a:tc>
                <a:tc>
                  <a:txBody>
                    <a:bodyPr/>
                    <a:lstStyle/>
                    <a:p>
                      <a:r>
                        <a:rPr lang="en-GB" dirty="0"/>
                        <a:t>48%</a:t>
                      </a:r>
                    </a:p>
                  </a:txBody>
                  <a:tcPr/>
                </a:tc>
                <a:tc>
                  <a:txBody>
                    <a:bodyPr/>
                    <a:lstStyle/>
                    <a:p>
                      <a:r>
                        <a:rPr lang="en-GB" dirty="0"/>
                        <a:t>52%</a:t>
                      </a:r>
                    </a:p>
                  </a:txBody>
                  <a:tcPr/>
                </a:tc>
                <a:tc>
                  <a:txBody>
                    <a:bodyPr/>
                    <a:lstStyle/>
                    <a:p>
                      <a:r>
                        <a:rPr lang="en-GB" dirty="0"/>
                        <a:t>48%</a:t>
                      </a:r>
                    </a:p>
                  </a:txBody>
                  <a:tcPr/>
                </a:tc>
                <a:extLst>
                  <a:ext uri="{0D108BD9-81ED-4DB2-BD59-A6C34878D82A}">
                    <a16:rowId xmlns:a16="http://schemas.microsoft.com/office/drawing/2014/main" val="523979322"/>
                  </a:ext>
                </a:extLst>
              </a:tr>
              <a:tr h="370840">
                <a:tc>
                  <a:txBody>
                    <a:bodyPr/>
                    <a:lstStyle/>
                    <a:p>
                      <a:r>
                        <a:rPr lang="en-GB" dirty="0"/>
                        <a:t>Bernoulli Naïve Bayes</a:t>
                      </a:r>
                    </a:p>
                  </a:txBody>
                  <a:tcPr/>
                </a:tc>
                <a:tc>
                  <a:txBody>
                    <a:bodyPr/>
                    <a:lstStyle/>
                    <a:p>
                      <a:r>
                        <a:rPr lang="en-GB" dirty="0"/>
                        <a:t>76%</a:t>
                      </a:r>
                    </a:p>
                  </a:txBody>
                  <a:tcPr/>
                </a:tc>
                <a:tc>
                  <a:txBody>
                    <a:bodyPr/>
                    <a:lstStyle/>
                    <a:p>
                      <a:r>
                        <a:rPr lang="en-GB" dirty="0"/>
                        <a:t>79%</a:t>
                      </a:r>
                    </a:p>
                  </a:txBody>
                  <a:tcPr/>
                </a:tc>
                <a:tc>
                  <a:txBody>
                    <a:bodyPr/>
                    <a:lstStyle/>
                    <a:p>
                      <a:r>
                        <a:rPr lang="en-GB" dirty="0"/>
                        <a:t>74%</a:t>
                      </a:r>
                    </a:p>
                  </a:txBody>
                  <a:tcPr/>
                </a:tc>
                <a:tc>
                  <a:txBody>
                    <a:bodyPr/>
                    <a:lstStyle/>
                    <a:p>
                      <a:r>
                        <a:rPr lang="en-GB" dirty="0"/>
                        <a:t>79%</a:t>
                      </a:r>
                    </a:p>
                  </a:txBody>
                  <a:tcPr/>
                </a:tc>
                <a:extLst>
                  <a:ext uri="{0D108BD9-81ED-4DB2-BD59-A6C34878D82A}">
                    <a16:rowId xmlns:a16="http://schemas.microsoft.com/office/drawing/2014/main" val="3504590966"/>
                  </a:ext>
                </a:extLst>
              </a:tr>
              <a:tr h="370839">
                <a:tc>
                  <a:txBody>
                    <a:bodyPr/>
                    <a:lstStyle/>
                    <a:p>
                      <a:pPr lvl="0">
                        <a:buNone/>
                      </a:pPr>
                      <a:r>
                        <a:rPr lang="en-GB" dirty="0"/>
                        <a:t>Multinomial </a:t>
                      </a:r>
                      <a:r>
                        <a:rPr lang="en-GB" sz="1800" b="0" i="0" u="none" strike="noStrike" noProof="0" dirty="0">
                          <a:solidFill>
                            <a:srgbClr val="000000"/>
                          </a:solidFill>
                          <a:latin typeface="Calibri"/>
                        </a:rPr>
                        <a:t>Naïve Bayes</a:t>
                      </a:r>
                      <a:endParaRPr lang="en-GB" dirty="0"/>
                    </a:p>
                  </a:txBody>
                  <a:tcPr/>
                </a:tc>
                <a:tc>
                  <a:txBody>
                    <a:bodyPr/>
                    <a:lstStyle/>
                    <a:p>
                      <a:pPr lvl="0">
                        <a:buNone/>
                      </a:pPr>
                      <a:r>
                        <a:rPr lang="en-GB" dirty="0"/>
                        <a:t>80%</a:t>
                      </a:r>
                    </a:p>
                  </a:txBody>
                  <a:tcPr/>
                </a:tc>
                <a:tc>
                  <a:txBody>
                    <a:bodyPr/>
                    <a:lstStyle/>
                    <a:p>
                      <a:pPr lvl="0">
                        <a:buNone/>
                      </a:pPr>
                      <a:r>
                        <a:rPr lang="en-GB" dirty="0"/>
                        <a:t>81%</a:t>
                      </a:r>
                    </a:p>
                  </a:txBody>
                  <a:tcPr/>
                </a:tc>
                <a:tc>
                  <a:txBody>
                    <a:bodyPr/>
                    <a:lstStyle/>
                    <a:p>
                      <a:pPr lvl="0">
                        <a:buNone/>
                      </a:pPr>
                      <a:r>
                        <a:rPr lang="en-GB" dirty="0"/>
                        <a:t>77%</a:t>
                      </a:r>
                    </a:p>
                  </a:txBody>
                  <a:tcPr/>
                </a:tc>
                <a:tc>
                  <a:txBody>
                    <a:bodyPr/>
                    <a:lstStyle/>
                    <a:p>
                      <a:pPr lvl="0">
                        <a:buNone/>
                      </a:pPr>
                      <a:r>
                        <a:rPr lang="en-GB" dirty="0"/>
                        <a:t>81%</a:t>
                      </a:r>
                    </a:p>
                  </a:txBody>
                  <a:tcPr/>
                </a:tc>
                <a:extLst>
                  <a:ext uri="{0D108BD9-81ED-4DB2-BD59-A6C34878D82A}">
                    <a16:rowId xmlns:a16="http://schemas.microsoft.com/office/drawing/2014/main" val="1265623932"/>
                  </a:ext>
                </a:extLst>
              </a:tr>
              <a:tr h="370840">
                <a:tc>
                  <a:txBody>
                    <a:bodyPr/>
                    <a:lstStyle/>
                    <a:p>
                      <a:r>
                        <a:rPr lang="en-GB" dirty="0"/>
                        <a:t>Logistical Regression</a:t>
                      </a:r>
                    </a:p>
                  </a:txBody>
                  <a:tcPr/>
                </a:tc>
                <a:tc>
                  <a:txBody>
                    <a:bodyPr/>
                    <a:lstStyle/>
                    <a:p>
                      <a:r>
                        <a:rPr lang="en-GB" dirty="0"/>
                        <a:t>91%</a:t>
                      </a:r>
                    </a:p>
                  </a:txBody>
                  <a:tcPr/>
                </a:tc>
                <a:tc>
                  <a:txBody>
                    <a:bodyPr/>
                    <a:lstStyle/>
                    <a:p>
                      <a:pPr lvl="0">
                        <a:buNone/>
                      </a:pPr>
                      <a:r>
                        <a:rPr lang="en-GB" sz="1800" b="0" i="0" u="none" strike="noStrike" noProof="0" dirty="0">
                          <a:solidFill>
                            <a:srgbClr val="000000"/>
                          </a:solidFill>
                          <a:latin typeface="Calibri"/>
                        </a:rPr>
                        <a:t>91%</a:t>
                      </a:r>
                      <a:endParaRPr lang="en-US" dirty="0"/>
                    </a:p>
                  </a:txBody>
                  <a:tcPr/>
                </a:tc>
                <a:tc>
                  <a:txBody>
                    <a:bodyPr/>
                    <a:lstStyle/>
                    <a:p>
                      <a:pPr lvl="0">
                        <a:buNone/>
                      </a:pPr>
                      <a:r>
                        <a:rPr lang="en-GB" sz="1800" b="0" i="0" u="none" strike="noStrike" noProof="0" dirty="0">
                          <a:solidFill>
                            <a:srgbClr val="000000"/>
                          </a:solidFill>
                          <a:latin typeface="Calibri"/>
                        </a:rPr>
                        <a:t>91%</a:t>
                      </a:r>
                      <a:endParaRPr lang="en-US" dirty="0"/>
                    </a:p>
                  </a:txBody>
                  <a:tcPr/>
                </a:tc>
                <a:tc>
                  <a:txBody>
                    <a:bodyPr/>
                    <a:lstStyle/>
                    <a:p>
                      <a:r>
                        <a:rPr lang="en-GB" dirty="0"/>
                        <a:t>91%</a:t>
                      </a:r>
                    </a:p>
                  </a:txBody>
                  <a:tcPr/>
                </a:tc>
                <a:extLst>
                  <a:ext uri="{0D108BD9-81ED-4DB2-BD59-A6C34878D82A}">
                    <a16:rowId xmlns:a16="http://schemas.microsoft.com/office/drawing/2014/main" val="2124244325"/>
                  </a:ext>
                </a:extLst>
              </a:tr>
              <a:tr h="370839">
                <a:tc>
                  <a:txBody>
                    <a:bodyPr/>
                    <a:lstStyle/>
                    <a:p>
                      <a:pPr lvl="0">
                        <a:buNone/>
                      </a:pPr>
                      <a:r>
                        <a:rPr lang="en-GB" dirty="0"/>
                        <a:t>LSTM</a:t>
                      </a:r>
                    </a:p>
                  </a:txBody>
                  <a:tcPr/>
                </a:tc>
                <a:tc>
                  <a:txBody>
                    <a:bodyPr/>
                    <a:lstStyle/>
                    <a:p>
                      <a:pPr lvl="0">
                        <a:buNone/>
                      </a:pPr>
                      <a:r>
                        <a:rPr lang="en-GB" dirty="0"/>
                        <a:t>94%</a:t>
                      </a:r>
                    </a:p>
                  </a:txBody>
                  <a:tcPr/>
                </a:tc>
                <a:tc>
                  <a:txBody>
                    <a:bodyPr/>
                    <a:lstStyle/>
                    <a:p>
                      <a:pPr lvl="0">
                        <a:buNone/>
                      </a:pPr>
                      <a:r>
                        <a:rPr lang="en-GB" dirty="0"/>
                        <a:t>94%</a:t>
                      </a:r>
                    </a:p>
                  </a:txBody>
                  <a:tcPr/>
                </a:tc>
                <a:tc>
                  <a:txBody>
                    <a:bodyPr/>
                    <a:lstStyle/>
                    <a:p>
                      <a:pPr lvl="0">
                        <a:buNone/>
                      </a:pPr>
                      <a:r>
                        <a:rPr lang="en-GB" dirty="0"/>
                        <a:t>94%</a:t>
                      </a:r>
                    </a:p>
                  </a:txBody>
                  <a:tcPr/>
                </a:tc>
                <a:tc>
                  <a:txBody>
                    <a:bodyPr/>
                    <a:lstStyle/>
                    <a:p>
                      <a:pPr lvl="0">
                        <a:buNone/>
                      </a:pPr>
                      <a:r>
                        <a:rPr lang="en-GB" dirty="0"/>
                        <a:t>94%</a:t>
                      </a:r>
                    </a:p>
                  </a:txBody>
                  <a:tcPr/>
                </a:tc>
                <a:extLst>
                  <a:ext uri="{0D108BD9-81ED-4DB2-BD59-A6C34878D82A}">
                    <a16:rowId xmlns:a16="http://schemas.microsoft.com/office/drawing/2014/main" val="1109643654"/>
                  </a:ext>
                </a:extLst>
              </a:tr>
              <a:tr h="370838">
                <a:tc>
                  <a:txBody>
                    <a:bodyPr/>
                    <a:lstStyle/>
                    <a:p>
                      <a:pPr lvl="0">
                        <a:buNone/>
                      </a:pPr>
                      <a:r>
                        <a:rPr lang="en-GB" dirty="0"/>
                        <a:t>GRU</a:t>
                      </a:r>
                    </a:p>
                  </a:txBody>
                  <a:tcPr/>
                </a:tc>
                <a:tc>
                  <a:txBody>
                    <a:bodyPr/>
                    <a:lstStyle/>
                    <a:p>
                      <a:pPr lvl="0">
                        <a:buNone/>
                      </a:pPr>
                      <a:r>
                        <a:rPr lang="en-GB" dirty="0"/>
                        <a:t>92%</a:t>
                      </a:r>
                    </a:p>
                  </a:txBody>
                  <a:tcPr/>
                </a:tc>
                <a:tc>
                  <a:txBody>
                    <a:bodyPr/>
                    <a:lstStyle/>
                    <a:p>
                      <a:pPr lvl="0">
                        <a:buNone/>
                      </a:pPr>
                      <a:r>
                        <a:rPr lang="en-GB" sz="1800" b="0" i="0" u="none" strike="noStrike" noProof="0" dirty="0">
                          <a:solidFill>
                            <a:srgbClr val="000000"/>
                          </a:solidFill>
                          <a:latin typeface="Calibri"/>
                        </a:rPr>
                        <a:t>92%</a:t>
                      </a:r>
                      <a:endParaRPr lang="en-US" dirty="0"/>
                    </a:p>
                  </a:txBody>
                  <a:tcPr/>
                </a:tc>
                <a:tc>
                  <a:txBody>
                    <a:bodyPr/>
                    <a:lstStyle/>
                    <a:p>
                      <a:pPr lvl="0">
                        <a:buNone/>
                      </a:pPr>
                      <a:r>
                        <a:rPr lang="en-GB" sz="1800" b="0" i="0" u="none" strike="noStrike" noProof="0" dirty="0">
                          <a:solidFill>
                            <a:srgbClr val="000000"/>
                          </a:solidFill>
                          <a:latin typeface="Calibri"/>
                        </a:rPr>
                        <a:t>92%</a:t>
                      </a:r>
                      <a:endParaRPr lang="en-US" dirty="0"/>
                    </a:p>
                  </a:txBody>
                  <a:tcPr/>
                </a:tc>
                <a:tc>
                  <a:txBody>
                    <a:bodyPr/>
                    <a:lstStyle/>
                    <a:p>
                      <a:pPr lvl="0">
                        <a:buNone/>
                      </a:pPr>
                      <a:r>
                        <a:rPr lang="en-GB" sz="1800" b="0" i="0" u="none" strike="noStrike" noProof="0" dirty="0">
                          <a:solidFill>
                            <a:srgbClr val="000000"/>
                          </a:solidFill>
                          <a:latin typeface="Calibri"/>
                        </a:rPr>
                        <a:t>92%</a:t>
                      </a:r>
                      <a:endParaRPr lang="en-US" dirty="0"/>
                    </a:p>
                  </a:txBody>
                  <a:tcPr/>
                </a:tc>
                <a:extLst>
                  <a:ext uri="{0D108BD9-81ED-4DB2-BD59-A6C34878D82A}">
                    <a16:rowId xmlns:a16="http://schemas.microsoft.com/office/drawing/2014/main" val="3087812232"/>
                  </a:ext>
                </a:extLst>
              </a:tr>
            </a:tbl>
          </a:graphicData>
        </a:graphic>
      </p:graphicFrame>
    </p:spTree>
    <p:extLst>
      <p:ext uri="{BB962C8B-B14F-4D97-AF65-F5344CB8AC3E}">
        <p14:creationId xmlns:p14="http://schemas.microsoft.com/office/powerpoint/2010/main" val="578336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normAutofit/>
          </a:bodyPr>
          <a:lstStyle/>
          <a:p>
            <a:r>
              <a:rPr lang="en-GB">
                <a:latin typeface="Arial"/>
                <a:ea typeface="Roboto"/>
                <a:cs typeface="Arial"/>
              </a:rPr>
              <a:t>Error Analysis</a:t>
            </a:r>
            <a:endParaRPr lang="en-AU"/>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24</a:t>
            </a:fld>
            <a:endParaRPr lang="en-AU"/>
          </a:p>
        </p:txBody>
      </p:sp>
      <p:sp>
        <p:nvSpPr>
          <p:cNvPr id="6" name="TextBox 5">
            <a:extLst>
              <a:ext uri="{FF2B5EF4-FFF2-40B4-BE49-F238E27FC236}">
                <a16:creationId xmlns:a16="http://schemas.microsoft.com/office/drawing/2014/main" id="{0699F208-1CDC-6FEA-A315-8FBE78581435}"/>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a:t>
            </a:r>
            <a:r>
              <a:rPr lang="en-US" sz="1100" err="1">
                <a:latin typeface="Arial"/>
                <a:cs typeface="Arial"/>
              </a:rPr>
              <a:t>Gorjan</a:t>
            </a:r>
            <a:r>
              <a:rPr lang="en-US" sz="1100">
                <a:latin typeface="Arial"/>
                <a:cs typeface="Arial"/>
              </a:rPr>
              <a:t> Muratov (z5677486)</a:t>
            </a:r>
            <a:endParaRPr lang="en-US">
              <a:latin typeface="Arial"/>
              <a:cs typeface="Arial"/>
            </a:endParaRPr>
          </a:p>
        </p:txBody>
      </p:sp>
      <p:graphicFrame>
        <p:nvGraphicFramePr>
          <p:cNvPr id="5" name="Table 4">
            <a:extLst>
              <a:ext uri="{FF2B5EF4-FFF2-40B4-BE49-F238E27FC236}">
                <a16:creationId xmlns:a16="http://schemas.microsoft.com/office/drawing/2014/main" id="{86D0D2AF-949B-4038-D9C7-8C635D18A93D}"/>
              </a:ext>
            </a:extLst>
          </p:cNvPr>
          <p:cNvGraphicFramePr>
            <a:graphicFrameLocks noGrp="1"/>
          </p:cNvGraphicFramePr>
          <p:nvPr>
            <p:extLst>
              <p:ext uri="{D42A27DB-BD31-4B8C-83A1-F6EECF244321}">
                <p14:modId xmlns:p14="http://schemas.microsoft.com/office/powerpoint/2010/main" val="2668105371"/>
              </p:ext>
            </p:extLst>
          </p:nvPr>
        </p:nvGraphicFramePr>
        <p:xfrm>
          <a:off x="388188" y="1121433"/>
          <a:ext cx="11319019" cy="3240382"/>
        </p:xfrm>
        <a:graphic>
          <a:graphicData uri="http://schemas.openxmlformats.org/drawingml/2006/table">
            <a:tbl>
              <a:tblPr firstRow="1" bandRow="1">
                <a:tableStyleId>{5C22544A-7EE6-4342-B048-85BDC9FD1C3A}</a:tableStyleId>
              </a:tblPr>
              <a:tblGrid>
                <a:gridCol w="6713998">
                  <a:extLst>
                    <a:ext uri="{9D8B030D-6E8A-4147-A177-3AD203B41FA5}">
                      <a16:colId xmlns:a16="http://schemas.microsoft.com/office/drawing/2014/main" val="4171901044"/>
                    </a:ext>
                  </a:extLst>
                </a:gridCol>
                <a:gridCol w="1365749">
                  <a:extLst>
                    <a:ext uri="{9D8B030D-6E8A-4147-A177-3AD203B41FA5}">
                      <a16:colId xmlns:a16="http://schemas.microsoft.com/office/drawing/2014/main" val="2859676944"/>
                    </a:ext>
                  </a:extLst>
                </a:gridCol>
                <a:gridCol w="1285404">
                  <a:extLst>
                    <a:ext uri="{9D8B030D-6E8A-4147-A177-3AD203B41FA5}">
                      <a16:colId xmlns:a16="http://schemas.microsoft.com/office/drawing/2014/main" val="3592945475"/>
                    </a:ext>
                  </a:extLst>
                </a:gridCol>
                <a:gridCol w="759365">
                  <a:extLst>
                    <a:ext uri="{9D8B030D-6E8A-4147-A177-3AD203B41FA5}">
                      <a16:colId xmlns:a16="http://schemas.microsoft.com/office/drawing/2014/main" val="2226046341"/>
                    </a:ext>
                  </a:extLst>
                </a:gridCol>
                <a:gridCol w="1194503">
                  <a:extLst>
                    <a:ext uri="{9D8B030D-6E8A-4147-A177-3AD203B41FA5}">
                      <a16:colId xmlns:a16="http://schemas.microsoft.com/office/drawing/2014/main" val="3253435434"/>
                    </a:ext>
                  </a:extLst>
                </a:gridCol>
              </a:tblGrid>
              <a:tr h="980111">
                <a:tc>
                  <a:txBody>
                    <a:bodyPr/>
                    <a:lstStyle/>
                    <a:p>
                      <a:r>
                        <a:rPr lang="en-GB"/>
                        <a:t>Tweet</a:t>
                      </a:r>
                    </a:p>
                  </a:txBody>
                  <a:tcPr/>
                </a:tc>
                <a:tc>
                  <a:txBody>
                    <a:bodyPr/>
                    <a:lstStyle/>
                    <a:p>
                      <a:r>
                        <a:rPr lang="en-GB"/>
                        <a:t>Rule-Based Vader</a:t>
                      </a:r>
                    </a:p>
                  </a:txBody>
                  <a:tcPr/>
                </a:tc>
                <a:tc>
                  <a:txBody>
                    <a:bodyPr/>
                    <a:lstStyle/>
                    <a:p>
                      <a:r>
                        <a:rPr lang="en-GB"/>
                        <a:t>Logistic Regression </a:t>
                      </a:r>
                    </a:p>
                  </a:txBody>
                  <a:tcPr/>
                </a:tc>
                <a:tc>
                  <a:txBody>
                    <a:bodyPr/>
                    <a:lstStyle/>
                    <a:p>
                      <a:pPr lvl="0">
                        <a:buNone/>
                      </a:pPr>
                      <a:r>
                        <a:rPr lang="en-GB"/>
                        <a:t>LSTM</a:t>
                      </a:r>
                    </a:p>
                  </a:txBody>
                  <a:tcPr/>
                </a:tc>
                <a:tc>
                  <a:txBody>
                    <a:bodyPr/>
                    <a:lstStyle/>
                    <a:p>
                      <a:pPr lvl="0">
                        <a:buNone/>
                      </a:pPr>
                      <a:r>
                        <a:rPr lang="en-GB"/>
                        <a:t>True Label</a:t>
                      </a:r>
                    </a:p>
                  </a:txBody>
                  <a:tcPr/>
                </a:tc>
                <a:extLst>
                  <a:ext uri="{0D108BD9-81ED-4DB2-BD59-A6C34878D82A}">
                    <a16:rowId xmlns:a16="http://schemas.microsoft.com/office/drawing/2014/main" val="1805853315"/>
                  </a:ext>
                </a:extLst>
              </a:tr>
              <a:tr h="566486">
                <a:tc>
                  <a:txBody>
                    <a:bodyPr/>
                    <a:lstStyle/>
                    <a:p>
                      <a:pPr lvl="0">
                        <a:buNone/>
                      </a:pPr>
                      <a:r>
                        <a:rPr lang="en-GB" sz="1800" b="0" i="0" u="none" strike="noStrike" noProof="0">
                          <a:solidFill>
                            <a:schemeClr val="tx1"/>
                          </a:solidFill>
                        </a:rPr>
                        <a:t>when i said i wanted to die,, i didnt mean to die from coronavirus lmao no lawd ive suffered enuf plz</a:t>
                      </a:r>
                    </a:p>
                  </a:txBody>
                  <a:tcPr/>
                </a:tc>
                <a:tc>
                  <a:txBody>
                    <a:bodyPr/>
                    <a:lstStyle/>
                    <a:p>
                      <a:r>
                        <a:rPr lang="en-GB"/>
                        <a:t>Pos</a:t>
                      </a:r>
                    </a:p>
                  </a:txBody>
                  <a:tcPr/>
                </a:tc>
                <a:tc>
                  <a:txBody>
                    <a:bodyPr/>
                    <a:lstStyle/>
                    <a:p>
                      <a:pPr lvl="0">
                        <a:buNone/>
                      </a:pPr>
                      <a:r>
                        <a:rPr lang="en-GB"/>
                        <a:t>Neg</a:t>
                      </a:r>
                    </a:p>
                  </a:txBody>
                  <a:tcPr/>
                </a:tc>
                <a:tc>
                  <a:txBody>
                    <a:bodyPr/>
                    <a:lstStyle/>
                    <a:p>
                      <a:pPr lvl="0">
                        <a:buNone/>
                      </a:pPr>
                      <a:r>
                        <a:rPr lang="en-GB"/>
                        <a:t>Neu</a:t>
                      </a:r>
                    </a:p>
                  </a:txBody>
                  <a:tcPr/>
                </a:tc>
                <a:tc>
                  <a:txBody>
                    <a:bodyPr/>
                    <a:lstStyle/>
                    <a:p>
                      <a:pPr lvl="0">
                        <a:buNone/>
                      </a:pPr>
                      <a:r>
                        <a:rPr lang="en-GB"/>
                        <a:t>Neu</a:t>
                      </a:r>
                    </a:p>
                  </a:txBody>
                  <a:tcPr/>
                </a:tc>
                <a:extLst>
                  <a:ext uri="{0D108BD9-81ED-4DB2-BD59-A6C34878D82A}">
                    <a16:rowId xmlns:a16="http://schemas.microsoft.com/office/drawing/2014/main" val="3408130892"/>
                  </a:ext>
                </a:extLst>
              </a:tr>
              <a:tr h="566486">
                <a:tc>
                  <a:txBody>
                    <a:bodyPr/>
                    <a:lstStyle/>
                    <a:p>
                      <a:pPr lvl="0">
                        <a:buNone/>
                      </a:pPr>
                      <a:r>
                        <a:rPr lang="en-GB" sz="1800" b="0" i="0" u="none" strike="noStrike" noProof="0">
                          <a:solidFill>
                            <a:schemeClr val="tx1"/>
                          </a:solidFill>
                        </a:rPr>
                        <a:t>oh great, two vancouver school are closed because there are kids with presumptive positive cases of coronavirus f me</a:t>
                      </a:r>
                    </a:p>
                  </a:txBody>
                  <a:tcPr/>
                </a:tc>
                <a:tc>
                  <a:txBody>
                    <a:bodyPr/>
                    <a:lstStyle/>
                    <a:p>
                      <a:r>
                        <a:rPr lang="en-GB"/>
                        <a:t>Pos</a:t>
                      </a:r>
                    </a:p>
                  </a:txBody>
                  <a:tcPr/>
                </a:tc>
                <a:tc>
                  <a:txBody>
                    <a:bodyPr/>
                    <a:lstStyle/>
                    <a:p>
                      <a:pPr lvl="0">
                        <a:buNone/>
                      </a:pPr>
                      <a:r>
                        <a:rPr lang="en-GB"/>
                        <a:t>Neg</a:t>
                      </a:r>
                    </a:p>
                  </a:txBody>
                  <a:tcPr/>
                </a:tc>
                <a:tc>
                  <a:txBody>
                    <a:bodyPr/>
                    <a:lstStyle/>
                    <a:p>
                      <a:pPr lvl="0">
                        <a:buNone/>
                      </a:pPr>
                      <a:r>
                        <a:rPr lang="en-GB"/>
                        <a:t>Neu</a:t>
                      </a:r>
                    </a:p>
                  </a:txBody>
                  <a:tcPr/>
                </a:tc>
                <a:tc>
                  <a:txBody>
                    <a:bodyPr/>
                    <a:lstStyle/>
                    <a:p>
                      <a:pPr lvl="0">
                        <a:buNone/>
                      </a:pPr>
                      <a:r>
                        <a:rPr lang="en-GB"/>
                        <a:t>Neu</a:t>
                      </a:r>
                    </a:p>
                  </a:txBody>
                  <a:tcPr/>
                </a:tc>
                <a:extLst>
                  <a:ext uri="{0D108BD9-81ED-4DB2-BD59-A6C34878D82A}">
                    <a16:rowId xmlns:a16="http://schemas.microsoft.com/office/drawing/2014/main" val="2746768966"/>
                  </a:ext>
                </a:extLst>
              </a:tr>
              <a:tr h="980111">
                <a:tc>
                  <a:txBody>
                    <a:bodyPr/>
                    <a:lstStyle/>
                    <a:p>
                      <a:pPr lvl="0">
                        <a:buNone/>
                      </a:pPr>
                      <a:r>
                        <a:rPr lang="en-GB" sz="1800" b="0" i="0" u="none" strike="noStrike" noProof="0">
                          <a:solidFill>
                            <a:schemeClr val="tx1"/>
                          </a:solidFill>
                          <a:latin typeface="Calibri"/>
                        </a:rPr>
                        <a:t>even a mild case of covid-19 is extremely serious </a:t>
                      </a:r>
                      <a:endParaRPr lang="en-US" sz="1800">
                        <a:solidFill>
                          <a:schemeClr val="tx1"/>
                        </a:solidFill>
                        <a:latin typeface="Calibri"/>
                      </a:endParaRPr>
                    </a:p>
                    <a:p>
                      <a:pPr lvl="0">
                        <a:buNone/>
                      </a:pPr>
                      <a:r>
                        <a:rPr lang="en-GB" sz="1800" b="0" i="0" u="none" strike="noStrike" noProof="0">
                          <a:solidFill>
                            <a:schemeClr val="tx1"/>
                          </a:solidFill>
                          <a:latin typeface="Calibri"/>
                        </a:rPr>
                        <a:t>(might even include pneumonia). the word mild is very misleading.</a:t>
                      </a:r>
                      <a:endParaRPr lang="en-US" sz="1800">
                        <a:solidFill>
                          <a:schemeClr val="tx1"/>
                        </a:solidFill>
                        <a:latin typeface="Calibri"/>
                      </a:endParaRPr>
                    </a:p>
                  </a:txBody>
                  <a:tcPr/>
                </a:tc>
                <a:tc>
                  <a:txBody>
                    <a:bodyPr/>
                    <a:lstStyle/>
                    <a:p>
                      <a:r>
                        <a:rPr lang="en-GB"/>
                        <a:t>Neg</a:t>
                      </a:r>
                    </a:p>
                  </a:txBody>
                  <a:tcPr/>
                </a:tc>
                <a:tc>
                  <a:txBody>
                    <a:bodyPr/>
                    <a:lstStyle/>
                    <a:p>
                      <a:r>
                        <a:rPr lang="en-GB"/>
                        <a:t>Neg</a:t>
                      </a:r>
                    </a:p>
                  </a:txBody>
                  <a:tcPr/>
                </a:tc>
                <a:tc>
                  <a:txBody>
                    <a:bodyPr/>
                    <a:lstStyle/>
                    <a:p>
                      <a:r>
                        <a:rPr lang="en-GB"/>
                        <a:t>Neu</a:t>
                      </a:r>
                    </a:p>
                  </a:txBody>
                  <a:tcPr/>
                </a:tc>
                <a:tc>
                  <a:txBody>
                    <a:bodyPr/>
                    <a:lstStyle/>
                    <a:p>
                      <a:pPr lvl="0">
                        <a:buNone/>
                      </a:pPr>
                      <a:r>
                        <a:rPr lang="en-GB"/>
                        <a:t>Neu</a:t>
                      </a:r>
                      <a:endParaRPr lang="en-US"/>
                    </a:p>
                  </a:txBody>
                  <a:tcPr/>
                </a:tc>
                <a:extLst>
                  <a:ext uri="{0D108BD9-81ED-4DB2-BD59-A6C34878D82A}">
                    <a16:rowId xmlns:a16="http://schemas.microsoft.com/office/drawing/2014/main" val="2477180045"/>
                  </a:ext>
                </a:extLst>
              </a:tr>
            </a:tbl>
          </a:graphicData>
        </a:graphic>
      </p:graphicFrame>
      <p:sp>
        <p:nvSpPr>
          <p:cNvPr id="3" name="TextBox 2">
            <a:extLst>
              <a:ext uri="{FF2B5EF4-FFF2-40B4-BE49-F238E27FC236}">
                <a16:creationId xmlns:a16="http://schemas.microsoft.com/office/drawing/2014/main" id="{0A4698D4-F552-D863-B1B6-D3546C52E0FF}"/>
              </a:ext>
            </a:extLst>
          </p:cNvPr>
          <p:cNvSpPr txBox="1"/>
          <p:nvPr/>
        </p:nvSpPr>
        <p:spPr>
          <a:xfrm>
            <a:off x="409432" y="440140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7" name="TextBox 6">
            <a:extLst>
              <a:ext uri="{FF2B5EF4-FFF2-40B4-BE49-F238E27FC236}">
                <a16:creationId xmlns:a16="http://schemas.microsoft.com/office/drawing/2014/main" id="{AC076C29-760B-0ED0-63A2-E6693BE09B22}"/>
              </a:ext>
            </a:extLst>
          </p:cNvPr>
          <p:cNvSpPr txBox="1"/>
          <p:nvPr/>
        </p:nvSpPr>
        <p:spPr>
          <a:xfrm>
            <a:off x="380678" y="4398399"/>
            <a:ext cx="11312104"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GB" sz="2800">
                <a:latin typeface="Arial"/>
                <a:ea typeface="Calibri"/>
                <a:cs typeface="Calibri"/>
              </a:rPr>
              <a:t>LSTM has captured long term context, sarcasm, and connotation</a:t>
            </a:r>
          </a:p>
          <a:p>
            <a:pPr marL="285750" indent="-285750">
              <a:buFont typeface="Wingdings"/>
              <a:buChar char="Ø"/>
            </a:pPr>
            <a:r>
              <a:rPr lang="en-GB" sz="2800">
                <a:latin typeface="Arial"/>
                <a:ea typeface="Calibri"/>
                <a:cs typeface="Calibri"/>
              </a:rPr>
              <a:t>Vader and Logistic Regression to link sequence beginning to end</a:t>
            </a:r>
          </a:p>
          <a:p>
            <a:pPr marL="285750" indent="-285750">
              <a:buFont typeface="Wingdings"/>
              <a:buChar char="Ø"/>
            </a:pPr>
            <a:r>
              <a:rPr lang="en-GB" sz="2800">
                <a:latin typeface="Arial"/>
                <a:ea typeface="Calibri"/>
                <a:cs typeface="Calibri"/>
              </a:rPr>
              <a:t>They focus on local neighbourhood of words</a:t>
            </a:r>
          </a:p>
        </p:txBody>
      </p:sp>
    </p:spTree>
    <p:extLst>
      <p:ext uri="{BB962C8B-B14F-4D97-AF65-F5344CB8AC3E}">
        <p14:creationId xmlns:p14="http://schemas.microsoft.com/office/powerpoint/2010/main" val="2262191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FA4A1-54CE-21A9-DAD5-D4AF0C4268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BB6A7-0D8E-8896-A3DD-9BD014FC9970}"/>
              </a:ext>
            </a:extLst>
          </p:cNvPr>
          <p:cNvSpPr>
            <a:spLocks noGrp="1"/>
          </p:cNvSpPr>
          <p:nvPr>
            <p:ph type="title"/>
          </p:nvPr>
        </p:nvSpPr>
        <p:spPr>
          <a:xfrm>
            <a:off x="231648" y="136525"/>
            <a:ext cx="11631168" cy="838835"/>
          </a:xfrm>
        </p:spPr>
        <p:txBody>
          <a:bodyPr>
            <a:normAutofit/>
          </a:bodyPr>
          <a:lstStyle/>
          <a:p>
            <a:r>
              <a:rPr lang="en-GB">
                <a:latin typeface="Arial"/>
                <a:ea typeface="Roboto"/>
                <a:cs typeface="Arial"/>
              </a:rPr>
              <a:t>Methods – Approach 2</a:t>
            </a:r>
            <a:endParaRPr lang="en-AU"/>
          </a:p>
        </p:txBody>
      </p:sp>
      <p:sp>
        <p:nvSpPr>
          <p:cNvPr id="3" name="Content Placeholder 2">
            <a:extLst>
              <a:ext uri="{FF2B5EF4-FFF2-40B4-BE49-F238E27FC236}">
                <a16:creationId xmlns:a16="http://schemas.microsoft.com/office/drawing/2014/main" id="{4CAD9442-C0EA-FFAB-BD91-0E75C94AB006}"/>
              </a:ext>
            </a:extLst>
          </p:cNvPr>
          <p:cNvSpPr>
            <a:spLocks noGrp="1"/>
          </p:cNvSpPr>
          <p:nvPr>
            <p:ph idx="1"/>
          </p:nvPr>
        </p:nvSpPr>
        <p:spPr>
          <a:xfrm>
            <a:off x="231648" y="975360"/>
            <a:ext cx="11631168" cy="5035296"/>
          </a:xfrm>
        </p:spPr>
        <p:txBody>
          <a:bodyPr vert="horz" lIns="91440" tIns="45720" rIns="91440" bIns="45720" rtlCol="0" anchor="t">
            <a:normAutofit/>
          </a:bodyPr>
          <a:lstStyle/>
          <a:p>
            <a:pPr>
              <a:buFont typeface="Wingdings" pitchFamily="2" charset="2"/>
              <a:buChar char="Ø"/>
            </a:pPr>
            <a:r>
              <a:rPr lang="en-AU">
                <a:latin typeface="Arial"/>
                <a:ea typeface="Roboto"/>
                <a:cs typeface="Arial"/>
              </a:rPr>
              <a:t> Standardise pre-processing, evaluation, model, and data split</a:t>
            </a:r>
          </a:p>
          <a:p>
            <a:pPr>
              <a:buFont typeface="Wingdings" pitchFamily="2" charset="2"/>
              <a:buChar char="Ø"/>
            </a:pPr>
            <a:r>
              <a:rPr lang="en-AU">
                <a:latin typeface="Arial"/>
                <a:ea typeface="Roboto"/>
                <a:cs typeface="Arial"/>
              </a:rPr>
              <a:t> Experiment with different embedding strategies</a:t>
            </a:r>
          </a:p>
          <a:p>
            <a:pPr>
              <a:buFont typeface="Wingdings" pitchFamily="2" charset="2"/>
              <a:buChar char="Ø"/>
            </a:pPr>
            <a:r>
              <a:rPr lang="en-AU">
                <a:latin typeface="Arial"/>
                <a:ea typeface="Roboto"/>
                <a:cs typeface="Arial"/>
              </a:rPr>
              <a:t> Try TF-IDF embedding approach</a:t>
            </a:r>
          </a:p>
          <a:p>
            <a:pPr>
              <a:buFont typeface="Wingdings" pitchFamily="2" charset="2"/>
              <a:buChar char="Ø"/>
            </a:pPr>
            <a:r>
              <a:rPr lang="en-AU">
                <a:latin typeface="Arial"/>
                <a:ea typeface="Roboto"/>
                <a:cs typeface="Arial"/>
              </a:rPr>
              <a:t> Try Word2Vec embedding approach</a:t>
            </a:r>
          </a:p>
          <a:p>
            <a:pPr>
              <a:buFont typeface="Wingdings" pitchFamily="2" charset="2"/>
              <a:buChar char="Ø"/>
            </a:pPr>
            <a:r>
              <a:rPr lang="en-AU">
                <a:latin typeface="Arial"/>
                <a:ea typeface="Roboto"/>
                <a:cs typeface="Arial"/>
              </a:rPr>
              <a:t> Try </a:t>
            </a:r>
            <a:r>
              <a:rPr lang="en-AU" err="1">
                <a:latin typeface="Arial"/>
                <a:ea typeface="Roboto"/>
                <a:cs typeface="Arial"/>
              </a:rPr>
              <a:t>GloVe</a:t>
            </a:r>
            <a:r>
              <a:rPr lang="en-AU">
                <a:latin typeface="Arial"/>
                <a:ea typeface="Roboto"/>
                <a:cs typeface="Arial"/>
              </a:rPr>
              <a:t> embedding approach</a:t>
            </a:r>
          </a:p>
          <a:p>
            <a:pPr>
              <a:buFont typeface="Wingdings" pitchFamily="2" charset="2"/>
              <a:buChar char="Ø"/>
            </a:pPr>
            <a:r>
              <a:rPr lang="en-AU">
                <a:latin typeface="Arial"/>
                <a:ea typeface="Roboto"/>
                <a:cs typeface="Arial"/>
              </a:rPr>
              <a:t> Compare and contrast the different types of embedding approaches</a:t>
            </a:r>
          </a:p>
          <a:p>
            <a:pPr>
              <a:buFont typeface="Wingdings" pitchFamily="2" charset="2"/>
              <a:buChar char="Ø"/>
            </a:pPr>
            <a:r>
              <a:rPr lang="en-AU">
                <a:latin typeface="Arial"/>
                <a:ea typeface="Roboto"/>
                <a:cs typeface="Arial"/>
              </a:rPr>
              <a:t> How do more complicated neural network embedding approaches affect the models performance?</a:t>
            </a:r>
          </a:p>
        </p:txBody>
      </p:sp>
      <p:sp>
        <p:nvSpPr>
          <p:cNvPr id="4" name="Slide Number Placeholder 3">
            <a:extLst>
              <a:ext uri="{FF2B5EF4-FFF2-40B4-BE49-F238E27FC236}">
                <a16:creationId xmlns:a16="http://schemas.microsoft.com/office/drawing/2014/main" id="{AB8DDDF5-2E4F-95F2-4E12-7010E6DA6F76}"/>
              </a:ext>
            </a:extLst>
          </p:cNvPr>
          <p:cNvSpPr>
            <a:spLocks noGrp="1"/>
          </p:cNvSpPr>
          <p:nvPr>
            <p:ph type="sldNum" sz="quarter" idx="12"/>
          </p:nvPr>
        </p:nvSpPr>
        <p:spPr/>
        <p:txBody>
          <a:bodyPr/>
          <a:lstStyle/>
          <a:p>
            <a:fld id="{6BAD6A8B-B5C3-4437-A9DE-A8C2149171DD}" type="slidenum">
              <a:rPr lang="en-AU" smtClean="0"/>
              <a:t>25</a:t>
            </a:fld>
            <a:endParaRPr lang="en-AU"/>
          </a:p>
        </p:txBody>
      </p:sp>
      <p:sp>
        <p:nvSpPr>
          <p:cNvPr id="6" name="TextBox 5">
            <a:extLst>
              <a:ext uri="{FF2B5EF4-FFF2-40B4-BE49-F238E27FC236}">
                <a16:creationId xmlns:a16="http://schemas.microsoft.com/office/drawing/2014/main" id="{FDE5F2E8-AE5C-B7EA-3D8B-CBB23BB7D241}"/>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a:t>
            </a:r>
            <a:r>
              <a:rPr lang="en-US" sz="1100" err="1">
                <a:latin typeface="Arial"/>
                <a:cs typeface="Arial"/>
              </a:rPr>
              <a:t>Gorjan</a:t>
            </a:r>
            <a:r>
              <a:rPr lang="en-US" sz="1100">
                <a:latin typeface="Arial"/>
                <a:cs typeface="Arial"/>
              </a:rPr>
              <a:t> Muratov (z5677486)</a:t>
            </a:r>
            <a:endParaRPr lang="en-US">
              <a:latin typeface="Arial"/>
              <a:cs typeface="Arial"/>
            </a:endParaRPr>
          </a:p>
        </p:txBody>
      </p:sp>
    </p:spTree>
    <p:extLst>
      <p:ext uri="{BB962C8B-B14F-4D97-AF65-F5344CB8AC3E}">
        <p14:creationId xmlns:p14="http://schemas.microsoft.com/office/powerpoint/2010/main" val="2284525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3BB5A-3243-9252-8DD1-9349747D8343}"/>
              </a:ext>
            </a:extLst>
          </p:cNvPr>
          <p:cNvSpPr>
            <a:spLocks noGrp="1"/>
          </p:cNvSpPr>
          <p:nvPr>
            <p:ph type="title"/>
          </p:nvPr>
        </p:nvSpPr>
        <p:spPr/>
        <p:txBody>
          <a:bodyPr/>
          <a:lstStyle/>
          <a:p>
            <a:r>
              <a:rPr lang="en-US">
                <a:latin typeface="Arial"/>
                <a:ea typeface="Roboto"/>
                <a:cs typeface="Arial"/>
              </a:rPr>
              <a:t>Embeddings Approach</a:t>
            </a:r>
            <a:endParaRPr lang="en-US"/>
          </a:p>
        </p:txBody>
      </p:sp>
      <p:sp>
        <p:nvSpPr>
          <p:cNvPr id="3" name="Content Placeholder 2">
            <a:extLst>
              <a:ext uri="{FF2B5EF4-FFF2-40B4-BE49-F238E27FC236}">
                <a16:creationId xmlns:a16="http://schemas.microsoft.com/office/drawing/2014/main" id="{C5DC26D8-F994-F844-D7F7-E2598E40EAA6}"/>
              </a:ext>
            </a:extLst>
          </p:cNvPr>
          <p:cNvSpPr>
            <a:spLocks noGrp="1"/>
          </p:cNvSpPr>
          <p:nvPr>
            <p:ph idx="1"/>
          </p:nvPr>
        </p:nvSpPr>
        <p:spPr>
          <a:xfrm>
            <a:off x="838200" y="1599653"/>
            <a:ext cx="10515600" cy="4088158"/>
          </a:xfrm>
        </p:spPr>
        <p:txBody>
          <a:bodyPr vert="horz" lIns="91440" tIns="45720" rIns="91440" bIns="45720" rtlCol="0" anchor="t">
            <a:normAutofit/>
          </a:bodyPr>
          <a:lstStyle/>
          <a:p>
            <a:pPr>
              <a:buFont typeface="Wingdings" panose="020B0604020202020204" pitchFamily="34" charset="0"/>
              <a:buChar char="Ø"/>
            </a:pPr>
            <a:r>
              <a:rPr lang="en-US">
                <a:latin typeface="Arial"/>
                <a:ea typeface="Roboto"/>
                <a:cs typeface="Arial"/>
              </a:rPr>
              <a:t> TF-IDF: Is a frequency based embedding that measures importance of a word in corpus based on frequency.</a:t>
            </a:r>
            <a:endParaRPr lang="en-US"/>
          </a:p>
          <a:p>
            <a:pPr>
              <a:buFont typeface="Wingdings" panose="020B0604020202020204" pitchFamily="34" charset="0"/>
              <a:buChar char="Ø"/>
            </a:pPr>
            <a:endParaRPr lang="en-US">
              <a:latin typeface="Arial"/>
              <a:ea typeface="Roboto"/>
              <a:cs typeface="Arial"/>
            </a:endParaRPr>
          </a:p>
          <a:p>
            <a:pPr>
              <a:buFont typeface="Wingdings" panose="020B0604020202020204" pitchFamily="34" charset="0"/>
              <a:buChar char="Ø"/>
            </a:pPr>
            <a:r>
              <a:rPr lang="en-US">
                <a:latin typeface="Arial"/>
                <a:ea typeface="Roboto"/>
                <a:cs typeface="Arial"/>
              </a:rPr>
              <a:t> Word2Vec: Learns vector representation based on the context of the word in the corpus.</a:t>
            </a:r>
            <a:endParaRPr lang="en-US"/>
          </a:p>
          <a:p>
            <a:pPr>
              <a:buFont typeface="Wingdings" panose="020B0604020202020204" pitchFamily="34" charset="0"/>
              <a:buChar char="Ø"/>
            </a:pPr>
            <a:endParaRPr lang="en-US"/>
          </a:p>
          <a:p>
            <a:pPr>
              <a:buFont typeface="Wingdings" panose="020B0604020202020204" pitchFamily="34" charset="0"/>
              <a:buChar char="Ø"/>
            </a:pPr>
            <a:r>
              <a:rPr lang="en-US">
                <a:latin typeface="Arial"/>
                <a:ea typeface="Roboto"/>
                <a:cs typeface="Arial"/>
              </a:rPr>
              <a:t> Glove: Learns vector representation based on not only the context but also the cooccurrence of word in the corpus.</a:t>
            </a:r>
          </a:p>
          <a:p>
            <a:pPr>
              <a:buFont typeface="Wingdings" panose="020B0604020202020204" pitchFamily="34" charset="0"/>
              <a:buChar char="Ø"/>
            </a:pPr>
            <a:endParaRPr lang="en-US"/>
          </a:p>
        </p:txBody>
      </p:sp>
      <p:sp>
        <p:nvSpPr>
          <p:cNvPr id="4" name="Slide Number Placeholder 3">
            <a:extLst>
              <a:ext uri="{FF2B5EF4-FFF2-40B4-BE49-F238E27FC236}">
                <a16:creationId xmlns:a16="http://schemas.microsoft.com/office/drawing/2014/main" id="{34A1506D-B203-23B9-A5F3-9F02E4BE9019}"/>
              </a:ext>
            </a:extLst>
          </p:cNvPr>
          <p:cNvSpPr>
            <a:spLocks noGrp="1"/>
          </p:cNvSpPr>
          <p:nvPr>
            <p:ph type="sldNum" sz="quarter" idx="12"/>
          </p:nvPr>
        </p:nvSpPr>
        <p:spPr/>
        <p:txBody>
          <a:bodyPr/>
          <a:lstStyle/>
          <a:p>
            <a:fld id="{6BAD6A8B-B5C3-4437-A9DE-A8C2149171DD}" type="slidenum">
              <a:rPr lang="en-AU" smtClean="0"/>
              <a:t>26</a:t>
            </a:fld>
            <a:endParaRPr lang="en-AU"/>
          </a:p>
        </p:txBody>
      </p:sp>
      <p:sp>
        <p:nvSpPr>
          <p:cNvPr id="6" name="TextBox 5">
            <a:extLst>
              <a:ext uri="{FF2B5EF4-FFF2-40B4-BE49-F238E27FC236}">
                <a16:creationId xmlns:a16="http://schemas.microsoft.com/office/drawing/2014/main" id="{8E1D098C-DDD4-8A22-9097-8B04611781F1}"/>
              </a:ext>
            </a:extLst>
          </p:cNvPr>
          <p:cNvSpPr txBox="1"/>
          <p:nvPr/>
        </p:nvSpPr>
        <p:spPr>
          <a:xfrm>
            <a:off x="307009" y="6281530"/>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Arial"/>
              </a:rPr>
              <a:t>Presenter: Sidhanth Kafley (z5504979)</a:t>
            </a:r>
            <a:endParaRPr lang="en-US" sz="1100">
              <a:latin typeface="Arial"/>
              <a:cs typeface="Arial"/>
            </a:endParaRPr>
          </a:p>
        </p:txBody>
      </p:sp>
    </p:spTree>
    <p:extLst>
      <p:ext uri="{BB962C8B-B14F-4D97-AF65-F5344CB8AC3E}">
        <p14:creationId xmlns:p14="http://schemas.microsoft.com/office/powerpoint/2010/main" val="29484953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normAutofit/>
          </a:bodyPr>
          <a:lstStyle/>
          <a:p>
            <a:r>
              <a:rPr lang="en-GB">
                <a:latin typeface="Arial"/>
                <a:ea typeface="Roboto"/>
                <a:cs typeface="Arial"/>
              </a:rPr>
              <a:t>Results and Discussion</a:t>
            </a:r>
            <a:endParaRPr lang="en-AU"/>
          </a:p>
        </p:txBody>
      </p:sp>
      <p:sp>
        <p:nvSpPr>
          <p:cNvPr id="3" name="Content Placeholder 2">
            <a:extLst>
              <a:ext uri="{FF2B5EF4-FFF2-40B4-BE49-F238E27FC236}">
                <a16:creationId xmlns:a16="http://schemas.microsoft.com/office/drawing/2014/main" id="{D1140ADC-BD0A-F855-7488-B023933118C6}"/>
              </a:ext>
            </a:extLst>
          </p:cNvPr>
          <p:cNvSpPr>
            <a:spLocks noGrp="1"/>
          </p:cNvSpPr>
          <p:nvPr>
            <p:ph idx="1"/>
          </p:nvPr>
        </p:nvSpPr>
        <p:spPr>
          <a:xfrm>
            <a:off x="126545" y="975360"/>
            <a:ext cx="11951733" cy="5035296"/>
          </a:xfrm>
        </p:spPr>
        <p:txBody>
          <a:bodyPr vert="horz" lIns="91440" tIns="45720" rIns="91440" bIns="45720" rtlCol="0" anchor="t">
            <a:normAutofit/>
          </a:bodyPr>
          <a:lstStyle/>
          <a:p>
            <a:pPr>
              <a:buFont typeface="Wingdings" panose="020B0604020202020204" pitchFamily="34" charset="0"/>
              <a:buChar char="Ø"/>
            </a:pPr>
            <a:r>
              <a:rPr lang="en-AU">
                <a:latin typeface="Arial"/>
                <a:ea typeface="Roboto"/>
                <a:cs typeface="Arial"/>
              </a:rPr>
              <a:t> Comparison of different embeddings: Logistic Regression</a:t>
            </a:r>
            <a:endParaRPr lang="en-US"/>
          </a:p>
          <a:p>
            <a:pPr>
              <a:buFont typeface="Wingdings" panose="020B0604020202020204" pitchFamily="34" charset="0"/>
              <a:buChar char="Ø"/>
            </a:pPr>
            <a:endParaRPr lang="en-AU">
              <a:latin typeface="Arial"/>
              <a:ea typeface="Roboto"/>
              <a:cs typeface="Arial"/>
            </a:endParaRPr>
          </a:p>
          <a:p>
            <a:pPr>
              <a:buFont typeface="Wingdings" panose="020B0604020202020204" pitchFamily="34" charset="0"/>
              <a:buChar char="Ø"/>
            </a:pPr>
            <a:endParaRPr lang="en-AU">
              <a:latin typeface="Arial"/>
              <a:ea typeface="Roboto"/>
              <a:cs typeface="Arial"/>
            </a:endParaRPr>
          </a:p>
          <a:p>
            <a:pPr>
              <a:buFont typeface="Wingdings" panose="020B0604020202020204" pitchFamily="34" charset="0"/>
              <a:buChar char="Ø"/>
            </a:pPr>
            <a:endParaRPr lang="en-AU">
              <a:latin typeface="Arial"/>
              <a:ea typeface="Roboto"/>
              <a:cs typeface="Arial"/>
            </a:endParaRPr>
          </a:p>
          <a:p>
            <a:pPr>
              <a:buFont typeface="Wingdings" panose="020B0604020202020204" pitchFamily="34" charset="0"/>
              <a:buChar char="Ø"/>
            </a:pPr>
            <a:endParaRPr lang="en-AU">
              <a:latin typeface="Arial"/>
              <a:ea typeface="Roboto"/>
              <a:cs typeface="Arial"/>
            </a:endParaRPr>
          </a:p>
          <a:p>
            <a:pPr>
              <a:buFont typeface="Wingdings" panose="020B0604020202020204" pitchFamily="34" charset="0"/>
              <a:buChar char="Ø"/>
            </a:pPr>
            <a:endParaRPr lang="en-AU">
              <a:latin typeface="Arial"/>
              <a:ea typeface="Roboto"/>
              <a:cs typeface="Arial"/>
            </a:endParaRPr>
          </a:p>
          <a:p>
            <a:pPr>
              <a:buFont typeface="Wingdings" panose="020B0604020202020204" pitchFamily="34" charset="0"/>
              <a:buChar char="Ø"/>
            </a:pPr>
            <a:r>
              <a:rPr lang="en-AU">
                <a:latin typeface="Arial"/>
                <a:ea typeface="Roboto"/>
                <a:cs typeface="Arial"/>
              </a:rPr>
              <a:t> Simple frequency-based embeddings outperform dense word embeddings for our dataset.</a:t>
            </a:r>
          </a:p>
          <a:p>
            <a:pPr>
              <a:buFont typeface="Wingdings" panose="020B0604020202020204" pitchFamily="34" charset="0"/>
              <a:buChar char="Ø"/>
            </a:pPr>
            <a:r>
              <a:rPr lang="en-AU">
                <a:latin typeface="Arial"/>
                <a:ea typeface="Roboto"/>
                <a:cs typeface="Arial"/>
              </a:rPr>
              <a:t> Likely due to overfitting or tweets being too short for word embedding models to properly understand the context.</a:t>
            </a:r>
          </a:p>
          <a:p>
            <a:pPr>
              <a:buFont typeface="Wingdings" panose="020B0604020202020204" pitchFamily="34" charset="0"/>
              <a:buChar char="Ø"/>
            </a:pPr>
            <a:endParaRPr lang="en-AU">
              <a:latin typeface="Arial"/>
              <a:ea typeface="Roboto"/>
              <a:cs typeface="Arial"/>
            </a:endParaRPr>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27</a:t>
            </a:fld>
            <a:endParaRPr lang="en-AU"/>
          </a:p>
        </p:txBody>
      </p:sp>
      <p:graphicFrame>
        <p:nvGraphicFramePr>
          <p:cNvPr id="7" name="Content Placeholder 4">
            <a:extLst>
              <a:ext uri="{FF2B5EF4-FFF2-40B4-BE49-F238E27FC236}">
                <a16:creationId xmlns:a16="http://schemas.microsoft.com/office/drawing/2014/main" id="{3455310F-CDA6-754B-14CF-B9710A07D2BA}"/>
              </a:ext>
            </a:extLst>
          </p:cNvPr>
          <p:cNvGraphicFramePr>
            <a:graphicFrameLocks/>
          </p:cNvGraphicFramePr>
          <p:nvPr>
            <p:extLst>
              <p:ext uri="{D42A27DB-BD31-4B8C-83A1-F6EECF244321}">
                <p14:modId xmlns:p14="http://schemas.microsoft.com/office/powerpoint/2010/main" val="3315864005"/>
              </p:ext>
            </p:extLst>
          </p:nvPr>
        </p:nvGraphicFramePr>
        <p:xfrm>
          <a:off x="668215" y="1792054"/>
          <a:ext cx="10515600" cy="1854199"/>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909495223"/>
                    </a:ext>
                  </a:extLst>
                </a:gridCol>
                <a:gridCol w="2103120">
                  <a:extLst>
                    <a:ext uri="{9D8B030D-6E8A-4147-A177-3AD203B41FA5}">
                      <a16:colId xmlns:a16="http://schemas.microsoft.com/office/drawing/2014/main" val="853550214"/>
                    </a:ext>
                  </a:extLst>
                </a:gridCol>
                <a:gridCol w="2103120">
                  <a:extLst>
                    <a:ext uri="{9D8B030D-6E8A-4147-A177-3AD203B41FA5}">
                      <a16:colId xmlns:a16="http://schemas.microsoft.com/office/drawing/2014/main" val="2930109634"/>
                    </a:ext>
                  </a:extLst>
                </a:gridCol>
                <a:gridCol w="2103120">
                  <a:extLst>
                    <a:ext uri="{9D8B030D-6E8A-4147-A177-3AD203B41FA5}">
                      <a16:colId xmlns:a16="http://schemas.microsoft.com/office/drawing/2014/main" val="1731727157"/>
                    </a:ext>
                  </a:extLst>
                </a:gridCol>
                <a:gridCol w="2103120">
                  <a:extLst>
                    <a:ext uri="{9D8B030D-6E8A-4147-A177-3AD203B41FA5}">
                      <a16:colId xmlns:a16="http://schemas.microsoft.com/office/drawing/2014/main" val="1931615175"/>
                    </a:ext>
                  </a:extLst>
                </a:gridCol>
              </a:tblGrid>
              <a:tr h="370840">
                <a:tc>
                  <a:txBody>
                    <a:bodyPr/>
                    <a:lstStyle/>
                    <a:p>
                      <a:endParaRPr lang="en-GB"/>
                    </a:p>
                  </a:txBody>
                  <a:tcPr/>
                </a:tc>
                <a:tc>
                  <a:txBody>
                    <a:bodyPr/>
                    <a:lstStyle/>
                    <a:p>
                      <a:r>
                        <a:rPr lang="en-GB" dirty="0"/>
                        <a:t>Precision</a:t>
                      </a:r>
                    </a:p>
                  </a:txBody>
                  <a:tcPr/>
                </a:tc>
                <a:tc>
                  <a:txBody>
                    <a:bodyPr/>
                    <a:lstStyle/>
                    <a:p>
                      <a:r>
                        <a:rPr lang="en-GB" dirty="0"/>
                        <a:t>Recall</a:t>
                      </a:r>
                    </a:p>
                  </a:txBody>
                  <a:tcPr/>
                </a:tc>
                <a:tc>
                  <a:txBody>
                    <a:bodyPr/>
                    <a:lstStyle/>
                    <a:p>
                      <a:r>
                        <a:rPr lang="en-GB" dirty="0"/>
                        <a:t>F1</a:t>
                      </a:r>
                    </a:p>
                  </a:txBody>
                  <a:tcPr/>
                </a:tc>
                <a:tc>
                  <a:txBody>
                    <a:bodyPr/>
                    <a:lstStyle/>
                    <a:p>
                      <a:r>
                        <a:rPr lang="en-GB" dirty="0"/>
                        <a:t>Accuracy</a:t>
                      </a:r>
                    </a:p>
                  </a:txBody>
                  <a:tcPr/>
                </a:tc>
                <a:extLst>
                  <a:ext uri="{0D108BD9-81ED-4DB2-BD59-A6C34878D82A}">
                    <a16:rowId xmlns:a16="http://schemas.microsoft.com/office/drawing/2014/main" val="1952714622"/>
                  </a:ext>
                </a:extLst>
              </a:tr>
              <a:tr h="370839">
                <a:tc>
                  <a:txBody>
                    <a:bodyPr/>
                    <a:lstStyle/>
                    <a:p>
                      <a:pPr lvl="0">
                        <a:buNone/>
                      </a:pPr>
                      <a:r>
                        <a:rPr lang="en-GB" dirty="0"/>
                        <a:t>Count Vectorizer</a:t>
                      </a:r>
                    </a:p>
                  </a:txBody>
                  <a:tcPr/>
                </a:tc>
                <a:tc>
                  <a:txBody>
                    <a:bodyPr/>
                    <a:lstStyle/>
                    <a:p>
                      <a:pPr lvl="0">
                        <a:buNone/>
                      </a:pPr>
                      <a:r>
                        <a:rPr lang="en-GB" dirty="0"/>
                        <a:t>91%</a:t>
                      </a:r>
                    </a:p>
                  </a:txBody>
                  <a:tcPr/>
                </a:tc>
                <a:tc>
                  <a:txBody>
                    <a:bodyPr/>
                    <a:lstStyle/>
                    <a:p>
                      <a:pPr lvl="0">
                        <a:buNone/>
                      </a:pPr>
                      <a:r>
                        <a:rPr lang="en-GB" dirty="0"/>
                        <a:t>91%</a:t>
                      </a:r>
                    </a:p>
                  </a:txBody>
                  <a:tcPr/>
                </a:tc>
                <a:tc>
                  <a:txBody>
                    <a:bodyPr/>
                    <a:lstStyle/>
                    <a:p>
                      <a:pPr lvl="0">
                        <a:buNone/>
                      </a:pPr>
                      <a:r>
                        <a:rPr lang="en-GB" dirty="0"/>
                        <a:t>91%</a:t>
                      </a:r>
                    </a:p>
                  </a:txBody>
                  <a:tcPr/>
                </a:tc>
                <a:tc>
                  <a:txBody>
                    <a:bodyPr/>
                    <a:lstStyle/>
                    <a:p>
                      <a:pPr lvl="0">
                        <a:buNone/>
                      </a:pPr>
                      <a:r>
                        <a:rPr lang="en-GB" dirty="0"/>
                        <a:t>91%</a:t>
                      </a:r>
                    </a:p>
                  </a:txBody>
                  <a:tcPr/>
                </a:tc>
                <a:extLst>
                  <a:ext uri="{0D108BD9-81ED-4DB2-BD59-A6C34878D82A}">
                    <a16:rowId xmlns:a16="http://schemas.microsoft.com/office/drawing/2014/main" val="524518654"/>
                  </a:ext>
                </a:extLst>
              </a:tr>
              <a:tr h="370840">
                <a:tc>
                  <a:txBody>
                    <a:bodyPr/>
                    <a:lstStyle/>
                    <a:p>
                      <a:r>
                        <a:rPr lang="en-GB" dirty="0"/>
                        <a:t>TF-IDF</a:t>
                      </a:r>
                      <a:endParaRPr lang="en-GB" dirty="0" err="1"/>
                    </a:p>
                  </a:txBody>
                  <a:tcPr/>
                </a:tc>
                <a:tc>
                  <a:txBody>
                    <a:bodyPr/>
                    <a:lstStyle/>
                    <a:p>
                      <a:r>
                        <a:rPr lang="en-GB" dirty="0"/>
                        <a:t>87%</a:t>
                      </a:r>
                    </a:p>
                  </a:txBody>
                  <a:tcPr/>
                </a:tc>
                <a:tc>
                  <a:txBody>
                    <a:bodyPr/>
                    <a:lstStyle/>
                    <a:p>
                      <a:r>
                        <a:rPr lang="en-GB" dirty="0"/>
                        <a:t>87%</a:t>
                      </a:r>
                    </a:p>
                  </a:txBody>
                  <a:tcPr/>
                </a:tc>
                <a:tc>
                  <a:txBody>
                    <a:bodyPr/>
                    <a:lstStyle/>
                    <a:p>
                      <a:r>
                        <a:rPr lang="en-GB" dirty="0"/>
                        <a:t>86%</a:t>
                      </a:r>
                    </a:p>
                  </a:txBody>
                  <a:tcPr/>
                </a:tc>
                <a:tc>
                  <a:txBody>
                    <a:bodyPr/>
                    <a:lstStyle/>
                    <a:p>
                      <a:r>
                        <a:rPr lang="en-GB" dirty="0"/>
                        <a:t>87%</a:t>
                      </a:r>
                    </a:p>
                  </a:txBody>
                  <a:tcPr/>
                </a:tc>
                <a:extLst>
                  <a:ext uri="{0D108BD9-81ED-4DB2-BD59-A6C34878D82A}">
                    <a16:rowId xmlns:a16="http://schemas.microsoft.com/office/drawing/2014/main" val="3896438"/>
                  </a:ext>
                </a:extLst>
              </a:tr>
              <a:tr h="370840">
                <a:tc>
                  <a:txBody>
                    <a:bodyPr/>
                    <a:lstStyle/>
                    <a:p>
                      <a:r>
                        <a:rPr lang="en-GB" dirty="0"/>
                        <a:t>Word2Vec</a:t>
                      </a:r>
                    </a:p>
                  </a:txBody>
                  <a:tcPr/>
                </a:tc>
                <a:tc>
                  <a:txBody>
                    <a:bodyPr/>
                    <a:lstStyle/>
                    <a:p>
                      <a:r>
                        <a:rPr lang="en-GB" dirty="0"/>
                        <a:t>71%</a:t>
                      </a:r>
                    </a:p>
                  </a:txBody>
                  <a:tcPr/>
                </a:tc>
                <a:tc>
                  <a:txBody>
                    <a:bodyPr/>
                    <a:lstStyle/>
                    <a:p>
                      <a:r>
                        <a:rPr lang="en-GB" dirty="0"/>
                        <a:t>75%</a:t>
                      </a:r>
                    </a:p>
                  </a:txBody>
                  <a:tcPr/>
                </a:tc>
                <a:tc>
                  <a:txBody>
                    <a:bodyPr/>
                    <a:lstStyle/>
                    <a:p>
                      <a:r>
                        <a:rPr lang="en-GB" dirty="0"/>
                        <a:t>68%</a:t>
                      </a:r>
                    </a:p>
                  </a:txBody>
                  <a:tcPr/>
                </a:tc>
                <a:tc>
                  <a:txBody>
                    <a:bodyPr/>
                    <a:lstStyle/>
                    <a:p>
                      <a:r>
                        <a:rPr lang="en-GB" dirty="0"/>
                        <a:t>75%</a:t>
                      </a:r>
                    </a:p>
                  </a:txBody>
                  <a:tcPr/>
                </a:tc>
                <a:extLst>
                  <a:ext uri="{0D108BD9-81ED-4DB2-BD59-A6C34878D82A}">
                    <a16:rowId xmlns:a16="http://schemas.microsoft.com/office/drawing/2014/main" val="523979322"/>
                  </a:ext>
                </a:extLst>
              </a:tr>
              <a:tr h="370840">
                <a:tc>
                  <a:txBody>
                    <a:bodyPr/>
                    <a:lstStyle/>
                    <a:p>
                      <a:r>
                        <a:rPr lang="en-GB" dirty="0"/>
                        <a:t>Glove</a:t>
                      </a:r>
                    </a:p>
                  </a:txBody>
                  <a:tcPr/>
                </a:tc>
                <a:tc>
                  <a:txBody>
                    <a:bodyPr/>
                    <a:lstStyle/>
                    <a:p>
                      <a:r>
                        <a:rPr lang="en-GB" dirty="0"/>
                        <a:t>73%</a:t>
                      </a:r>
                    </a:p>
                  </a:txBody>
                  <a:tcPr/>
                </a:tc>
                <a:tc>
                  <a:txBody>
                    <a:bodyPr/>
                    <a:lstStyle/>
                    <a:p>
                      <a:r>
                        <a:rPr lang="en-GB" dirty="0"/>
                        <a:t>77%</a:t>
                      </a:r>
                    </a:p>
                  </a:txBody>
                  <a:tcPr/>
                </a:tc>
                <a:tc>
                  <a:txBody>
                    <a:bodyPr/>
                    <a:lstStyle/>
                    <a:p>
                      <a:r>
                        <a:rPr lang="en-GB" dirty="0"/>
                        <a:t>72%</a:t>
                      </a:r>
                    </a:p>
                  </a:txBody>
                  <a:tcPr/>
                </a:tc>
                <a:tc>
                  <a:txBody>
                    <a:bodyPr/>
                    <a:lstStyle/>
                    <a:p>
                      <a:r>
                        <a:rPr lang="en-GB" dirty="0"/>
                        <a:t>77%</a:t>
                      </a:r>
                    </a:p>
                  </a:txBody>
                  <a:tcPr/>
                </a:tc>
                <a:extLst>
                  <a:ext uri="{0D108BD9-81ED-4DB2-BD59-A6C34878D82A}">
                    <a16:rowId xmlns:a16="http://schemas.microsoft.com/office/drawing/2014/main" val="3504590966"/>
                  </a:ext>
                </a:extLst>
              </a:tr>
            </a:tbl>
          </a:graphicData>
        </a:graphic>
      </p:graphicFrame>
      <p:sp>
        <p:nvSpPr>
          <p:cNvPr id="8" name="TextBox 7">
            <a:extLst>
              <a:ext uri="{FF2B5EF4-FFF2-40B4-BE49-F238E27FC236}">
                <a16:creationId xmlns:a16="http://schemas.microsoft.com/office/drawing/2014/main" id="{9027F037-2CE2-4E42-E8ED-54C4AF52C76A}"/>
              </a:ext>
            </a:extLst>
          </p:cNvPr>
          <p:cNvSpPr txBox="1"/>
          <p:nvPr/>
        </p:nvSpPr>
        <p:spPr>
          <a:xfrm>
            <a:off x="307009" y="6281530"/>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Arial"/>
              </a:rPr>
              <a:t>Presenter: Sidhanth Kafley (z5504979)</a:t>
            </a:r>
            <a:endParaRPr lang="en-US" sz="1100">
              <a:latin typeface="Arial"/>
              <a:cs typeface="Arial"/>
            </a:endParaRPr>
          </a:p>
        </p:txBody>
      </p:sp>
    </p:spTree>
    <p:extLst>
      <p:ext uri="{BB962C8B-B14F-4D97-AF65-F5344CB8AC3E}">
        <p14:creationId xmlns:p14="http://schemas.microsoft.com/office/powerpoint/2010/main" val="1607081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normAutofit/>
          </a:bodyPr>
          <a:lstStyle/>
          <a:p>
            <a:r>
              <a:rPr lang="en-GB"/>
              <a:t>Conclusion</a:t>
            </a:r>
            <a:endParaRPr lang="en-AU"/>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28</a:t>
            </a:fld>
            <a:endParaRPr lang="en-AU"/>
          </a:p>
        </p:txBody>
      </p:sp>
      <p:sp>
        <p:nvSpPr>
          <p:cNvPr id="6" name="TextBox 5">
            <a:extLst>
              <a:ext uri="{FF2B5EF4-FFF2-40B4-BE49-F238E27FC236}">
                <a16:creationId xmlns:a16="http://schemas.microsoft.com/office/drawing/2014/main" id="{0699F208-1CDC-6FEA-A315-8FBE78581435}"/>
              </a:ext>
            </a:extLst>
          </p:cNvPr>
          <p:cNvSpPr txBox="1"/>
          <p:nvPr/>
        </p:nvSpPr>
        <p:spPr>
          <a:xfrm>
            <a:off x="119743" y="6225545"/>
            <a:ext cx="7326086" cy="261610"/>
          </a:xfrm>
          <a:prstGeom prst="rect">
            <a:avLst/>
          </a:prstGeom>
          <a:noFill/>
        </p:spPr>
        <p:txBody>
          <a:bodyPr wrap="square" lIns="91440" tIns="45720" rIns="91440" bIns="45720" rtlCol="0" anchor="t">
            <a:spAutoFit/>
          </a:bodyPr>
          <a:lstStyle/>
          <a:p>
            <a:r>
              <a:rPr lang="en-US" sz="1100">
                <a:latin typeface="Arial"/>
                <a:cs typeface="Arial"/>
              </a:rPr>
              <a:t>Presenter: Ziyi Ding(z5610550)</a:t>
            </a:r>
          </a:p>
        </p:txBody>
      </p:sp>
      <p:sp>
        <p:nvSpPr>
          <p:cNvPr id="7" name="Content Placeholder 2">
            <a:extLst>
              <a:ext uri="{FF2B5EF4-FFF2-40B4-BE49-F238E27FC236}">
                <a16:creationId xmlns:a16="http://schemas.microsoft.com/office/drawing/2014/main" id="{1B1A81D8-DC82-4E7B-2361-E586996FFBC3}"/>
              </a:ext>
            </a:extLst>
          </p:cNvPr>
          <p:cNvSpPr txBox="1">
            <a:spLocks/>
          </p:cNvSpPr>
          <p:nvPr/>
        </p:nvSpPr>
        <p:spPr>
          <a:xfrm>
            <a:off x="409448" y="1337310"/>
            <a:ext cx="11631168" cy="417804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20B0604020202020204" pitchFamily="34" charset="0"/>
              <a:buChar char="Ø"/>
            </a:pPr>
            <a:r>
              <a:rPr lang="en-AU">
                <a:solidFill>
                  <a:srgbClr val="000000"/>
                </a:solidFill>
                <a:latin typeface="Arial"/>
                <a:ea typeface="Roboto"/>
                <a:cs typeface="Arial"/>
              </a:rPr>
              <a:t> EDA</a:t>
            </a:r>
            <a:endParaRPr lang="en-US">
              <a:solidFill>
                <a:srgbClr val="000000"/>
              </a:solidFill>
              <a:latin typeface="Arial"/>
              <a:ea typeface="Roboto"/>
              <a:cs typeface="Arial"/>
            </a:endParaRPr>
          </a:p>
          <a:p>
            <a:pPr>
              <a:lnSpc>
                <a:spcPct val="100000"/>
              </a:lnSpc>
              <a:buFont typeface="Wingdings" panose="020B0604020202020204" pitchFamily="34" charset="0"/>
              <a:buChar char="Ø"/>
            </a:pPr>
            <a:r>
              <a:rPr lang="en-AU">
                <a:latin typeface="Arial"/>
                <a:ea typeface="Roboto"/>
                <a:cs typeface="Arial"/>
              </a:rPr>
              <a:t> Statistic Model: VADER, </a:t>
            </a:r>
            <a:r>
              <a:rPr lang="en-AU" err="1">
                <a:latin typeface="Arial"/>
                <a:ea typeface="Roboto"/>
                <a:cs typeface="Arial"/>
              </a:rPr>
              <a:t>TextBlob</a:t>
            </a:r>
            <a:endParaRPr lang="en-US" err="1">
              <a:latin typeface="Arial"/>
              <a:ea typeface="Roboto"/>
              <a:cs typeface="Arial"/>
            </a:endParaRPr>
          </a:p>
          <a:p>
            <a:pPr>
              <a:lnSpc>
                <a:spcPct val="100000"/>
              </a:lnSpc>
              <a:buFont typeface="Wingdings" pitchFamily="2" charset="77"/>
              <a:buChar char="Ø"/>
            </a:pPr>
            <a:r>
              <a:rPr lang="en-AU">
                <a:latin typeface="Arial"/>
                <a:ea typeface="Roboto"/>
                <a:cs typeface="Arial"/>
              </a:rPr>
              <a:t> Traditional Machine Learning Models: </a:t>
            </a:r>
            <a:endParaRPr lang="en-AU"/>
          </a:p>
          <a:p>
            <a:pPr marL="0" indent="0">
              <a:lnSpc>
                <a:spcPct val="100000"/>
              </a:lnSpc>
              <a:buNone/>
            </a:pPr>
            <a:r>
              <a:rPr lang="en-AU">
                <a:latin typeface="Arial"/>
                <a:ea typeface="Roboto"/>
                <a:cs typeface="Arial"/>
              </a:rPr>
              <a:t>    Bernoulli Naive Bayes, Multinomial Naive Bayes, Logistic Regression</a:t>
            </a:r>
            <a:endParaRPr lang="en-AU"/>
          </a:p>
          <a:p>
            <a:pPr>
              <a:lnSpc>
                <a:spcPct val="100000"/>
              </a:lnSpc>
              <a:buFont typeface="Wingdings" pitchFamily="2" charset="77"/>
              <a:buChar char="Ø"/>
            </a:pPr>
            <a:r>
              <a:rPr lang="en-US">
                <a:solidFill>
                  <a:srgbClr val="000000"/>
                </a:solidFill>
                <a:latin typeface="Arial"/>
                <a:ea typeface="Roboto"/>
                <a:cs typeface="Arial"/>
              </a:rPr>
              <a:t> Deep Learning Models: LSTM, GRU</a:t>
            </a:r>
            <a:endParaRPr lang="en-US"/>
          </a:p>
          <a:p>
            <a:pPr>
              <a:lnSpc>
                <a:spcPct val="100000"/>
              </a:lnSpc>
              <a:buFont typeface="Wingdings" pitchFamily="2" charset="77"/>
              <a:buChar char="Ø"/>
            </a:pPr>
            <a:r>
              <a:rPr lang="en-AU">
                <a:latin typeface="Arial"/>
                <a:ea typeface="Roboto"/>
                <a:cs typeface="Arial"/>
              </a:rPr>
              <a:t> Error Analysis</a:t>
            </a:r>
            <a:endParaRPr lang="en-US">
              <a:latin typeface="Arial"/>
              <a:ea typeface="Roboto"/>
              <a:cs typeface="Arial"/>
            </a:endParaRPr>
          </a:p>
          <a:p>
            <a:pPr>
              <a:lnSpc>
                <a:spcPct val="100000"/>
              </a:lnSpc>
              <a:buFont typeface="Wingdings" pitchFamily="2" charset="77"/>
              <a:buChar char="Ø"/>
            </a:pPr>
            <a:r>
              <a:rPr lang="en-US">
                <a:latin typeface="Arial"/>
                <a:ea typeface="Roboto"/>
                <a:cs typeface="Arial"/>
              </a:rPr>
              <a:t> Combining Word Embedding with Traditional Models: </a:t>
            </a:r>
          </a:p>
          <a:p>
            <a:pPr marL="0" indent="0">
              <a:lnSpc>
                <a:spcPct val="100000"/>
              </a:lnSpc>
              <a:buNone/>
            </a:pPr>
            <a:r>
              <a:rPr lang="en-US">
                <a:latin typeface="Arial"/>
                <a:ea typeface="Roboto"/>
                <a:cs typeface="Arial"/>
              </a:rPr>
              <a:t>    Word2Vec, </a:t>
            </a:r>
            <a:r>
              <a:rPr lang="en-US" err="1">
                <a:latin typeface="Arial"/>
                <a:ea typeface="Roboto"/>
                <a:cs typeface="Arial"/>
              </a:rPr>
              <a:t>GloVe</a:t>
            </a:r>
            <a:r>
              <a:rPr lang="en-US">
                <a:latin typeface="Arial"/>
                <a:ea typeface="Roboto"/>
                <a:cs typeface="Arial"/>
              </a:rPr>
              <a:t>, TF-IDF</a:t>
            </a:r>
            <a:endParaRPr lang="en-US"/>
          </a:p>
          <a:p>
            <a:pPr>
              <a:lnSpc>
                <a:spcPct val="100000"/>
              </a:lnSpc>
              <a:buFont typeface="Wingdings" pitchFamily="2" charset="77"/>
              <a:buChar char="Ø"/>
            </a:pPr>
            <a:endParaRPr lang="en-AU">
              <a:latin typeface="Arial"/>
              <a:ea typeface="Roboto"/>
              <a:cs typeface="Arial"/>
            </a:endParaRPr>
          </a:p>
          <a:p>
            <a:pPr marL="0" indent="0">
              <a:lnSpc>
                <a:spcPct val="100000"/>
              </a:lnSpc>
              <a:buNone/>
            </a:pPr>
            <a:endParaRPr lang="en-AU"/>
          </a:p>
          <a:p>
            <a:pPr marL="0" indent="0">
              <a:buNone/>
            </a:pPr>
            <a:endParaRPr lang="en-AU"/>
          </a:p>
        </p:txBody>
      </p:sp>
    </p:spTree>
    <p:extLst>
      <p:ext uri="{BB962C8B-B14F-4D97-AF65-F5344CB8AC3E}">
        <p14:creationId xmlns:p14="http://schemas.microsoft.com/office/powerpoint/2010/main" val="4032915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normAutofit/>
          </a:bodyPr>
          <a:lstStyle/>
          <a:p>
            <a:endParaRPr lang="en-AU"/>
          </a:p>
        </p:txBody>
      </p:sp>
      <p:pic>
        <p:nvPicPr>
          <p:cNvPr id="7" name="Content Placeholder 6" descr="A close-up of a sign&#10;&#10;Description automatically generated">
            <a:extLst>
              <a:ext uri="{FF2B5EF4-FFF2-40B4-BE49-F238E27FC236}">
                <a16:creationId xmlns:a16="http://schemas.microsoft.com/office/drawing/2014/main" id="{E6A46D06-B9F6-03B1-4D50-D1E69FD0582B}"/>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266192" y="1233577"/>
            <a:ext cx="6705280" cy="4589253"/>
          </a:xfrm>
        </p:spPr>
      </p:pic>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29</a:t>
            </a:fld>
            <a:endParaRPr lang="en-AU"/>
          </a:p>
        </p:txBody>
      </p:sp>
      <p:sp>
        <p:nvSpPr>
          <p:cNvPr id="8" name="TextBox 7">
            <a:extLst>
              <a:ext uri="{FF2B5EF4-FFF2-40B4-BE49-F238E27FC236}">
                <a16:creationId xmlns:a16="http://schemas.microsoft.com/office/drawing/2014/main" id="{D0CE4871-DE5C-860E-EE36-92B2A29982EF}"/>
              </a:ext>
            </a:extLst>
          </p:cNvPr>
          <p:cNvSpPr txBox="1"/>
          <p:nvPr/>
        </p:nvSpPr>
        <p:spPr>
          <a:xfrm>
            <a:off x="368381" y="6308080"/>
            <a:ext cx="6705280" cy="230832"/>
          </a:xfrm>
          <a:prstGeom prst="rect">
            <a:avLst/>
          </a:prstGeom>
          <a:noFill/>
        </p:spPr>
        <p:txBody>
          <a:bodyPr wrap="square" rtlCol="0">
            <a:spAutoFit/>
          </a:bodyPr>
          <a:lstStyle/>
          <a:p>
            <a:r>
              <a:rPr lang="en-AU" sz="900">
                <a:hlinkClick r:id="rId3" tooltip="https://www.picpedia.org/highway-signs/q/questions.html"/>
              </a:rPr>
              <a:t>This Photo</a:t>
            </a:r>
            <a:r>
              <a:rPr lang="en-AU" sz="900"/>
              <a:t> by Unknown Author is licensed under </a:t>
            </a:r>
            <a:r>
              <a:rPr lang="en-AU" sz="900">
                <a:hlinkClick r:id="rId4" tooltip="https://creativecommons.org/licenses/by-sa/3.0/"/>
              </a:rPr>
              <a:t>CC BY-SA</a:t>
            </a:r>
            <a:endParaRPr lang="en-AU" sz="900"/>
          </a:p>
        </p:txBody>
      </p:sp>
    </p:spTree>
    <p:extLst>
      <p:ext uri="{BB962C8B-B14F-4D97-AF65-F5344CB8AC3E}">
        <p14:creationId xmlns:p14="http://schemas.microsoft.com/office/powerpoint/2010/main" val="1090051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29</Slides>
  <Notes>11</Notes>
  <HiddenSlides>0</HiddenSlide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PowerPoint Presentation</vt:lpstr>
      <vt:lpstr>Motivation </vt:lpstr>
      <vt:lpstr>Problem Statement</vt:lpstr>
      <vt:lpstr>Dataset</vt:lpstr>
      <vt:lpstr>Dataset</vt:lpstr>
      <vt:lpstr>Dataset</vt:lpstr>
      <vt:lpstr>Dataset</vt:lpstr>
      <vt:lpstr>Methods – Approach 1</vt:lpstr>
      <vt:lpstr>Rules based Model: Text Blob</vt:lpstr>
      <vt:lpstr>Results: Text Blob</vt:lpstr>
      <vt:lpstr>Rule based Model: Vader</vt:lpstr>
      <vt:lpstr>Results: Vader</vt:lpstr>
      <vt:lpstr>Bernoulli Naive Bayes</vt:lpstr>
      <vt:lpstr>Multinomial Naive Bayes Performance</vt:lpstr>
      <vt:lpstr>Logistic Regression Performance</vt:lpstr>
      <vt:lpstr>LSTM Model</vt:lpstr>
      <vt:lpstr>LSTM – Structure and Hyperparameters</vt:lpstr>
      <vt:lpstr>LSTM – Hyperparameters comparation</vt:lpstr>
      <vt:lpstr>LSTM – tokenizer selection</vt:lpstr>
      <vt:lpstr>GRU Model</vt:lpstr>
      <vt:lpstr>GRU Model Results</vt:lpstr>
      <vt:lpstr>GRU Model Hyperparameters</vt:lpstr>
      <vt:lpstr>Final Model Comparison</vt:lpstr>
      <vt:lpstr>Error Analysis</vt:lpstr>
      <vt:lpstr>Methods – Approach 2</vt:lpstr>
      <vt:lpstr>Embeddings Approach</vt:lpstr>
      <vt:lpstr>Results and Discussion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Shisheng Zhang</dc:creator>
  <cp:revision>17</cp:revision>
  <dcterms:created xsi:type="dcterms:W3CDTF">2022-11-14T00:04:04Z</dcterms:created>
  <dcterms:modified xsi:type="dcterms:W3CDTF">2025-08-11T04:27:02Z</dcterms:modified>
</cp:coreProperties>
</file>